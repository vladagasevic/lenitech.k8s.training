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68" r:id="rId3"/>
    <p:sldId id="257" r:id="rId4"/>
    <p:sldId id="258" r:id="rId5"/>
    <p:sldId id="266" r:id="rId6"/>
    <p:sldId id="270" r:id="rId7"/>
    <p:sldId id="271" r:id="rId8"/>
    <p:sldId id="273" r:id="rId9"/>
    <p:sldId id="259" r:id="rId10"/>
    <p:sldId id="272" r:id="rId11"/>
    <p:sldId id="281" r:id="rId12"/>
    <p:sldId id="282" r:id="rId13"/>
    <p:sldId id="267" r:id="rId14"/>
    <p:sldId id="283" r:id="rId15"/>
    <p:sldId id="260" r:id="rId16"/>
    <p:sldId id="261" r:id="rId17"/>
    <p:sldId id="262" r:id="rId18"/>
    <p:sldId id="274" r:id="rId19"/>
    <p:sldId id="275" r:id="rId20"/>
    <p:sldId id="276" r:id="rId21"/>
    <p:sldId id="285" r:id="rId22"/>
    <p:sldId id="263" r:id="rId23"/>
    <p:sldId id="264" r:id="rId24"/>
    <p:sldId id="277" r:id="rId25"/>
    <p:sldId id="278" r:id="rId26"/>
    <p:sldId id="279" r:id="rId27"/>
    <p:sldId id="280" r:id="rId28"/>
    <p:sldId id="284" r:id="rId29"/>
    <p:sldId id="265" r:id="rId30"/>
    <p:sldId id="286" r:id="rId31"/>
    <p:sldId id="287" r:id="rId32"/>
    <p:sldId id="299" r:id="rId33"/>
    <p:sldId id="288" r:id="rId34"/>
    <p:sldId id="300" r:id="rId35"/>
    <p:sldId id="289" r:id="rId36"/>
    <p:sldId id="290" r:id="rId37"/>
    <p:sldId id="301" r:id="rId38"/>
    <p:sldId id="291" r:id="rId39"/>
    <p:sldId id="302" r:id="rId40"/>
    <p:sldId id="292" r:id="rId41"/>
    <p:sldId id="303" r:id="rId42"/>
    <p:sldId id="293" r:id="rId43"/>
    <p:sldId id="294" r:id="rId44"/>
    <p:sldId id="305" r:id="rId45"/>
    <p:sldId id="304" r:id="rId46"/>
    <p:sldId id="296" r:id="rId47"/>
    <p:sldId id="306" r:id="rId48"/>
    <p:sldId id="297" r:id="rId49"/>
    <p:sldId id="307" r:id="rId50"/>
    <p:sldId id="310" r:id="rId51"/>
    <p:sldId id="308" r:id="rId52"/>
    <p:sldId id="311" r:id="rId53"/>
    <p:sldId id="312" r:id="rId54"/>
    <p:sldId id="313" r:id="rId55"/>
    <p:sldId id="298" r:id="rId5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733"/>
    <a:srgbClr val="BBCCF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0" autoAdjust="0"/>
    <p:restoredTop sz="82740" autoAdjust="0"/>
  </p:normalViewPr>
  <p:slideViewPr>
    <p:cSldViewPr>
      <p:cViewPr varScale="1">
        <p:scale>
          <a:sx n="69" d="100"/>
          <a:sy n="69" d="100"/>
        </p:scale>
        <p:origin x="174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0C701-DEAE-694E-9C00-2177B49B662F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83707-50C6-BD4F-959F-11287DF40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09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BF037-9955-8FD7-6111-FF80F205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E2FE4-7199-4CB2-0F8F-52B886ACB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3617B-C050-4291-4364-942EEF6D7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E1ECD-1CEA-2D4E-EDF8-2CE984AA2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81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83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17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21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96E4-BA54-3C23-4597-E5EEF06DD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C6535-04EC-E12A-9A8A-894F8E684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5A997-D380-AEA9-FE2A-E4204C138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5D6CB-90A8-2CD1-7709-B77305803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51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E123-9DFD-4F87-8EE5-993B6CE7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2B459-BA03-3429-2FB6-555C1F5FB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740F0-CDA8-F522-5ACE-13619C630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EEC31-95A0-54A4-D13A-C84CA6E4D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18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EDCA-124C-8C51-5B38-081A022D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5F8EA-CF27-27EB-C481-1485C77EC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7927C-4278-D0C8-FB1A-5F061AF45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C95D8-18E0-AFA7-4EDB-CE0739E37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51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68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05949-6061-9A53-B90D-7C4C95165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AB55E-3592-72CE-3094-726DED214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0A2F4-C847-7B16-8AD6-062750957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4862-8306-A229-C0C4-D90980F35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7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295D6-0E4A-8A60-D3B0-0CBA1C1FF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E8B5A-7E15-8FC1-DEB4-660B03689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65EA2-6D63-9FBA-2778-8F2DC03EF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72117-84D7-E007-8A4B-CA735460F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30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BEABB-2246-A3DD-518C-E690A449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63B32-92FF-CD95-709B-32EF04530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99709-F4A6-1F97-C4E7-3351908BC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B06E9-F21C-1F03-B95E-E71DF1485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68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A9512-EC9A-6745-0DEB-FC8E576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8293B-6BC8-EC93-060B-DD25EB40D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6C808-0E03-C317-3822-DD2DA6B26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3A7B9-1D59-C682-B5AC-005DC6A18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16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156E0-6BC3-15D0-8DB0-D58B3533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E3258-9254-1AC6-5BD6-169A96417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23058-7498-7FC2-5967-E9661D9D0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FA2C5-A78C-F219-08FC-4D5B996C0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96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98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407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5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829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B6F6A-8AD4-1B35-4CA8-DDF4990CD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9F277-4C90-2714-4F91-33220B390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65798-FD43-E789-EFA7-815700BB6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F0D27-3141-1AE9-3547-865BB3A35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70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E72D0-CC43-6540-E3B3-B49589788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1DE68-61C7-EFE2-B046-6B25FE43D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31962-2B9A-DD3E-8004-A27E7F8F8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8728C-4E4F-0FBB-C614-FF1D3E698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629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CE468-FE9B-A46F-3FA6-A3DD7458D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5AA23-2514-6D57-C531-E11D36E63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8A419-7FE6-0312-9E07-D48FA2ACF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DF5C1-7858-4AAA-EAF1-3AE21F908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812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4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61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95321-05AA-DC01-B24D-92EF4E1CF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72F33-CC2C-E304-E9AB-24B0738E1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D447D-F88D-F728-F886-C3338353F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77FC2-8B18-E449-046F-CD4811E51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964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3F17-2633-A8FD-4487-82B4CC44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9C925-8FBD-B236-0EBC-E0EB1307E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D049D-D04C-3E0A-F68B-106DBE3EA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2EBB2-A73D-8576-49C4-980770416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350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B7BDB-72EC-5B63-B248-76117BF0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62A43-9949-902E-D6BB-918CD0C5A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B5519-C1E1-001F-3395-024328C47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5D4EF-3D1B-5C43-D69F-45B604B24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965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7C348-725A-82E4-6C96-94DF98D7B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95AD4-7058-35AE-9193-DE29A9761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60618-889A-B07E-1BDA-DBD85D18E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CB911-88E1-E1BF-7623-1DD568932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961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5C8B5-B023-B451-F574-C92AC5DC5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06FD4-0E3E-A707-6C93-2F0A8D7CC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2F140-DD36-F566-E024-10A5D30C9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BF1F3-EBCA-A028-D749-BC42484E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741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484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1100-2849-A9DB-5C08-DB0EA231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1EF04-D462-8BC3-5F57-D8BA498B6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20807-3297-1361-E11A-69570FFE5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C6401-7F72-A078-B195-0C185A66E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89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856D-2DCC-A439-BE51-55910B502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4E9D9-0720-73B4-CFED-153AF6C42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FE84B-59CE-F7A5-D82C-D4FD17E4A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B206D-6868-E25B-DA44-3B5A660A3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258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41B9C-2C2D-5C20-F9E7-F31BAAFE1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312FF-676E-DCA0-BE93-164A8B601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6A8CA-B666-51CC-874C-D72130F0C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8B4B9-BB8F-DF2D-1677-DCD9F1F2D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044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E1FDF-19F1-6C2F-CB19-8E3872C9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6660E-436E-01D3-32DE-A1A97891A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1531A-0C6B-5AF0-701A-EF45D335F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06333-C340-8693-6F0A-AF0498C15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877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C544-7779-5FBF-9257-73AF3E0E8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F022D-C5A8-713F-662F-EDD54FA4B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AA37F-E6F9-5476-D309-D84A445F3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A1EA-8227-CAEE-C5DA-407956BE6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357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8457F-7109-426B-6453-4F50D4CF0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4EBF30-B743-AB62-EA1F-5BCEF6797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58E3C-AA72-D0C7-2D0D-B82F78708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88DCA-3F22-9A90-92B5-D3CC8CA59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402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E43F1-61BB-8AE1-118E-D6D2CA90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E3B2B-7435-E31D-F2C2-5C89751C0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963DB-12EE-EBD9-07A6-7E9333DF5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770F8-471F-CE64-3287-08E6A9D04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332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9EADE-A493-FB3A-1D14-4F872436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3C89B-AA74-3D0C-851A-BDF23CDFA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BDC03-5E42-BB89-E57C-DFF9C9228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953B6-07DE-C96C-9923-0F9CD4874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328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F2F4B-963B-CFC4-372A-CC7277D0A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207BD-A975-3D07-2F43-C70AA4F99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CCDC6-01A5-413C-8078-329DA77C7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E0E41-B11E-FC8B-362E-0D8B195F2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029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9D3C-B0AC-D080-0602-430E4F893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E4587-A337-7496-4FF3-D66B50DB2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A5C82-2146-9B1A-0E3E-6EE374FC9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46D70-DE27-8342-E2B8-48A024A6B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322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FC7F2-161B-8ED0-59BC-864180236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21020-F5E8-60D2-297D-88E35F39A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4F040C-7655-4FE9-45F3-4A0077C2F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9B8A8-C17B-59EA-0E23-93C89D582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886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C83E-2A58-C713-3180-5617BB5EB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06C03-6370-96AC-CA50-1EA2ECFE4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F4319-5C8C-AEE2-C5CF-771293748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164B3-0721-1D3D-81EE-D871007E5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46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BE2AB-8A8F-5AEF-FA3C-01B604E11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4F849-4E79-C267-D2AF-2A2417C55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A0FE0-34D0-19E2-B0A2-0A27C64F1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507F2-A4C8-D558-DEB7-7132AA9C8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490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217B5-2328-393B-67E0-4B4EF876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61905-BC43-9C47-528A-3A5922B78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DFD24-5FFC-52AA-DF36-D7EE03554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844CD-61EE-E9E9-2AED-1525A2130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912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065D9-4DB1-DF9A-AC66-2C4B5AEE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A1FD7-27D4-EA2D-1588-315207137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60521-CDA2-F119-8FE7-230D4F35F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E610A-5447-DF4D-1D31-97BBBDA1C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895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4406D-9A3F-3E50-7F45-8F6C6E4F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37B21-374B-26F1-2898-AA3EEE18B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2E04B7-BC48-6786-CA42-6011EFDE1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0277D-823F-735F-6370-C1574F186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6160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D3967-FE2E-E0EB-FA46-360CCFA4C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FDC32-FD77-B39C-7409-F63493942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05675-3693-9A79-016B-82FA0F761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3B513-793B-2E98-98C1-A05123E0A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4689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08EE-01C6-E6C9-A78D-FC931383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B2FF9-CCC9-8D2C-3BC8-63C7BEB85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00363-276B-E4FD-B5B0-42821981F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2DD29-F221-1598-B2B9-030058A24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2166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42B8A-8690-C447-A524-2B8C8357210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084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5D2B-4643-A896-B629-731818236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E3E46-48C6-48BA-C6DD-786D4F58E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73513-7FBC-1C77-71F6-867739C0B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52D9D-3117-BA95-A330-183C38644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613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32887-B1EB-85F7-C264-D922BE8E2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A78F4-D701-2FE7-D0CD-46C2205C2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03D41-3F89-4506-E2F2-01FEB0E81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F0A5D-1EA9-2269-0483-F19355E58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0485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DE2DF-0E4E-375F-DE00-1BA4D288D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E7102-3CC5-87B7-7DB1-7426FAE27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7FE59-5880-285F-77A6-D53980B2F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56176-7BE0-7D57-E8C9-4CE2B202A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737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5E788-9014-6556-3D91-7C3E8B354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010D9B-312B-A8CD-213C-41568B79A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2F1B8-17A1-C913-FB8E-0005F1F31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44B6F-262B-95A8-08ED-B106D11DA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6262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C628-F0EE-68A0-3EDC-E4C5EFCE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C165E-6698-1E38-D66D-0FED79A35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BD6F9-D7F6-BCFF-F875-D7CC536A1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4A46F-34E4-7FFB-8498-78D4C790A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9805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53271-D2DD-FF8D-5570-FA37CAFFD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6A1FC-A784-4709-5368-E9052D9BC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124EB-2229-5508-34D3-0503FB952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A7944-31A8-EC25-9D91-23DA2EAA9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7850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83707-50C6-BD4F-959F-11287DF403C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9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5.png"/><Relationship Id="rId5" Type="http://schemas.openxmlformats.org/officeDocument/2006/relationships/image" Target="../media/image5.svg"/><Relationship Id="rId10" Type="http://schemas.openxmlformats.org/officeDocument/2006/relationships/image" Target="../media/image14.png"/><Relationship Id="rId4" Type="http://schemas.openxmlformats.org/officeDocument/2006/relationships/image" Target="../media/image10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jpe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-scm.com/download/win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localhost:9000/database.php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://localhost:9000/hello.php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docker/docker-php-sample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5.svg"/><Relationship Id="rId4" Type="http://schemas.openxmlformats.org/officeDocument/2006/relationships/image" Target="../media/image10.svg"/><Relationship Id="rId9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inikube.sigs.k8s.io/docs/" TargetMode="External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.jpe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.jpe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jpe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jpe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jpe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cloud.com/iclouddrive/0876UcuGdIujufnTT6Rc896Xw#Kubernetes_Learning" TargetMode="Externa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vlada.gasevic@icloud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3957559" y="5412321"/>
            <a:ext cx="5316260" cy="4651728"/>
            <a:chOff x="0" y="0"/>
            <a:chExt cx="812800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53343" y="-2755190"/>
            <a:ext cx="9072964" cy="10493375"/>
            <a:chOff x="0" y="0"/>
            <a:chExt cx="704974" cy="8153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974" cy="815341"/>
            </a:xfrm>
            <a:custGeom>
              <a:avLst/>
              <a:gdLst/>
              <a:ahLst/>
              <a:cxnLst/>
              <a:rect l="l" t="t" r="r" b="b"/>
              <a:pathLst>
                <a:path w="704974" h="815341">
                  <a:moveTo>
                    <a:pt x="352487" y="0"/>
                  </a:moveTo>
                  <a:lnTo>
                    <a:pt x="704974" y="203200"/>
                  </a:lnTo>
                  <a:lnTo>
                    <a:pt x="704974" y="612141"/>
                  </a:lnTo>
                  <a:lnTo>
                    <a:pt x="352487" y="815341"/>
                  </a:lnTo>
                  <a:lnTo>
                    <a:pt x="0" y="612141"/>
                  </a:lnTo>
                  <a:lnTo>
                    <a:pt x="0" y="203200"/>
                  </a:lnTo>
                  <a:lnTo>
                    <a:pt x="352487" y="0"/>
                  </a:lnTo>
                  <a:close/>
                </a:path>
              </a:pathLst>
            </a:custGeom>
            <a:blipFill>
              <a:blip r:embed="rId3"/>
              <a:stretch>
                <a:fillRect t="-3455" b="-34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9481088" y="-887973"/>
            <a:ext cx="2019219" cy="1766817"/>
            <a:chOff x="0" y="0"/>
            <a:chExt cx="812800" cy="711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9564228" y="3819689"/>
            <a:ext cx="3025854" cy="2647622"/>
            <a:chOff x="0" y="0"/>
            <a:chExt cx="8128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5400000">
            <a:off x="11689634" y="93203"/>
            <a:ext cx="2735223" cy="2393320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9431875" y="388144"/>
            <a:ext cx="5143500" cy="4500562"/>
            <a:chOff x="0" y="0"/>
            <a:chExt cx="8128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612373" y="7122783"/>
            <a:ext cx="10137254" cy="1230804"/>
            <a:chOff x="0" y="0"/>
            <a:chExt cx="5020838" cy="609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20838" cy="609600"/>
            </a:xfrm>
            <a:custGeom>
              <a:avLst/>
              <a:gdLst/>
              <a:ahLst/>
              <a:cxnLst/>
              <a:rect l="l" t="t" r="r" b="b"/>
              <a:pathLst>
                <a:path w="5020838" h="609600">
                  <a:moveTo>
                    <a:pt x="48176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020838" y="609600"/>
                  </a:lnTo>
                  <a:lnTo>
                    <a:pt x="4817638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600" y="-47625"/>
              <a:ext cx="4817638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1788000">
            <a:off x="-1585015" y="-2929811"/>
            <a:ext cx="4114800" cy="411480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0658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8100000">
            <a:off x="9946225" y="9624890"/>
            <a:ext cx="4114800" cy="411480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0658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-494812" y="6537180"/>
            <a:ext cx="1523512" cy="1816407"/>
          </a:xfrm>
          <a:custGeom>
            <a:avLst/>
            <a:gdLst/>
            <a:ahLst/>
            <a:cxnLst/>
            <a:rect l="l" t="t" r="r" b="b"/>
            <a:pathLst>
              <a:path w="1523512" h="1816407">
                <a:moveTo>
                  <a:pt x="0" y="0"/>
                </a:moveTo>
                <a:lnTo>
                  <a:pt x="1523512" y="0"/>
                </a:lnTo>
                <a:lnTo>
                  <a:pt x="1523512" y="1816407"/>
                </a:lnTo>
                <a:lnTo>
                  <a:pt x="0" y="181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411829" y="3070080"/>
            <a:ext cx="7503571" cy="3124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206"/>
              </a:lnSpc>
            </a:pPr>
            <a:r>
              <a:rPr lang="en-US" sz="6838" b="1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KUBERNETES TRAINING: </a:t>
            </a:r>
          </a:p>
          <a:p>
            <a:pPr marL="0" lvl="0" indent="0" algn="l">
              <a:lnSpc>
                <a:spcPts val="8206"/>
              </a:lnSpc>
            </a:pPr>
            <a:r>
              <a:rPr lang="en-US" sz="6838" b="1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DAN 1 - OSNOVE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11829" y="7521015"/>
            <a:ext cx="6898396" cy="394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75"/>
              </a:lnSpc>
              <a:spcBef>
                <a:spcPct val="0"/>
              </a:spcBef>
            </a:pPr>
            <a:r>
              <a:rPr lang="en-US" sz="2339" dirty="0" err="1">
                <a:solidFill>
                  <a:srgbClr val="222A35"/>
                </a:solidFill>
                <a:latin typeface="Open Sans"/>
                <a:ea typeface="Open Sans"/>
                <a:cs typeface="Open Sans"/>
                <a:sym typeface="Open Sans"/>
              </a:rPr>
              <a:t>Uvod</a:t>
            </a:r>
            <a:r>
              <a:rPr lang="en-US" sz="2339" dirty="0">
                <a:solidFill>
                  <a:srgbClr val="222A35"/>
                </a:solidFill>
                <a:latin typeface="Open Sans"/>
                <a:ea typeface="Open Sans"/>
                <a:cs typeface="Open Sans"/>
                <a:sym typeface="Open Sans"/>
              </a:rPr>
              <a:t> u </a:t>
            </a:r>
            <a:r>
              <a:rPr lang="en-US" sz="2339" dirty="0" err="1">
                <a:solidFill>
                  <a:srgbClr val="222A35"/>
                </a:solidFill>
                <a:latin typeface="Open Sans"/>
                <a:ea typeface="Open Sans"/>
                <a:cs typeface="Open Sans"/>
                <a:sym typeface="Open Sans"/>
              </a:rPr>
              <a:t>tehnologiju</a:t>
            </a:r>
            <a:r>
              <a:rPr lang="en-US" sz="2339" dirty="0">
                <a:solidFill>
                  <a:srgbClr val="222A3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39" dirty="0" err="1">
                <a:solidFill>
                  <a:srgbClr val="222A35"/>
                </a:solidFill>
                <a:latin typeface="Open Sans"/>
                <a:ea typeface="Open Sans"/>
                <a:cs typeface="Open Sans"/>
                <a:sym typeface="Open Sans"/>
              </a:rPr>
              <a:t>kontejnerizacije</a:t>
            </a:r>
            <a:endParaRPr lang="en-US" sz="2339" dirty="0">
              <a:solidFill>
                <a:srgbClr val="222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239046" y="1714500"/>
            <a:ext cx="3056231" cy="37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r>
              <a:rPr lang="en-US" sz="215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Kubernetes Basics</a:t>
            </a:r>
          </a:p>
        </p:txBody>
      </p:sp>
      <p:pic>
        <p:nvPicPr>
          <p:cNvPr id="34" name="Picture 33" descr="A logo with a letter&#10;&#10;AI-generated content may be incorrect.">
            <a:extLst>
              <a:ext uri="{FF2B5EF4-FFF2-40B4-BE49-F238E27FC236}">
                <a16:creationId xmlns:a16="http://schemas.microsoft.com/office/drawing/2014/main" id="{30F4705C-F3AA-4050-45F0-ADF21A0FFC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608794"/>
            <a:ext cx="584200" cy="584200"/>
          </a:xfrm>
          <a:prstGeom prst="rect">
            <a:avLst/>
          </a:prstGeom>
        </p:spPr>
      </p:pic>
      <p:sp>
        <p:nvSpPr>
          <p:cNvPr id="28" name="TextBox 32">
            <a:extLst>
              <a:ext uri="{FF2B5EF4-FFF2-40B4-BE49-F238E27FC236}">
                <a16:creationId xmlns:a16="http://schemas.microsoft.com/office/drawing/2014/main" id="{975E9321-F6E0-BFBD-C2F6-E88960808F20}"/>
              </a:ext>
            </a:extLst>
          </p:cNvPr>
          <p:cNvSpPr txBox="1"/>
          <p:nvPr/>
        </p:nvSpPr>
        <p:spPr>
          <a:xfrm>
            <a:off x="1447800" y="9000144"/>
            <a:ext cx="3056231" cy="37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r>
              <a:rPr lang="en-US" sz="215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MSc Vladimir Gasevic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DE0B-D525-2536-738D-AFE32B1E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EC018C-9970-1603-B3FF-396AAE39750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09B438C-E171-783E-0F0F-0C9881BDF11C}"/>
              </a:ext>
            </a:extLst>
          </p:cNvPr>
          <p:cNvGrpSpPr/>
          <p:nvPr/>
        </p:nvGrpSpPr>
        <p:grpSpPr>
          <a:xfrm rot="6490287">
            <a:off x="-2269166" y="6731607"/>
            <a:ext cx="5316260" cy="4651728"/>
            <a:chOff x="0" y="0"/>
            <a:chExt cx="812800" cy="7112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F405BF0-3A33-AC70-2C0D-6443C96FDCF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8887710-565C-3B90-5FD5-A206F0D319C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7E14CE0-196A-22E8-2AF4-2616C098FC0E}"/>
              </a:ext>
            </a:extLst>
          </p:cNvPr>
          <p:cNvGrpSpPr/>
          <p:nvPr/>
        </p:nvGrpSpPr>
        <p:grpSpPr>
          <a:xfrm rot="3586984">
            <a:off x="16566099" y="-649873"/>
            <a:ext cx="5316260" cy="4651728"/>
            <a:chOff x="0" y="0"/>
            <a:chExt cx="812800" cy="7112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5BC88F6-C3EF-CB40-D0BA-2566E772943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4249941-892A-3FEA-62F3-1FBFCFD7764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B1BB684-1389-DDD6-82EC-916F197646AD}"/>
              </a:ext>
            </a:extLst>
          </p:cNvPr>
          <p:cNvGrpSpPr/>
          <p:nvPr/>
        </p:nvGrpSpPr>
        <p:grpSpPr>
          <a:xfrm>
            <a:off x="-7247241" y="9637771"/>
            <a:ext cx="13716000" cy="10287000"/>
            <a:chOff x="0" y="0"/>
            <a:chExt cx="812800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DF5D5E9-C904-A5E4-1446-4161D000F59C}"/>
                </a:ext>
              </a:extLst>
            </p:cNvPr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BF04A9C-A450-62D0-6AF0-6CE9028DB3B1}"/>
                </a:ext>
              </a:extLst>
            </p:cNvPr>
            <p:cNvSpPr txBox="1"/>
            <p:nvPr/>
          </p:nvSpPr>
          <p:spPr>
            <a:xfrm>
              <a:off x="101600" y="-47625"/>
              <a:ext cx="60960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E5908FE-73E0-8E77-198C-167514583F5E}"/>
              </a:ext>
            </a:extLst>
          </p:cNvPr>
          <p:cNvGrpSpPr/>
          <p:nvPr/>
        </p:nvGrpSpPr>
        <p:grpSpPr>
          <a:xfrm>
            <a:off x="12126940" y="-9576751"/>
            <a:ext cx="11005377" cy="10287000"/>
            <a:chOff x="0" y="0"/>
            <a:chExt cx="652170" cy="6096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C96657E-A2BA-583D-9ABB-60916EA3D208}"/>
                </a:ext>
              </a:extLst>
            </p:cNvPr>
            <p:cNvSpPr/>
            <p:nvPr/>
          </p:nvSpPr>
          <p:spPr>
            <a:xfrm>
              <a:off x="0" y="0"/>
              <a:ext cx="652170" cy="609600"/>
            </a:xfrm>
            <a:custGeom>
              <a:avLst/>
              <a:gdLst/>
              <a:ahLst/>
              <a:cxnLst/>
              <a:rect l="l" t="t" r="r" b="b"/>
              <a:pathLst>
                <a:path w="652170" h="609600">
                  <a:moveTo>
                    <a:pt x="203200" y="0"/>
                  </a:moveTo>
                  <a:lnTo>
                    <a:pt x="652170" y="0"/>
                  </a:lnTo>
                  <a:lnTo>
                    <a:pt x="44897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2C90920F-A0F7-34B3-2950-94CAE3D1DB61}"/>
                </a:ext>
              </a:extLst>
            </p:cNvPr>
            <p:cNvSpPr txBox="1"/>
            <p:nvPr/>
          </p:nvSpPr>
          <p:spPr>
            <a:xfrm>
              <a:off x="101600" y="-47625"/>
              <a:ext cx="44897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6FE2A5D7-4DE2-9274-8E13-4C0F92143BE1}"/>
              </a:ext>
            </a:extLst>
          </p:cNvPr>
          <p:cNvSpPr/>
          <p:nvPr/>
        </p:nvSpPr>
        <p:spPr>
          <a:xfrm>
            <a:off x="-389241" y="-709061"/>
            <a:ext cx="2316960" cy="2316960"/>
          </a:xfrm>
          <a:custGeom>
            <a:avLst/>
            <a:gdLst/>
            <a:ahLst/>
            <a:cxnLst/>
            <a:rect l="l" t="t" r="r" b="b"/>
            <a:pathLst>
              <a:path w="2316960" h="2316960">
                <a:moveTo>
                  <a:pt x="0" y="0"/>
                </a:moveTo>
                <a:lnTo>
                  <a:pt x="2316960" y="0"/>
                </a:lnTo>
                <a:lnTo>
                  <a:pt x="2316960" y="2316960"/>
                </a:lnTo>
                <a:lnTo>
                  <a:pt x="0" y="2316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2B95CD38-0948-0D6B-F191-F80161B0CE6A}"/>
              </a:ext>
            </a:extLst>
          </p:cNvPr>
          <p:cNvSpPr/>
          <p:nvPr/>
        </p:nvSpPr>
        <p:spPr>
          <a:xfrm>
            <a:off x="16702078" y="9057471"/>
            <a:ext cx="2769429" cy="2364400"/>
          </a:xfrm>
          <a:custGeom>
            <a:avLst/>
            <a:gdLst/>
            <a:ahLst/>
            <a:cxnLst/>
            <a:rect l="l" t="t" r="r" b="b"/>
            <a:pathLst>
              <a:path w="2769429" h="2364400">
                <a:moveTo>
                  <a:pt x="0" y="0"/>
                </a:moveTo>
                <a:lnTo>
                  <a:pt x="2769429" y="0"/>
                </a:lnTo>
                <a:lnTo>
                  <a:pt x="2769429" y="2364400"/>
                </a:lnTo>
                <a:lnTo>
                  <a:pt x="0" y="236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9EA2216-B053-E465-3876-7163D56FED09}"/>
              </a:ext>
            </a:extLst>
          </p:cNvPr>
          <p:cNvSpPr txBox="1"/>
          <p:nvPr/>
        </p:nvSpPr>
        <p:spPr>
          <a:xfrm>
            <a:off x="3733800" y="1568954"/>
            <a:ext cx="9578637" cy="78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5"/>
              </a:lnSpc>
            </a:pPr>
            <a:r>
              <a:rPr lang="en-US" sz="5396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Alma Linux vs Ubuntu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4D670F-7851-9BEF-AABD-53660446D455}"/>
              </a:ext>
            </a:extLst>
          </p:cNvPr>
          <p:cNvSpPr txBox="1"/>
          <p:nvPr/>
        </p:nvSpPr>
        <p:spPr>
          <a:xfrm>
            <a:off x="1204974" y="3238500"/>
            <a:ext cx="7098570" cy="2248564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RHEL (Red Hat)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Zamena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 za CentOS,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cesci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na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serverima</a:t>
            </a:r>
            <a:endParaRPr lang="en-US" sz="2400" dirty="0">
              <a:solidFill>
                <a:schemeClr val="bg1"/>
              </a:solidFill>
              <a:latin typeface="PT Sans" panose="020B0503020203020204" pitchFamily="34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package manager :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dnf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(Dandified YUM)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.rpm (rpm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instaler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8D9864-A545-E4D1-3FF4-D84E027F805B}"/>
              </a:ext>
            </a:extLst>
          </p:cNvPr>
          <p:cNvSpPr txBox="1"/>
          <p:nvPr/>
        </p:nvSpPr>
        <p:spPr>
          <a:xfrm>
            <a:off x="8926914" y="3238500"/>
            <a:ext cx="7758454" cy="2248564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Debian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User friendly,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cesci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na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Desktop I Cloud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sistemima</a:t>
            </a:r>
            <a:endParaRPr lang="en-US" sz="2400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package manager: apt (Advanced Package Tool)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.deb (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dpkg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instaler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852348-7ACA-5321-D54A-2F6F4E62F78C}"/>
              </a:ext>
            </a:extLst>
          </p:cNvPr>
          <p:cNvSpPr txBox="1"/>
          <p:nvPr/>
        </p:nvSpPr>
        <p:spPr>
          <a:xfrm>
            <a:off x="1204974" y="6522826"/>
            <a:ext cx="7098570" cy="1694566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dnf</a:t>
            </a:r>
            <a:r>
              <a:rPr lang="en-US" sz="2400" i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update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dnf</a:t>
            </a:r>
            <a:r>
              <a:rPr lang="en-US" sz="2400" i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install nginx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dnf</a:t>
            </a:r>
            <a:r>
              <a:rPr lang="en-US" sz="2400" i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remove nginx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722262-0CB1-2A1A-51C5-7BBCDC6F61EE}"/>
              </a:ext>
            </a:extLst>
          </p:cNvPr>
          <p:cNvSpPr txBox="1"/>
          <p:nvPr/>
        </p:nvSpPr>
        <p:spPr>
          <a:xfrm>
            <a:off x="8926914" y="6501771"/>
            <a:ext cx="7758454" cy="1694566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apt update &amp;&amp; apt upgrade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apt install nginx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apt remove nginx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8703AF07-774C-3D98-3A32-4E92ADA212DC}"/>
              </a:ext>
            </a:extLst>
          </p:cNvPr>
          <p:cNvSpPr txBox="1"/>
          <p:nvPr/>
        </p:nvSpPr>
        <p:spPr>
          <a:xfrm>
            <a:off x="3821395" y="5600700"/>
            <a:ext cx="9578637" cy="707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5"/>
              </a:lnSpc>
            </a:pPr>
            <a:r>
              <a:rPr lang="en-US" sz="2800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Razlike</a:t>
            </a:r>
            <a:r>
              <a:rPr lang="en-US" sz="2800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u </a:t>
            </a:r>
            <a:r>
              <a:rPr lang="en-US" sz="2800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komandama</a:t>
            </a:r>
            <a:endParaRPr lang="en-US" sz="2800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4074921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600966" y="4198844"/>
            <a:ext cx="7061875" cy="1162404"/>
            <a:chOff x="0" y="0"/>
            <a:chExt cx="1859918" cy="3061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919448" y="1409700"/>
            <a:ext cx="7038066" cy="2841619"/>
          </a:xfrm>
          <a:custGeom>
            <a:avLst/>
            <a:gdLst/>
            <a:ahLst/>
            <a:cxnLst/>
            <a:rect l="l" t="t" r="r" b="b"/>
            <a:pathLst>
              <a:path w="7038066" h="2841619">
                <a:moveTo>
                  <a:pt x="0" y="0"/>
                </a:moveTo>
                <a:lnTo>
                  <a:pt x="7038066" y="0"/>
                </a:lnTo>
                <a:lnTo>
                  <a:pt x="7038066" y="2841619"/>
                </a:lnTo>
                <a:lnTo>
                  <a:pt x="0" y="2841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084824" y="4198844"/>
            <a:ext cx="7061875" cy="1162404"/>
            <a:chOff x="0" y="0"/>
            <a:chExt cx="1859918" cy="3061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00966" y="1256617"/>
            <a:ext cx="9578637" cy="1592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UVOD U</a:t>
            </a:r>
          </a:p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KONTEJNERIZACIJU</a:t>
            </a:r>
          </a:p>
        </p:txBody>
      </p:sp>
      <p:grpSp>
        <p:nvGrpSpPr>
          <p:cNvPr id="11" name="Group 11"/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3342915" y="4527316"/>
            <a:ext cx="3577977" cy="45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Docker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26773" y="4527316"/>
            <a:ext cx="3577977" cy="45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Kontejneri</a:t>
            </a:r>
            <a:endParaRPr lang="en-US" sz="2799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B0611F-BED5-15B6-64A4-656974E9894C}"/>
              </a:ext>
            </a:extLst>
          </p:cNvPr>
          <p:cNvSpPr txBox="1"/>
          <p:nvPr/>
        </p:nvSpPr>
        <p:spPr>
          <a:xfrm>
            <a:off x="9144000" y="5524500"/>
            <a:ext cx="7002699" cy="3785652"/>
          </a:xfrm>
          <a:prstGeom prst="rect">
            <a:avLst/>
          </a:prstGeom>
          <a:solidFill>
            <a:srgbClr val="F2F2F2">
              <a:alpha val="34902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 err="1"/>
              <a:t>Objedinjuje</a:t>
            </a:r>
            <a:r>
              <a:rPr lang="en-US" sz="2400" dirty="0"/>
              <a:t> </a:t>
            </a:r>
            <a:r>
              <a:rPr lang="en-US" sz="2400" dirty="0" err="1"/>
              <a:t>aplikaciju</a:t>
            </a:r>
            <a:r>
              <a:rPr lang="en-US" sz="2400" dirty="0"/>
              <a:t> </a:t>
            </a:r>
            <a:r>
              <a:rPr lang="en-US" sz="2400" dirty="0" err="1"/>
              <a:t>zajedno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njenim</a:t>
            </a:r>
            <a:r>
              <a:rPr lang="en-US" sz="2400" dirty="0"/>
              <a:t> </a:t>
            </a:r>
            <a:r>
              <a:rPr lang="en-US" sz="2400" dirty="0" err="1"/>
              <a:t>zavisnostima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Drži</a:t>
            </a:r>
            <a:r>
              <a:rPr lang="en-US" sz="2400" dirty="0"/>
              <a:t> </a:t>
            </a:r>
            <a:r>
              <a:rPr lang="en-US" sz="2400" dirty="0" err="1"/>
              <a:t>izolovanu</a:t>
            </a:r>
            <a:r>
              <a:rPr lang="en-US" sz="2400" dirty="0"/>
              <a:t> </a:t>
            </a:r>
            <a:r>
              <a:rPr lang="en-US" sz="2400" dirty="0" err="1"/>
              <a:t>instancu</a:t>
            </a:r>
            <a:r>
              <a:rPr lang="en-US" sz="2400" dirty="0"/>
              <a:t> OS-a u </a:t>
            </a:r>
            <a:r>
              <a:rPr lang="en-US" sz="2400" dirty="0" err="1"/>
              <a:t>kome</a:t>
            </a:r>
            <a:r>
              <a:rPr lang="en-US" sz="2400" dirty="0"/>
              <a:t> se </a:t>
            </a:r>
            <a:r>
              <a:rPr lang="en-US" sz="2400" dirty="0" err="1"/>
              <a:t>pokreće</a:t>
            </a:r>
            <a:r>
              <a:rPr lang="en-US" sz="2400" dirty="0"/>
              <a:t> </a:t>
            </a:r>
            <a:r>
              <a:rPr lang="en-US" sz="2400" dirty="0" err="1"/>
              <a:t>aplikacija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Dele </a:t>
            </a:r>
            <a:r>
              <a:rPr lang="en-US" sz="2400" dirty="0" err="1"/>
              <a:t>resurse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OS-om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kome</a:t>
            </a:r>
            <a:r>
              <a:rPr lang="en-US" sz="2400" dirty="0"/>
              <a:t> se </a:t>
            </a:r>
            <a:r>
              <a:rPr lang="en-US" sz="2400" dirty="0" err="1"/>
              <a:t>nalaze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Prenosivost</a:t>
            </a:r>
            <a:r>
              <a:rPr lang="en-US" sz="2400" dirty="0"/>
              <a:t> </a:t>
            </a:r>
            <a:r>
              <a:rPr lang="en-US" sz="2400" dirty="0" err="1"/>
              <a:t>kontejnera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Light weight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8B58FE-6A57-214F-9FCF-CB074D732B88}"/>
              </a:ext>
            </a:extLst>
          </p:cNvPr>
          <p:cNvSpPr txBox="1"/>
          <p:nvPr/>
        </p:nvSpPr>
        <p:spPr>
          <a:xfrm>
            <a:off x="1602329" y="5524500"/>
            <a:ext cx="7002699" cy="2308324"/>
          </a:xfrm>
          <a:prstGeom prst="rect">
            <a:avLst/>
          </a:prstGeom>
          <a:solidFill>
            <a:srgbClr val="F2F2F2">
              <a:alpha val="34902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 err="1"/>
              <a:t>Pakuje</a:t>
            </a:r>
            <a:r>
              <a:rPr lang="en-US" sz="2400" dirty="0"/>
              <a:t>, </a:t>
            </a:r>
            <a:r>
              <a:rPr lang="en-US" sz="2400" dirty="0" err="1"/>
              <a:t>isporučuje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pokreće</a:t>
            </a:r>
            <a:r>
              <a:rPr lang="en-US" sz="2400" dirty="0"/>
              <a:t> software</a:t>
            </a:r>
          </a:p>
          <a:p>
            <a:endParaRPr lang="en-US" sz="2400" dirty="0"/>
          </a:p>
          <a:p>
            <a:r>
              <a:rPr lang="en-US" sz="2400" dirty="0" err="1"/>
              <a:t>Rešava</a:t>
            </a:r>
            <a:r>
              <a:rPr lang="en-US" sz="2400" dirty="0"/>
              <a:t> </a:t>
            </a:r>
            <a:r>
              <a:rPr lang="en-US" sz="2400" dirty="0" err="1"/>
              <a:t>probleme</a:t>
            </a:r>
            <a:r>
              <a:rPr lang="en-US" sz="2400" dirty="0"/>
              <a:t> </a:t>
            </a:r>
            <a:r>
              <a:rPr lang="en-US" sz="2400" dirty="0" err="1"/>
              <a:t>instalacije</a:t>
            </a:r>
            <a:r>
              <a:rPr lang="en-US" sz="2400" dirty="0"/>
              <a:t>, </a:t>
            </a:r>
            <a:r>
              <a:rPr lang="en-US" sz="2400" dirty="0" err="1"/>
              <a:t>uklanjanja</a:t>
            </a:r>
            <a:r>
              <a:rPr lang="en-US" sz="2400" dirty="0"/>
              <a:t>, </a:t>
            </a:r>
            <a:r>
              <a:rPr lang="en-US" sz="2400" dirty="0" err="1"/>
              <a:t>ažuriranja</a:t>
            </a:r>
            <a:r>
              <a:rPr lang="en-US" sz="2400" dirty="0"/>
              <a:t>, </a:t>
            </a:r>
            <a:r>
              <a:rPr lang="en-US" sz="2400" dirty="0" err="1"/>
              <a:t>distribucije</a:t>
            </a:r>
            <a:r>
              <a:rPr lang="en-US" sz="2400" dirty="0"/>
              <a:t> 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upravljanja</a:t>
            </a:r>
            <a:r>
              <a:rPr lang="en-US" sz="2400" dirty="0"/>
              <a:t> </a:t>
            </a:r>
            <a:r>
              <a:rPr lang="en-US" sz="2400" dirty="0" err="1"/>
              <a:t>softverom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Docker Desktop (Win/Mac/Linux)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 rot="6490287">
            <a:off x="-2269166" y="6731607"/>
            <a:ext cx="5316260" cy="4651728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3586984">
            <a:off x="16566099" y="-649873"/>
            <a:ext cx="5316260" cy="4651728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7247241" y="9637771"/>
            <a:ext cx="13716000" cy="10287000"/>
            <a:chOff x="0" y="0"/>
            <a:chExt cx="812800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47625"/>
              <a:ext cx="60960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26940" y="-9576751"/>
            <a:ext cx="11005377" cy="10287000"/>
            <a:chOff x="0" y="0"/>
            <a:chExt cx="65217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52170" cy="609600"/>
            </a:xfrm>
            <a:custGeom>
              <a:avLst/>
              <a:gdLst/>
              <a:ahLst/>
              <a:cxnLst/>
              <a:rect l="l" t="t" r="r" b="b"/>
              <a:pathLst>
                <a:path w="652170" h="609600">
                  <a:moveTo>
                    <a:pt x="203200" y="0"/>
                  </a:moveTo>
                  <a:lnTo>
                    <a:pt x="652170" y="0"/>
                  </a:lnTo>
                  <a:lnTo>
                    <a:pt x="44897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600" y="-47625"/>
              <a:ext cx="44897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481120" y="6098059"/>
            <a:ext cx="11432399" cy="2300770"/>
          </a:xfrm>
          <a:custGeom>
            <a:avLst/>
            <a:gdLst/>
            <a:ahLst/>
            <a:cxnLst/>
            <a:rect l="l" t="t" r="r" b="b"/>
            <a:pathLst>
              <a:path w="11432399" h="2300770">
                <a:moveTo>
                  <a:pt x="0" y="0"/>
                </a:moveTo>
                <a:lnTo>
                  <a:pt x="11432398" y="0"/>
                </a:lnTo>
                <a:lnTo>
                  <a:pt x="11432398" y="2300770"/>
                </a:lnTo>
                <a:lnTo>
                  <a:pt x="0" y="230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Freeform 16"/>
          <p:cNvSpPr/>
          <p:nvPr/>
        </p:nvSpPr>
        <p:spPr>
          <a:xfrm>
            <a:off x="-389241" y="-709061"/>
            <a:ext cx="2316960" cy="2316960"/>
          </a:xfrm>
          <a:custGeom>
            <a:avLst/>
            <a:gdLst/>
            <a:ahLst/>
            <a:cxnLst/>
            <a:rect l="l" t="t" r="r" b="b"/>
            <a:pathLst>
              <a:path w="2316960" h="2316960">
                <a:moveTo>
                  <a:pt x="0" y="0"/>
                </a:moveTo>
                <a:lnTo>
                  <a:pt x="2316960" y="0"/>
                </a:lnTo>
                <a:lnTo>
                  <a:pt x="2316960" y="2316960"/>
                </a:lnTo>
                <a:lnTo>
                  <a:pt x="0" y="2316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6702078" y="9057471"/>
            <a:ext cx="2769429" cy="2364400"/>
          </a:xfrm>
          <a:custGeom>
            <a:avLst/>
            <a:gdLst/>
            <a:ahLst/>
            <a:cxnLst/>
            <a:rect l="l" t="t" r="r" b="b"/>
            <a:pathLst>
              <a:path w="2769429" h="2364400">
                <a:moveTo>
                  <a:pt x="0" y="0"/>
                </a:moveTo>
                <a:lnTo>
                  <a:pt x="2769429" y="0"/>
                </a:lnTo>
                <a:lnTo>
                  <a:pt x="2769429" y="2364400"/>
                </a:lnTo>
                <a:lnTo>
                  <a:pt x="0" y="236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3352800" y="5270495"/>
            <a:ext cx="3262225" cy="38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Docker Engine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37886" y="5270495"/>
            <a:ext cx="3262225" cy="38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Docker Images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86593" y="5270495"/>
            <a:ext cx="3262225" cy="38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Docker Containers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75890" y="1568954"/>
            <a:ext cx="9578637" cy="78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5"/>
              </a:lnSpc>
            </a:pPr>
            <a:r>
              <a:rPr lang="en-US" sz="5396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GLAVNI ELEMENTI DOCKERA</a:t>
            </a:r>
          </a:p>
        </p:txBody>
      </p:sp>
      <p:sp>
        <p:nvSpPr>
          <p:cNvPr id="25" name="Freeform 15">
            <a:extLst>
              <a:ext uri="{FF2B5EF4-FFF2-40B4-BE49-F238E27FC236}">
                <a16:creationId xmlns:a16="http://schemas.microsoft.com/office/drawing/2014/main" id="{3F78E836-7D55-BEA4-4BEE-07C1F8E81496}"/>
              </a:ext>
            </a:extLst>
          </p:cNvPr>
          <p:cNvSpPr/>
          <p:nvPr/>
        </p:nvSpPr>
        <p:spPr>
          <a:xfrm>
            <a:off x="3505199" y="2860419"/>
            <a:ext cx="11432399" cy="2300770"/>
          </a:xfrm>
          <a:custGeom>
            <a:avLst/>
            <a:gdLst/>
            <a:ahLst/>
            <a:cxnLst/>
            <a:rect l="l" t="t" r="r" b="b"/>
            <a:pathLst>
              <a:path w="11432399" h="2300770">
                <a:moveTo>
                  <a:pt x="0" y="0"/>
                </a:moveTo>
                <a:lnTo>
                  <a:pt x="11432398" y="0"/>
                </a:lnTo>
                <a:lnTo>
                  <a:pt x="11432398" y="2300770"/>
                </a:lnTo>
                <a:lnTo>
                  <a:pt x="0" y="230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9F9CEF60-D5D8-673C-4DA0-45D07B04AF61}"/>
              </a:ext>
            </a:extLst>
          </p:cNvPr>
          <p:cNvSpPr/>
          <p:nvPr/>
        </p:nvSpPr>
        <p:spPr>
          <a:xfrm>
            <a:off x="8927422" y="3283119"/>
            <a:ext cx="562323" cy="590252"/>
          </a:xfrm>
          <a:custGeom>
            <a:avLst/>
            <a:gdLst/>
            <a:ahLst/>
            <a:cxnLst/>
            <a:rect l="l" t="t" r="r" b="b"/>
            <a:pathLst>
              <a:path w="562323" h="590252">
                <a:moveTo>
                  <a:pt x="0" y="0"/>
                </a:moveTo>
                <a:lnTo>
                  <a:pt x="562322" y="0"/>
                </a:lnTo>
                <a:lnTo>
                  <a:pt x="562322" y="590253"/>
                </a:lnTo>
                <a:lnTo>
                  <a:pt x="0" y="590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CFEFC62F-97FA-C113-D8A2-1CECBCDF3709}"/>
              </a:ext>
            </a:extLst>
          </p:cNvPr>
          <p:cNvSpPr/>
          <p:nvPr/>
        </p:nvSpPr>
        <p:spPr>
          <a:xfrm>
            <a:off x="4635177" y="6424950"/>
            <a:ext cx="765326" cy="767787"/>
          </a:xfrm>
          <a:custGeom>
            <a:avLst/>
            <a:gdLst/>
            <a:ahLst/>
            <a:cxnLst/>
            <a:rect l="l" t="t" r="r" b="b"/>
            <a:pathLst>
              <a:path w="765326" h="767787">
                <a:moveTo>
                  <a:pt x="0" y="0"/>
                </a:moveTo>
                <a:lnTo>
                  <a:pt x="765326" y="0"/>
                </a:lnTo>
                <a:lnTo>
                  <a:pt x="765326" y="767786"/>
                </a:lnTo>
                <a:lnTo>
                  <a:pt x="0" y="7677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lum bright="70000" contrast="-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B9768D9E-0267-0ECB-B579-0E5CC84319AD}"/>
              </a:ext>
            </a:extLst>
          </p:cNvPr>
          <p:cNvSpPr/>
          <p:nvPr/>
        </p:nvSpPr>
        <p:spPr>
          <a:xfrm>
            <a:off x="13145555" y="3132321"/>
            <a:ext cx="473358" cy="882878"/>
          </a:xfrm>
          <a:custGeom>
            <a:avLst/>
            <a:gdLst/>
            <a:ahLst/>
            <a:cxnLst/>
            <a:rect l="l" t="t" r="r" b="b"/>
            <a:pathLst>
              <a:path w="473358" h="882878">
                <a:moveTo>
                  <a:pt x="0" y="0"/>
                </a:moveTo>
                <a:lnTo>
                  <a:pt x="473357" y="0"/>
                </a:lnTo>
                <a:lnTo>
                  <a:pt x="473357" y="882878"/>
                </a:lnTo>
                <a:lnTo>
                  <a:pt x="0" y="8828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208243FB-39DD-8C96-511A-1615842376E3}"/>
              </a:ext>
            </a:extLst>
          </p:cNvPr>
          <p:cNvSpPr txBox="1"/>
          <p:nvPr/>
        </p:nvSpPr>
        <p:spPr>
          <a:xfrm>
            <a:off x="3481121" y="8609123"/>
            <a:ext cx="3262225" cy="38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Dockerfile</a:t>
            </a:r>
            <a:endParaRPr lang="en-US" sz="2298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7B37AC0D-0876-C082-2546-EFD3480F6873}"/>
              </a:ext>
            </a:extLst>
          </p:cNvPr>
          <p:cNvSpPr txBox="1"/>
          <p:nvPr/>
        </p:nvSpPr>
        <p:spPr>
          <a:xfrm>
            <a:off x="7566207" y="8609123"/>
            <a:ext cx="3262225" cy="38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Docker Hub</a:t>
            </a:r>
          </a:p>
        </p:txBody>
      </p:sp>
      <p:sp>
        <p:nvSpPr>
          <p:cNvPr id="31" name="TextBox 23">
            <a:extLst>
              <a:ext uri="{FF2B5EF4-FFF2-40B4-BE49-F238E27FC236}">
                <a16:creationId xmlns:a16="http://schemas.microsoft.com/office/drawing/2014/main" id="{D9DEA01E-013E-2733-819D-2D2E6DC58F6E}"/>
              </a:ext>
            </a:extLst>
          </p:cNvPr>
          <p:cNvSpPr txBox="1"/>
          <p:nvPr/>
        </p:nvSpPr>
        <p:spPr>
          <a:xfrm>
            <a:off x="11899679" y="8609123"/>
            <a:ext cx="3262225" cy="38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Docker Compose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28E595D-4087-A518-7DF1-F51812B13B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5177" y="3135312"/>
            <a:ext cx="834749" cy="83474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B1C738B-07D4-3150-F069-9AA200713E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1177" y="6389936"/>
            <a:ext cx="802801" cy="8028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E9CC40C-E941-E3CB-9CEC-C3C27370D78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31076" y="6343436"/>
            <a:ext cx="849301" cy="849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26EBD-2439-58E6-480A-2106CD186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71DFCFF-87B5-C835-BBC9-B8B0A8F67B5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3543295-1C11-96CC-BB7E-269A71FDF0B8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DOCKERFILE – Base Template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02E1708-A09E-3484-4A68-AA674D40CACC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FA40069-4469-4163-0D40-678C47AE84F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602B179-1971-37C4-5C71-AD05E8DB517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856C4CA-BA71-35F2-2230-781D9910FD58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921788B-82AA-4E28-B6C4-8A46B96A7FB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F2780CC-5553-FD97-6300-BBDCF740071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A8CA4A1-E917-26AE-2BF9-7D6C97BAB5F7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29F0A66-63C6-64B6-7D24-0DEB96DCE926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0AD4234-1D5E-62EA-E5A4-F77EB6FD6DD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E2964BA-E81F-9AD7-1C09-CFA3A76D557B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101ED12-9CB6-68D3-2047-00BD05377C05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16E36382-7C26-1CF0-6665-AECC76ED248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ECADF591-4837-A2A5-9BE7-104DD441F3C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EB1D2817-F39B-C1AF-6672-F4C06FC3234F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87120120-28A3-924C-F049-B7BDC4D34B23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B8EBE631-756F-FC25-1E2E-884F4817064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BFF237D2-7745-9176-042A-E2D554C29567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EFD0918-C78D-25F2-5BCE-1A7503C5849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7F00A8AA-D66B-28C6-F4E2-3B8D80644F7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B40A5736-494E-D705-8FCE-63BD9D85EC88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505526-8AF3-1A55-8C3F-052EDCBF5CC9}"/>
              </a:ext>
            </a:extLst>
          </p:cNvPr>
          <p:cNvSpPr txBox="1"/>
          <p:nvPr/>
        </p:nvSpPr>
        <p:spPr>
          <a:xfrm>
            <a:off x="1372309" y="2303769"/>
            <a:ext cx="7002699" cy="3046988"/>
          </a:xfrm>
          <a:prstGeom prst="rect">
            <a:avLst/>
          </a:prstGeom>
          <a:solidFill>
            <a:srgbClr val="F2F2F2">
              <a:alpha val="34902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 err="1">
                <a:latin typeface="PT Sans" panose="020B0503020203020204" pitchFamily="34" charset="77"/>
              </a:rPr>
              <a:t>osnovni</a:t>
            </a:r>
            <a:r>
              <a:rPr lang="en-US" sz="2400" dirty="0">
                <a:latin typeface="PT Sans" panose="020B0503020203020204" pitchFamily="34" charset="77"/>
              </a:rPr>
              <a:t> image (base image)</a:t>
            </a: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radni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direktorijum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(working directory)</a:t>
            </a: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kopiranje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fajlova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(copy dependency)</a:t>
            </a: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instaliranje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potrebnih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fajlova</a:t>
            </a:r>
            <a:endParaRPr lang="en-US" sz="2400" dirty="0"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kopiranje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ostatka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aplikacije</a:t>
            </a:r>
            <a:endParaRPr lang="en-US" sz="2400" dirty="0"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izgradnja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aplikacije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(build)</a:t>
            </a: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definisanje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portova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(expose port) </a:t>
            </a: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PT Sans" panose="020B0503020203020204" pitchFamily="34" charset="77"/>
                <a:cs typeface="Consolas" panose="020B0609020204030204" pitchFamily="49" charset="0"/>
              </a:rPr>
              <a:t>pokretanje</a:t>
            </a:r>
            <a:r>
              <a:rPr lang="en-US" sz="2400" dirty="0">
                <a:latin typeface="PT Sans" panose="020B0503020203020204" pitchFamily="34" charset="77"/>
                <a:cs typeface="Consolas" panose="020B0609020204030204" pitchFamily="49" charset="0"/>
              </a:rPr>
              <a:t> (CMD)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440F6E6-6FA5-D560-0CE3-1F330CC945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961" y="2315033"/>
            <a:ext cx="6640048" cy="752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6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63389-30C2-659B-DE1E-DD60E5404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76A749-8C63-BBB5-0FEA-B62F0260579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15B98D1-4472-58F2-5B12-6D9EA1FF931B}"/>
              </a:ext>
            </a:extLst>
          </p:cNvPr>
          <p:cNvGrpSpPr/>
          <p:nvPr/>
        </p:nvGrpSpPr>
        <p:grpSpPr>
          <a:xfrm rot="6490287">
            <a:off x="-2269166" y="6731607"/>
            <a:ext cx="5316260" cy="4651728"/>
            <a:chOff x="0" y="0"/>
            <a:chExt cx="812800" cy="7112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B2653BD-DA4D-6E40-01C7-A470946C135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52640C3-3DD5-7373-A2E0-B3B9E501D12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C34FFB0-7967-0F93-BE31-222278A1E967}"/>
              </a:ext>
            </a:extLst>
          </p:cNvPr>
          <p:cNvGrpSpPr/>
          <p:nvPr/>
        </p:nvGrpSpPr>
        <p:grpSpPr>
          <a:xfrm>
            <a:off x="-7247241" y="9637771"/>
            <a:ext cx="13716000" cy="10287000"/>
            <a:chOff x="0" y="0"/>
            <a:chExt cx="812800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FC774EF-00BC-AC29-EA52-6A596A008CA9}"/>
                </a:ext>
              </a:extLst>
            </p:cNvPr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679755C-1E06-7894-208A-2C1FF993EB3E}"/>
                </a:ext>
              </a:extLst>
            </p:cNvPr>
            <p:cNvSpPr txBox="1"/>
            <p:nvPr/>
          </p:nvSpPr>
          <p:spPr>
            <a:xfrm>
              <a:off x="101600" y="-47625"/>
              <a:ext cx="60960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ED6A5AF2-CEE1-E904-30E6-C3BFE0B0E875}"/>
              </a:ext>
            </a:extLst>
          </p:cNvPr>
          <p:cNvSpPr/>
          <p:nvPr/>
        </p:nvSpPr>
        <p:spPr>
          <a:xfrm>
            <a:off x="-389241" y="-709061"/>
            <a:ext cx="2316960" cy="2316960"/>
          </a:xfrm>
          <a:custGeom>
            <a:avLst/>
            <a:gdLst/>
            <a:ahLst/>
            <a:cxnLst/>
            <a:rect l="l" t="t" r="r" b="b"/>
            <a:pathLst>
              <a:path w="2316960" h="2316960">
                <a:moveTo>
                  <a:pt x="0" y="0"/>
                </a:moveTo>
                <a:lnTo>
                  <a:pt x="2316960" y="0"/>
                </a:lnTo>
                <a:lnTo>
                  <a:pt x="2316960" y="2316960"/>
                </a:lnTo>
                <a:lnTo>
                  <a:pt x="0" y="2316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8A62B79E-2847-6387-2465-0A9D1048569B}"/>
              </a:ext>
            </a:extLst>
          </p:cNvPr>
          <p:cNvSpPr/>
          <p:nvPr/>
        </p:nvSpPr>
        <p:spPr>
          <a:xfrm>
            <a:off x="16702078" y="9057471"/>
            <a:ext cx="2769429" cy="2364400"/>
          </a:xfrm>
          <a:custGeom>
            <a:avLst/>
            <a:gdLst/>
            <a:ahLst/>
            <a:cxnLst/>
            <a:rect l="l" t="t" r="r" b="b"/>
            <a:pathLst>
              <a:path w="2769429" h="2364400">
                <a:moveTo>
                  <a:pt x="0" y="0"/>
                </a:moveTo>
                <a:lnTo>
                  <a:pt x="2769429" y="0"/>
                </a:lnTo>
                <a:lnTo>
                  <a:pt x="2769429" y="2364400"/>
                </a:lnTo>
                <a:lnTo>
                  <a:pt x="0" y="236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5266F44-6B4D-C666-002F-4A486FC91EB4}"/>
              </a:ext>
            </a:extLst>
          </p:cNvPr>
          <p:cNvSpPr txBox="1"/>
          <p:nvPr/>
        </p:nvSpPr>
        <p:spPr>
          <a:xfrm>
            <a:off x="555962" y="1476460"/>
            <a:ext cx="9578637" cy="78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5"/>
              </a:lnSpc>
            </a:pPr>
            <a:r>
              <a:rPr lang="en-US" sz="5396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DOCKER COMPOSE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0F309A-9B62-8BE7-2E01-70A78E0477DE}"/>
              </a:ext>
            </a:extLst>
          </p:cNvPr>
          <p:cNvSpPr txBox="1"/>
          <p:nvPr/>
        </p:nvSpPr>
        <p:spPr>
          <a:xfrm>
            <a:off x="1224548" y="3054771"/>
            <a:ext cx="8910051" cy="2802562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Alat koji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omogucava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definisanje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 I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pokretanje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 vise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povezanih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kontejnera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odjednom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koristeci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jedan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 YAML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fajl</a:t>
            </a:r>
            <a:endParaRPr lang="en-US" sz="2400" dirty="0">
              <a:solidFill>
                <a:schemeClr val="bg1"/>
              </a:solidFill>
              <a:latin typeface="PT Sans" panose="020B0503020203020204" pitchFamily="34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compose vs docker-compose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compose up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compose down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E2ADAE8-740A-C36C-430B-C5212B41F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4915" y="521785"/>
            <a:ext cx="7759700" cy="9563100"/>
          </a:xfrm>
          <a:prstGeom prst="rect">
            <a:avLst/>
          </a:prstGeom>
        </p:spPr>
      </p:pic>
      <p:grpSp>
        <p:nvGrpSpPr>
          <p:cNvPr id="6" name="Group 6">
            <a:extLst>
              <a:ext uri="{FF2B5EF4-FFF2-40B4-BE49-F238E27FC236}">
                <a16:creationId xmlns:a16="http://schemas.microsoft.com/office/drawing/2014/main" id="{0855763B-ADD8-6088-AF9A-58CE96726C52}"/>
              </a:ext>
            </a:extLst>
          </p:cNvPr>
          <p:cNvGrpSpPr/>
          <p:nvPr/>
        </p:nvGrpSpPr>
        <p:grpSpPr>
          <a:xfrm rot="3586984">
            <a:off x="16566099" y="-649873"/>
            <a:ext cx="5316260" cy="4651728"/>
            <a:chOff x="0" y="0"/>
            <a:chExt cx="812800" cy="7112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DED62A9-ECA8-0311-0F7A-E43548DFDF7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57E1DFD-5B67-1849-5F9E-491ABCB4BAB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CC85F80-6266-F1EC-C14A-B4E4AF602A07}"/>
              </a:ext>
            </a:extLst>
          </p:cNvPr>
          <p:cNvGrpSpPr/>
          <p:nvPr/>
        </p:nvGrpSpPr>
        <p:grpSpPr>
          <a:xfrm>
            <a:off x="12126940" y="-9576751"/>
            <a:ext cx="11005377" cy="10287000"/>
            <a:chOff x="0" y="0"/>
            <a:chExt cx="652170" cy="6096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2917026-973A-F4DD-399B-E9365C523FFF}"/>
                </a:ext>
              </a:extLst>
            </p:cNvPr>
            <p:cNvSpPr/>
            <p:nvPr/>
          </p:nvSpPr>
          <p:spPr>
            <a:xfrm>
              <a:off x="0" y="0"/>
              <a:ext cx="652170" cy="609600"/>
            </a:xfrm>
            <a:custGeom>
              <a:avLst/>
              <a:gdLst/>
              <a:ahLst/>
              <a:cxnLst/>
              <a:rect l="l" t="t" r="r" b="b"/>
              <a:pathLst>
                <a:path w="652170" h="609600">
                  <a:moveTo>
                    <a:pt x="203200" y="0"/>
                  </a:moveTo>
                  <a:lnTo>
                    <a:pt x="652170" y="0"/>
                  </a:lnTo>
                  <a:lnTo>
                    <a:pt x="44897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610E4627-CFDD-5744-61A1-F2A966F46DCF}"/>
                </a:ext>
              </a:extLst>
            </p:cNvPr>
            <p:cNvSpPr txBox="1"/>
            <p:nvPr/>
          </p:nvSpPr>
          <p:spPr>
            <a:xfrm>
              <a:off x="101600" y="-47625"/>
              <a:ext cx="44897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97735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280E2-189A-1B3B-1D10-8657B1D9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43E7CD7F-8B28-55C3-FF3A-8825D7E22D75}"/>
              </a:ext>
            </a:extLst>
          </p:cNvPr>
          <p:cNvGrpSpPr/>
          <p:nvPr/>
        </p:nvGrpSpPr>
        <p:grpSpPr>
          <a:xfrm rot="6490287">
            <a:off x="-2269166" y="6731607"/>
            <a:ext cx="5316260" cy="4651728"/>
            <a:chOff x="0" y="0"/>
            <a:chExt cx="812800" cy="7112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0E3FA3B-106E-9152-89DC-37FB37E19B31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8627458-43F2-1094-8A78-3E83C3830079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9C0D03D-C556-21D5-589C-A73F2B6DE7B4}"/>
              </a:ext>
            </a:extLst>
          </p:cNvPr>
          <p:cNvGrpSpPr/>
          <p:nvPr/>
        </p:nvGrpSpPr>
        <p:grpSpPr>
          <a:xfrm rot="3586984">
            <a:off x="16566099" y="-649873"/>
            <a:ext cx="5316260" cy="4651728"/>
            <a:chOff x="0" y="0"/>
            <a:chExt cx="812800" cy="7112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3B9725B-E267-8114-AB6D-26D20DE26E37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E7819E3-D73B-5F75-197E-7DE63E363BC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4026863-037A-5BD2-F167-4AE5C40C2979}"/>
              </a:ext>
            </a:extLst>
          </p:cNvPr>
          <p:cNvGrpSpPr/>
          <p:nvPr/>
        </p:nvGrpSpPr>
        <p:grpSpPr>
          <a:xfrm>
            <a:off x="-7247241" y="9637771"/>
            <a:ext cx="13716000" cy="10287000"/>
            <a:chOff x="0" y="0"/>
            <a:chExt cx="812800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0189ADE-5CD0-7AD9-471A-4335605E8715}"/>
                </a:ext>
              </a:extLst>
            </p:cNvPr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4F673C0-8067-33B6-B46E-822A3F5E8D2A}"/>
                </a:ext>
              </a:extLst>
            </p:cNvPr>
            <p:cNvSpPr txBox="1"/>
            <p:nvPr/>
          </p:nvSpPr>
          <p:spPr>
            <a:xfrm>
              <a:off x="101600" y="-47625"/>
              <a:ext cx="60960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2DE6D50-A8C6-1E14-AAEF-6C71F4D5ECDA}"/>
              </a:ext>
            </a:extLst>
          </p:cNvPr>
          <p:cNvGrpSpPr/>
          <p:nvPr/>
        </p:nvGrpSpPr>
        <p:grpSpPr>
          <a:xfrm>
            <a:off x="12126940" y="-9576751"/>
            <a:ext cx="11005377" cy="10287000"/>
            <a:chOff x="0" y="0"/>
            <a:chExt cx="652170" cy="6096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8B40069-0A14-BF28-BA1C-6B87A1C82BBE}"/>
                </a:ext>
              </a:extLst>
            </p:cNvPr>
            <p:cNvSpPr/>
            <p:nvPr/>
          </p:nvSpPr>
          <p:spPr>
            <a:xfrm>
              <a:off x="0" y="0"/>
              <a:ext cx="652170" cy="609600"/>
            </a:xfrm>
            <a:custGeom>
              <a:avLst/>
              <a:gdLst/>
              <a:ahLst/>
              <a:cxnLst/>
              <a:rect l="l" t="t" r="r" b="b"/>
              <a:pathLst>
                <a:path w="652170" h="609600">
                  <a:moveTo>
                    <a:pt x="203200" y="0"/>
                  </a:moveTo>
                  <a:lnTo>
                    <a:pt x="652170" y="0"/>
                  </a:lnTo>
                  <a:lnTo>
                    <a:pt x="44897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2CD0C0FD-7E26-0CC3-B21A-DBF6A549B3C8}"/>
                </a:ext>
              </a:extLst>
            </p:cNvPr>
            <p:cNvSpPr txBox="1"/>
            <p:nvPr/>
          </p:nvSpPr>
          <p:spPr>
            <a:xfrm>
              <a:off x="101600" y="-47625"/>
              <a:ext cx="44897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6A9AE235-6214-830A-B257-C1BADF9EF254}"/>
              </a:ext>
            </a:extLst>
          </p:cNvPr>
          <p:cNvSpPr/>
          <p:nvPr/>
        </p:nvSpPr>
        <p:spPr>
          <a:xfrm>
            <a:off x="-389241" y="-709061"/>
            <a:ext cx="2316960" cy="2316960"/>
          </a:xfrm>
          <a:custGeom>
            <a:avLst/>
            <a:gdLst/>
            <a:ahLst/>
            <a:cxnLst/>
            <a:rect l="l" t="t" r="r" b="b"/>
            <a:pathLst>
              <a:path w="2316960" h="2316960">
                <a:moveTo>
                  <a:pt x="0" y="0"/>
                </a:moveTo>
                <a:lnTo>
                  <a:pt x="2316960" y="0"/>
                </a:lnTo>
                <a:lnTo>
                  <a:pt x="2316960" y="2316960"/>
                </a:lnTo>
                <a:lnTo>
                  <a:pt x="0" y="2316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2779D0C9-CFF6-CADE-9464-AF1CC533C511}"/>
              </a:ext>
            </a:extLst>
          </p:cNvPr>
          <p:cNvSpPr/>
          <p:nvPr/>
        </p:nvSpPr>
        <p:spPr>
          <a:xfrm>
            <a:off x="16702078" y="9057471"/>
            <a:ext cx="2769429" cy="2364400"/>
          </a:xfrm>
          <a:custGeom>
            <a:avLst/>
            <a:gdLst/>
            <a:ahLst/>
            <a:cxnLst/>
            <a:rect l="l" t="t" r="r" b="b"/>
            <a:pathLst>
              <a:path w="2769429" h="2364400">
                <a:moveTo>
                  <a:pt x="0" y="0"/>
                </a:moveTo>
                <a:lnTo>
                  <a:pt x="2769429" y="0"/>
                </a:lnTo>
                <a:lnTo>
                  <a:pt x="2769429" y="2364400"/>
                </a:lnTo>
                <a:lnTo>
                  <a:pt x="0" y="236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D25A29C-0AFD-D823-AAB4-F75F1CFA4168}"/>
              </a:ext>
            </a:extLst>
          </p:cNvPr>
          <p:cNvSpPr txBox="1"/>
          <p:nvPr/>
        </p:nvSpPr>
        <p:spPr>
          <a:xfrm>
            <a:off x="3389700" y="1961111"/>
            <a:ext cx="9578637" cy="78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5"/>
              </a:lnSpc>
            </a:pPr>
            <a:r>
              <a:rPr lang="en-US" sz="5396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IMAGE LAYER-</a:t>
            </a:r>
            <a:r>
              <a:rPr lang="en-US" sz="5396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</a:t>
            </a:r>
            <a:endParaRPr lang="en-US" sz="5396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EF6990-82B2-EA7D-D9A9-F92806CF0356}"/>
              </a:ext>
            </a:extLst>
          </p:cNvPr>
          <p:cNvSpPr txBox="1"/>
          <p:nvPr/>
        </p:nvSpPr>
        <p:spPr>
          <a:xfrm>
            <a:off x="990600" y="3695700"/>
            <a:ext cx="6002450" cy="586571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Svaka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instrukcija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u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Dockerfile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= layer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7C2E06-5B5D-B3AB-EAE4-A682B2A88868}"/>
              </a:ext>
            </a:extLst>
          </p:cNvPr>
          <p:cNvSpPr txBox="1"/>
          <p:nvPr/>
        </p:nvSpPr>
        <p:spPr>
          <a:xfrm>
            <a:off x="9245538" y="3652668"/>
            <a:ext cx="7727588" cy="11424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COPY . 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RUN </a:t>
            </a:r>
            <a:r>
              <a:rPr lang="en-US" sz="2400" dirty="0" err="1">
                <a:solidFill>
                  <a:schemeClr val="bg1"/>
                </a:solidFill>
              </a:rPr>
              <a:t>npm</a:t>
            </a:r>
            <a:r>
              <a:rPr lang="en-US" sz="2400" dirty="0">
                <a:solidFill>
                  <a:schemeClr val="bg1"/>
                </a:solidFill>
              </a:rPr>
              <a:t> install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A0E96E-911E-A0CF-19D5-378C3538C16B}"/>
              </a:ext>
            </a:extLst>
          </p:cNvPr>
          <p:cNvSpPr txBox="1"/>
          <p:nvPr/>
        </p:nvSpPr>
        <p:spPr>
          <a:xfrm>
            <a:off x="9245538" y="5504410"/>
            <a:ext cx="7727588" cy="169649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COPY </a:t>
            </a:r>
            <a:r>
              <a:rPr lang="en-US" sz="2400" dirty="0" err="1">
                <a:solidFill>
                  <a:schemeClr val="bg1"/>
                </a:solidFill>
              </a:rPr>
              <a:t>package.json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RUN </a:t>
            </a:r>
            <a:r>
              <a:rPr lang="en-US" sz="2400" dirty="0" err="1">
                <a:solidFill>
                  <a:schemeClr val="bg1"/>
                </a:solidFill>
              </a:rPr>
              <a:t>npm</a:t>
            </a:r>
            <a:r>
              <a:rPr lang="en-US" sz="2400" dirty="0">
                <a:solidFill>
                  <a:schemeClr val="bg1"/>
                </a:solidFill>
              </a:rPr>
              <a:t> install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COPY . .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39E0F3-4F5A-4458-3EAD-893ED32D854C}"/>
              </a:ext>
            </a:extLst>
          </p:cNvPr>
          <p:cNvSpPr txBox="1"/>
          <p:nvPr/>
        </p:nvSpPr>
        <p:spPr>
          <a:xfrm>
            <a:off x="9226694" y="3152181"/>
            <a:ext cx="1593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Los primer: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FF95E7-4BBF-93E7-573E-AEE323753DC8}"/>
              </a:ext>
            </a:extLst>
          </p:cNvPr>
          <p:cNvSpPr txBox="1"/>
          <p:nvPr/>
        </p:nvSpPr>
        <p:spPr>
          <a:xfrm>
            <a:off x="9212881" y="5024812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Dobar</a:t>
            </a:r>
            <a:r>
              <a:rPr lang="en-US" sz="2400" dirty="0"/>
              <a:t> primer: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717F35-358B-71F8-F4CB-B1F48C696FA6}"/>
              </a:ext>
            </a:extLst>
          </p:cNvPr>
          <p:cNvSpPr txBox="1"/>
          <p:nvPr/>
        </p:nvSpPr>
        <p:spPr>
          <a:xfrm>
            <a:off x="990600" y="4599079"/>
            <a:ext cx="6002450" cy="586571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Redosled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u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Dockerfile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je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veoma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bitan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CE892C3-9186-B93B-4840-DD13DDB3D88D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 flipV="1">
            <a:off x="6993050" y="4223914"/>
            <a:ext cx="2252488" cy="6684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B9035D-ACA3-AECD-D110-CDECD4D8F2E6}"/>
              </a:ext>
            </a:extLst>
          </p:cNvPr>
          <p:cNvCxnSpPr>
            <a:stCxn id="21" idx="3"/>
            <a:endCxn id="25" idx="1"/>
          </p:cNvCxnSpPr>
          <p:nvPr/>
        </p:nvCxnSpPr>
        <p:spPr>
          <a:xfrm>
            <a:off x="6993050" y="4892365"/>
            <a:ext cx="2252488" cy="14602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256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13F1-7C60-9327-2844-6EBB8E118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D5277C2-CE63-2077-E5F1-1CF500E5EEBF}"/>
              </a:ext>
            </a:extLst>
          </p:cNvPr>
          <p:cNvGrpSpPr/>
          <p:nvPr/>
        </p:nvGrpSpPr>
        <p:grpSpPr>
          <a:xfrm rot="6490287">
            <a:off x="-2269166" y="6731607"/>
            <a:ext cx="5316260" cy="4651728"/>
            <a:chOff x="0" y="0"/>
            <a:chExt cx="812800" cy="7112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AB4B13C-130C-F44B-8F9E-4070FF0D66D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4868951-10E2-13FB-5B00-1100CB048FC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89165AA-92A7-AED8-A7B1-3D6606BBDBED}"/>
              </a:ext>
            </a:extLst>
          </p:cNvPr>
          <p:cNvGrpSpPr/>
          <p:nvPr/>
        </p:nvGrpSpPr>
        <p:grpSpPr>
          <a:xfrm rot="3586984">
            <a:off x="16566099" y="-649873"/>
            <a:ext cx="5316260" cy="4651728"/>
            <a:chOff x="0" y="0"/>
            <a:chExt cx="812800" cy="7112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6141E9D-CF4D-4A74-7EFA-508906AA0E8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F691E58-C2F2-3309-088C-A6AFBB1545A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F434E4B-4607-B5C0-502E-AEDA89AF7C70}"/>
              </a:ext>
            </a:extLst>
          </p:cNvPr>
          <p:cNvGrpSpPr/>
          <p:nvPr/>
        </p:nvGrpSpPr>
        <p:grpSpPr>
          <a:xfrm>
            <a:off x="-7247241" y="9637771"/>
            <a:ext cx="13716000" cy="10287000"/>
            <a:chOff x="0" y="0"/>
            <a:chExt cx="812800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37EC7BD-86AC-A3FA-0AE9-1555A2A824E6}"/>
                </a:ext>
              </a:extLst>
            </p:cNvPr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CB2B8FC-2320-21B5-739F-E4BB4445232E}"/>
                </a:ext>
              </a:extLst>
            </p:cNvPr>
            <p:cNvSpPr txBox="1"/>
            <p:nvPr/>
          </p:nvSpPr>
          <p:spPr>
            <a:xfrm>
              <a:off x="101600" y="-47625"/>
              <a:ext cx="60960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6A61B8F-FE23-7FD9-3FEC-65DBBA74B37F}"/>
              </a:ext>
            </a:extLst>
          </p:cNvPr>
          <p:cNvGrpSpPr/>
          <p:nvPr/>
        </p:nvGrpSpPr>
        <p:grpSpPr>
          <a:xfrm>
            <a:off x="12126940" y="-9576751"/>
            <a:ext cx="11005377" cy="10287000"/>
            <a:chOff x="0" y="0"/>
            <a:chExt cx="652170" cy="6096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758A91F-2474-CCE9-C53A-583CA0025520}"/>
                </a:ext>
              </a:extLst>
            </p:cNvPr>
            <p:cNvSpPr/>
            <p:nvPr/>
          </p:nvSpPr>
          <p:spPr>
            <a:xfrm>
              <a:off x="0" y="0"/>
              <a:ext cx="652170" cy="609600"/>
            </a:xfrm>
            <a:custGeom>
              <a:avLst/>
              <a:gdLst/>
              <a:ahLst/>
              <a:cxnLst/>
              <a:rect l="l" t="t" r="r" b="b"/>
              <a:pathLst>
                <a:path w="652170" h="609600">
                  <a:moveTo>
                    <a:pt x="203200" y="0"/>
                  </a:moveTo>
                  <a:lnTo>
                    <a:pt x="652170" y="0"/>
                  </a:lnTo>
                  <a:lnTo>
                    <a:pt x="44897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F8558B26-C4A7-EB3C-F8A4-4C89C9F0683B}"/>
                </a:ext>
              </a:extLst>
            </p:cNvPr>
            <p:cNvSpPr txBox="1"/>
            <p:nvPr/>
          </p:nvSpPr>
          <p:spPr>
            <a:xfrm>
              <a:off x="101600" y="-47625"/>
              <a:ext cx="44897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D2793681-0759-3F46-843B-4C5D98F9086F}"/>
              </a:ext>
            </a:extLst>
          </p:cNvPr>
          <p:cNvSpPr/>
          <p:nvPr/>
        </p:nvSpPr>
        <p:spPr>
          <a:xfrm>
            <a:off x="-389241" y="-709061"/>
            <a:ext cx="2316960" cy="2316960"/>
          </a:xfrm>
          <a:custGeom>
            <a:avLst/>
            <a:gdLst/>
            <a:ahLst/>
            <a:cxnLst/>
            <a:rect l="l" t="t" r="r" b="b"/>
            <a:pathLst>
              <a:path w="2316960" h="2316960">
                <a:moveTo>
                  <a:pt x="0" y="0"/>
                </a:moveTo>
                <a:lnTo>
                  <a:pt x="2316960" y="0"/>
                </a:lnTo>
                <a:lnTo>
                  <a:pt x="2316960" y="2316960"/>
                </a:lnTo>
                <a:lnTo>
                  <a:pt x="0" y="2316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7FFA0057-A40A-AD9A-8489-0F5E0EF33DBC}"/>
              </a:ext>
            </a:extLst>
          </p:cNvPr>
          <p:cNvSpPr/>
          <p:nvPr/>
        </p:nvSpPr>
        <p:spPr>
          <a:xfrm>
            <a:off x="16702078" y="9057471"/>
            <a:ext cx="2769429" cy="2364400"/>
          </a:xfrm>
          <a:custGeom>
            <a:avLst/>
            <a:gdLst/>
            <a:ahLst/>
            <a:cxnLst/>
            <a:rect l="l" t="t" r="r" b="b"/>
            <a:pathLst>
              <a:path w="2769429" h="2364400">
                <a:moveTo>
                  <a:pt x="0" y="0"/>
                </a:moveTo>
                <a:lnTo>
                  <a:pt x="2769429" y="0"/>
                </a:lnTo>
                <a:lnTo>
                  <a:pt x="2769429" y="2364400"/>
                </a:lnTo>
                <a:lnTo>
                  <a:pt x="0" y="236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8D12DF0-29CF-1BC3-5893-44673D796D45}"/>
              </a:ext>
            </a:extLst>
          </p:cNvPr>
          <p:cNvSpPr txBox="1"/>
          <p:nvPr/>
        </p:nvSpPr>
        <p:spPr>
          <a:xfrm>
            <a:off x="3389700" y="1961111"/>
            <a:ext cx="9578637" cy="78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5"/>
              </a:lnSpc>
            </a:pPr>
            <a:r>
              <a:rPr lang="en-US" sz="5396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IMAGE REGISTRY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8937FF-54B7-B7B8-A5C8-E9D4C6907026}"/>
              </a:ext>
            </a:extLst>
          </p:cNvPr>
          <p:cNvSpPr txBox="1"/>
          <p:nvPr/>
        </p:nvSpPr>
        <p:spPr>
          <a:xfrm>
            <a:off x="990600" y="3767647"/>
            <a:ext cx="6002450" cy="586571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Javni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registry (Docker Hub)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E8118A-CE18-6A60-64E6-3392FB48EFD4}"/>
              </a:ext>
            </a:extLst>
          </p:cNvPr>
          <p:cNvSpPr txBox="1"/>
          <p:nvPr/>
        </p:nvSpPr>
        <p:spPr>
          <a:xfrm>
            <a:off x="990600" y="4807056"/>
            <a:ext cx="6002450" cy="586571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Cloud registry (AWS ECR, Google GCR)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C7DF62-0441-0DD3-ED36-B3D65669D34C}"/>
              </a:ext>
            </a:extLst>
          </p:cNvPr>
          <p:cNvSpPr txBox="1"/>
          <p:nvPr/>
        </p:nvSpPr>
        <p:spPr>
          <a:xfrm>
            <a:off x="990600" y="5793743"/>
            <a:ext cx="6002450" cy="586571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Privatni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registry (Harbor,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lokalni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I td)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86B1A0-117D-754A-0862-F0A91C036B97}"/>
              </a:ext>
            </a:extLst>
          </p:cNvPr>
          <p:cNvSpPr txBox="1"/>
          <p:nvPr/>
        </p:nvSpPr>
        <p:spPr>
          <a:xfrm>
            <a:off x="9386888" y="3767646"/>
            <a:ext cx="7727588" cy="58657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node, python,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postgres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A98A19-4EEE-E654-7E3A-B486E694D51C}"/>
              </a:ext>
            </a:extLst>
          </p:cNvPr>
          <p:cNvSpPr txBox="1"/>
          <p:nvPr/>
        </p:nvSpPr>
        <p:spPr>
          <a:xfrm>
            <a:off x="9386888" y="4807055"/>
            <a:ext cx="7727588" cy="58657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Kada je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cela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infrastruktura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na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Cloud-u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9EF9B7-A6F1-9903-1006-34CED5E69FB0}"/>
              </a:ext>
            </a:extLst>
          </p:cNvPr>
          <p:cNvSpPr txBox="1"/>
          <p:nvPr/>
        </p:nvSpPr>
        <p:spPr>
          <a:xfrm>
            <a:off x="9372600" y="5776129"/>
            <a:ext cx="7727588" cy="58657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Sigurnost,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brzina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,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puna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kontrola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…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7590F5-713F-B4A4-FADA-39F96129550D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6993050" y="4060931"/>
            <a:ext cx="2393838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4F0189-631A-9ED2-2900-BD27A6FF6524}"/>
              </a:ext>
            </a:extLst>
          </p:cNvPr>
          <p:cNvCxnSpPr>
            <a:cxnSpLocks/>
            <a:stCxn id="15" idx="3"/>
            <a:endCxn id="23" idx="1"/>
          </p:cNvCxnSpPr>
          <p:nvPr/>
        </p:nvCxnSpPr>
        <p:spPr>
          <a:xfrm flipV="1">
            <a:off x="6993050" y="5100341"/>
            <a:ext cx="2393838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98B6959-A87B-1FD6-916D-1D716F39D859}"/>
              </a:ext>
            </a:extLst>
          </p:cNvPr>
          <p:cNvCxnSpPr>
            <a:cxnSpLocks/>
            <a:stCxn id="18" idx="3"/>
            <a:endCxn id="25" idx="1"/>
          </p:cNvCxnSpPr>
          <p:nvPr/>
        </p:nvCxnSpPr>
        <p:spPr>
          <a:xfrm flipV="1">
            <a:off x="6993050" y="6069415"/>
            <a:ext cx="2379550" cy="176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78" name="Picture 6" descr="Logo, Icon, and Brand Guidelines | Docker">
            <a:extLst>
              <a:ext uri="{FF2B5EF4-FFF2-40B4-BE49-F238E27FC236}">
                <a16:creationId xmlns:a16="http://schemas.microsoft.com/office/drawing/2014/main" id="{9C91F9FA-EECB-E503-4AB1-ACB603419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890" y="7045957"/>
            <a:ext cx="2114372" cy="197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487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6490287">
            <a:off x="-3352790" y="1138228"/>
            <a:ext cx="16287335" cy="14251418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190023">
            <a:off x="-6692143" y="-7436372"/>
            <a:ext cx="14143104" cy="1414310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28079" r="-614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043921" y="3735361"/>
            <a:ext cx="2015531" cy="1007765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82171" y="5159047"/>
            <a:ext cx="2015531" cy="1007765"/>
            <a:chOff x="0" y="0"/>
            <a:chExt cx="812800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20421" y="6582734"/>
            <a:ext cx="2015531" cy="1007765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58671" y="8006420"/>
            <a:ext cx="2015531" cy="1007765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5400000">
            <a:off x="15817370" y="87111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 rot="2652956">
            <a:off x="-2478710" y="8897455"/>
            <a:ext cx="5568894" cy="2314575"/>
            <a:chOff x="0" y="0"/>
            <a:chExt cx="1466704" cy="609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6704" cy="609600"/>
            </a:xfrm>
            <a:custGeom>
              <a:avLst/>
              <a:gdLst/>
              <a:ahLst/>
              <a:cxnLst/>
              <a:rect l="l" t="t" r="r" b="b"/>
              <a:pathLst>
                <a:path w="1466704" h="609600">
                  <a:moveTo>
                    <a:pt x="203200" y="0"/>
                  </a:moveTo>
                  <a:lnTo>
                    <a:pt x="1466704" y="0"/>
                  </a:lnTo>
                  <a:lnTo>
                    <a:pt x="126350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600" y="-47625"/>
              <a:ext cx="1263504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5778647" y="3962714"/>
            <a:ext cx="468960" cy="539726"/>
          </a:xfrm>
          <a:custGeom>
            <a:avLst/>
            <a:gdLst/>
            <a:ahLst/>
            <a:cxnLst/>
            <a:rect l="l" t="t" r="r" b="b"/>
            <a:pathLst>
              <a:path w="468960" h="539726">
                <a:moveTo>
                  <a:pt x="0" y="0"/>
                </a:moveTo>
                <a:lnTo>
                  <a:pt x="468960" y="0"/>
                </a:lnTo>
                <a:lnTo>
                  <a:pt x="468960" y="539726"/>
                </a:lnTo>
                <a:lnTo>
                  <a:pt x="0" y="5397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7030480" y="5354089"/>
            <a:ext cx="518292" cy="617795"/>
          </a:xfrm>
          <a:custGeom>
            <a:avLst/>
            <a:gdLst/>
            <a:ahLst/>
            <a:cxnLst/>
            <a:rect l="l" t="t" r="r" b="b"/>
            <a:pathLst>
              <a:path w="518292" h="617795">
                <a:moveTo>
                  <a:pt x="0" y="0"/>
                </a:moveTo>
                <a:lnTo>
                  <a:pt x="518292" y="0"/>
                </a:lnTo>
                <a:lnTo>
                  <a:pt x="518292" y="617795"/>
                </a:lnTo>
                <a:lnTo>
                  <a:pt x="0" y="6177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8149048" y="6677238"/>
            <a:ext cx="758515" cy="1093016"/>
          </a:xfrm>
          <a:custGeom>
            <a:avLst/>
            <a:gdLst/>
            <a:ahLst/>
            <a:cxnLst/>
            <a:rect l="l" t="t" r="r" b="b"/>
            <a:pathLst>
              <a:path w="758515" h="1093016">
                <a:moveTo>
                  <a:pt x="0" y="0"/>
                </a:moveTo>
                <a:lnTo>
                  <a:pt x="758515" y="0"/>
                </a:lnTo>
                <a:lnTo>
                  <a:pt x="758515" y="1093016"/>
                </a:lnTo>
                <a:lnTo>
                  <a:pt x="0" y="10930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9521290" y="8261935"/>
            <a:ext cx="553191" cy="622340"/>
          </a:xfrm>
          <a:custGeom>
            <a:avLst/>
            <a:gdLst/>
            <a:ahLst/>
            <a:cxnLst/>
            <a:rect l="l" t="t" r="r" b="b"/>
            <a:pathLst>
              <a:path w="553191" h="622340">
                <a:moveTo>
                  <a:pt x="0" y="0"/>
                </a:moveTo>
                <a:lnTo>
                  <a:pt x="553191" y="0"/>
                </a:lnTo>
                <a:lnTo>
                  <a:pt x="553191" y="622340"/>
                </a:lnTo>
                <a:lnTo>
                  <a:pt x="0" y="6223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0180328" y="1028700"/>
            <a:ext cx="7078972" cy="1592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DOCKERFILE BEST PRACTICES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30845" y="3776964"/>
            <a:ext cx="4495028" cy="718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5"/>
              </a:lnSpc>
              <a:spcBef>
                <a:spcPct val="0"/>
              </a:spcBef>
            </a:pP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Koristiti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male base images (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lite,alpine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) za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dobijanje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malih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image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69095" y="5200650"/>
            <a:ext cx="4495028" cy="718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5"/>
              </a:lnSpc>
              <a:spcBef>
                <a:spcPct val="0"/>
              </a:spcBef>
            </a:pP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Kombinovati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RUN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komande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tako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da se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dobije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manji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broj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layera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u image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07345" y="6624336"/>
            <a:ext cx="4495028" cy="718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5"/>
              </a:lnSpc>
              <a:spcBef>
                <a:spcPct val="0"/>
              </a:spcBef>
            </a:pP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dockerignore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da se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izbegnu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nepotrebni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fajlovi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u image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45595" y="8048022"/>
            <a:ext cx="4495028" cy="109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5"/>
              </a:lnSpc>
              <a:spcBef>
                <a:spcPct val="0"/>
              </a:spcBef>
            </a:pP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koristiti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cache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pametno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kopirati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dependency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fajlove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pre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ostatka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53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koda</a:t>
            </a:r>
            <a:r>
              <a:rPr lang="en-US" sz="2053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-3086100" y="9258300"/>
            <a:ext cx="4114800" cy="411480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A4A6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0">
            <a:extLst>
              <a:ext uri="{FF2B5EF4-FFF2-40B4-BE49-F238E27FC236}">
                <a16:creationId xmlns:a16="http://schemas.microsoft.com/office/drawing/2014/main" id="{9EFFE74B-63EB-943E-DC16-3AC9B1102334}"/>
              </a:ext>
            </a:extLst>
          </p:cNvPr>
          <p:cNvSpPr txBox="1"/>
          <p:nvPr/>
        </p:nvSpPr>
        <p:spPr>
          <a:xfrm>
            <a:off x="14408319" y="5115682"/>
            <a:ext cx="2141938" cy="731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875"/>
              </a:lnSpc>
              <a:spcBef>
                <a:spcPct val="0"/>
              </a:spcBef>
            </a:pPr>
            <a:r>
              <a:rPr lang="en-US" sz="1600" dirty="0"/>
              <a:t>RUN apt update</a:t>
            </a:r>
            <a:br>
              <a:rPr lang="en-US" sz="1600" dirty="0"/>
            </a:br>
            <a:r>
              <a:rPr lang="en-US" sz="1600" dirty="0"/>
              <a:t>RUN apt install -y nginx</a:t>
            </a:r>
            <a:endParaRPr lang="en-US" sz="1600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TextBox 30">
            <a:extLst>
              <a:ext uri="{FF2B5EF4-FFF2-40B4-BE49-F238E27FC236}">
                <a16:creationId xmlns:a16="http://schemas.microsoft.com/office/drawing/2014/main" id="{545E3793-F840-AFB0-B84A-5D29DCE400AF}"/>
              </a:ext>
            </a:extLst>
          </p:cNvPr>
          <p:cNvSpPr txBox="1"/>
          <p:nvPr/>
        </p:nvSpPr>
        <p:spPr>
          <a:xfrm>
            <a:off x="14435799" y="5953652"/>
            <a:ext cx="3404137" cy="332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875"/>
              </a:lnSpc>
              <a:spcBef>
                <a:spcPct val="0"/>
              </a:spcBef>
            </a:pPr>
            <a:r>
              <a:rPr lang="en-US" sz="1600" dirty="0"/>
              <a:t>RUN apt update &amp;&amp; apt install -y nginx</a:t>
            </a:r>
            <a:endParaRPr lang="en-US" sz="1600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4C860C-DBE4-6C35-E017-934632FA4A5D}"/>
              </a:ext>
            </a:extLst>
          </p:cNvPr>
          <p:cNvCxnSpPr/>
          <p:nvPr/>
        </p:nvCxnSpPr>
        <p:spPr>
          <a:xfrm flipV="1">
            <a:off x="13563600" y="5481519"/>
            <a:ext cx="844719" cy="1223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CE9AC31-F531-F984-0A86-620CB1863050}"/>
              </a:ext>
            </a:extLst>
          </p:cNvPr>
          <p:cNvCxnSpPr>
            <a:endCxn id="37" idx="1"/>
          </p:cNvCxnSpPr>
          <p:nvPr/>
        </p:nvCxnSpPr>
        <p:spPr>
          <a:xfrm>
            <a:off x="13564123" y="5603881"/>
            <a:ext cx="871676" cy="516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7329-6CA9-2403-C302-8CC6EB6B4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274698-22F9-1EBE-16D9-75E0E1380E4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C7E2558-78A1-D848-2646-0FD44127E578}"/>
              </a:ext>
            </a:extLst>
          </p:cNvPr>
          <p:cNvGrpSpPr/>
          <p:nvPr/>
        </p:nvGrpSpPr>
        <p:grpSpPr>
          <a:xfrm rot="6490287">
            <a:off x="-2269166" y="6731607"/>
            <a:ext cx="5316260" cy="4651728"/>
            <a:chOff x="0" y="0"/>
            <a:chExt cx="812800" cy="7112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EF82075-4F9F-3952-8452-7B43711BA04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100E367-4A39-227F-8B01-D6F751F33F7C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ED06EEC-B2B8-E06E-C0CC-A87B9D985F0D}"/>
              </a:ext>
            </a:extLst>
          </p:cNvPr>
          <p:cNvGrpSpPr/>
          <p:nvPr/>
        </p:nvGrpSpPr>
        <p:grpSpPr>
          <a:xfrm rot="3586984">
            <a:off x="16566099" y="-649873"/>
            <a:ext cx="5316260" cy="4651728"/>
            <a:chOff x="0" y="0"/>
            <a:chExt cx="812800" cy="7112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BA84211-5162-2A8D-FB03-A1E9F0EC777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D99D1BA-5020-58ED-2F8D-79A637C8B8E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F665FEF-559C-3F96-D7E2-98AD8B2775A8}"/>
              </a:ext>
            </a:extLst>
          </p:cNvPr>
          <p:cNvGrpSpPr/>
          <p:nvPr/>
        </p:nvGrpSpPr>
        <p:grpSpPr>
          <a:xfrm>
            <a:off x="-7247241" y="9637771"/>
            <a:ext cx="13716000" cy="10287000"/>
            <a:chOff x="0" y="0"/>
            <a:chExt cx="812800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9A542E3-B802-6CDE-79FA-BEE00F7F8F17}"/>
                </a:ext>
              </a:extLst>
            </p:cNvPr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9CE95CC-5E76-96C5-8621-8A6D410631E2}"/>
                </a:ext>
              </a:extLst>
            </p:cNvPr>
            <p:cNvSpPr txBox="1"/>
            <p:nvPr/>
          </p:nvSpPr>
          <p:spPr>
            <a:xfrm>
              <a:off x="101600" y="-47625"/>
              <a:ext cx="60960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E12A3F4-D916-4962-3EF1-BCA398F1A19C}"/>
              </a:ext>
            </a:extLst>
          </p:cNvPr>
          <p:cNvGrpSpPr/>
          <p:nvPr/>
        </p:nvGrpSpPr>
        <p:grpSpPr>
          <a:xfrm>
            <a:off x="12126940" y="-9576751"/>
            <a:ext cx="11005377" cy="10287000"/>
            <a:chOff x="0" y="0"/>
            <a:chExt cx="652170" cy="6096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58023FF-E2EC-F628-7D5D-7F90A23F9539}"/>
                </a:ext>
              </a:extLst>
            </p:cNvPr>
            <p:cNvSpPr/>
            <p:nvPr/>
          </p:nvSpPr>
          <p:spPr>
            <a:xfrm>
              <a:off x="0" y="0"/>
              <a:ext cx="652170" cy="609600"/>
            </a:xfrm>
            <a:custGeom>
              <a:avLst/>
              <a:gdLst/>
              <a:ahLst/>
              <a:cxnLst/>
              <a:rect l="l" t="t" r="r" b="b"/>
              <a:pathLst>
                <a:path w="652170" h="609600">
                  <a:moveTo>
                    <a:pt x="203200" y="0"/>
                  </a:moveTo>
                  <a:lnTo>
                    <a:pt x="652170" y="0"/>
                  </a:lnTo>
                  <a:lnTo>
                    <a:pt x="44897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F90BAAD6-8C6B-14ED-9530-4B510388CA97}"/>
                </a:ext>
              </a:extLst>
            </p:cNvPr>
            <p:cNvSpPr txBox="1"/>
            <p:nvPr/>
          </p:nvSpPr>
          <p:spPr>
            <a:xfrm>
              <a:off x="101600" y="-47625"/>
              <a:ext cx="44897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88E1C2A9-B8F0-7D55-A4A1-E7BFB31D5625}"/>
              </a:ext>
            </a:extLst>
          </p:cNvPr>
          <p:cNvSpPr/>
          <p:nvPr/>
        </p:nvSpPr>
        <p:spPr>
          <a:xfrm>
            <a:off x="-389241" y="-709061"/>
            <a:ext cx="2316960" cy="2316960"/>
          </a:xfrm>
          <a:custGeom>
            <a:avLst/>
            <a:gdLst/>
            <a:ahLst/>
            <a:cxnLst/>
            <a:rect l="l" t="t" r="r" b="b"/>
            <a:pathLst>
              <a:path w="2316960" h="2316960">
                <a:moveTo>
                  <a:pt x="0" y="0"/>
                </a:moveTo>
                <a:lnTo>
                  <a:pt x="2316960" y="0"/>
                </a:lnTo>
                <a:lnTo>
                  <a:pt x="2316960" y="2316960"/>
                </a:lnTo>
                <a:lnTo>
                  <a:pt x="0" y="2316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081B781A-D58F-7470-E4FC-84271E175BB9}"/>
              </a:ext>
            </a:extLst>
          </p:cNvPr>
          <p:cNvSpPr/>
          <p:nvPr/>
        </p:nvSpPr>
        <p:spPr>
          <a:xfrm>
            <a:off x="16702078" y="9057471"/>
            <a:ext cx="2769429" cy="2364400"/>
          </a:xfrm>
          <a:custGeom>
            <a:avLst/>
            <a:gdLst/>
            <a:ahLst/>
            <a:cxnLst/>
            <a:rect l="l" t="t" r="r" b="b"/>
            <a:pathLst>
              <a:path w="2769429" h="2364400">
                <a:moveTo>
                  <a:pt x="0" y="0"/>
                </a:moveTo>
                <a:lnTo>
                  <a:pt x="2769429" y="0"/>
                </a:lnTo>
                <a:lnTo>
                  <a:pt x="2769429" y="2364400"/>
                </a:lnTo>
                <a:lnTo>
                  <a:pt x="0" y="236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B060B86-C138-DBC2-DE5C-DDD3CEAD35BE}"/>
              </a:ext>
            </a:extLst>
          </p:cNvPr>
          <p:cNvSpPr txBox="1"/>
          <p:nvPr/>
        </p:nvSpPr>
        <p:spPr>
          <a:xfrm>
            <a:off x="4375890" y="1568954"/>
            <a:ext cx="9578637" cy="78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5"/>
              </a:lnSpc>
            </a:pPr>
            <a:r>
              <a:rPr lang="en-US" sz="5396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DOCKERFILE – hand’s 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E44E10-9317-92D5-29F9-ACA87A4710F8}"/>
              </a:ext>
            </a:extLst>
          </p:cNvPr>
          <p:cNvSpPr txBox="1"/>
          <p:nvPr/>
        </p:nvSpPr>
        <p:spPr>
          <a:xfrm>
            <a:off x="4710947" y="3179005"/>
            <a:ext cx="8910051" cy="833626"/>
          </a:xfrm>
          <a:prstGeom prst="rect">
            <a:avLst/>
          </a:prstGeom>
          <a:solidFill>
            <a:srgbClr val="222733"/>
          </a:solidFill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  <a:latin typeface="PT Sans" panose="020B0503020203020204" pitchFamily="34" charset="77"/>
              </a:rPr>
              <a:t>https://</a:t>
            </a:r>
            <a:r>
              <a:rPr lang="en-US" sz="3600" dirty="0" err="1">
                <a:solidFill>
                  <a:schemeClr val="bg1"/>
                </a:solidFill>
                <a:latin typeface="PT Sans" panose="020B0503020203020204" pitchFamily="34" charset="77"/>
              </a:rPr>
              <a:t>docs.docker.com</a:t>
            </a:r>
            <a:r>
              <a:rPr lang="en-US" sz="3600" dirty="0">
                <a:solidFill>
                  <a:schemeClr val="bg1"/>
                </a:solidFill>
                <a:latin typeface="PT Sans" panose="020B0503020203020204" pitchFamily="34" charset="77"/>
              </a:rPr>
              <a:t>/guides</a:t>
            </a:r>
            <a:endParaRPr lang="en-US" sz="3600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9B5572-B8BB-DED4-D4A8-ADEC8BF36C2F}"/>
              </a:ext>
            </a:extLst>
          </p:cNvPr>
          <p:cNvSpPr txBox="1"/>
          <p:nvPr/>
        </p:nvSpPr>
        <p:spPr>
          <a:xfrm>
            <a:off x="4710946" y="4232286"/>
            <a:ext cx="8910051" cy="2250488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Potrebno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-   VS Code (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ekstenzije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: Docker, YAML)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Desktop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GIT Bash (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https://git-scm.com/download/win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541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BEF67-0C2E-3B05-3E4C-70FD6E97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3D6341-523E-AAB1-FF13-45E6D7798C1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276B15A-989D-940E-9E88-156B8B1A5571}"/>
              </a:ext>
            </a:extLst>
          </p:cNvPr>
          <p:cNvGrpSpPr/>
          <p:nvPr/>
        </p:nvGrpSpPr>
        <p:grpSpPr>
          <a:xfrm rot="6490287">
            <a:off x="-2269166" y="6731607"/>
            <a:ext cx="5316260" cy="4651728"/>
            <a:chOff x="0" y="0"/>
            <a:chExt cx="812800" cy="7112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BFFE444-5818-8502-EEC1-14F5B517C8B9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7F4D987-0AC0-5C7D-DC7E-716ACD0B157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A625F7F-1C85-FD72-80C0-612ED529E973}"/>
              </a:ext>
            </a:extLst>
          </p:cNvPr>
          <p:cNvGrpSpPr/>
          <p:nvPr/>
        </p:nvGrpSpPr>
        <p:grpSpPr>
          <a:xfrm rot="3586984">
            <a:off x="16566099" y="-649873"/>
            <a:ext cx="5316260" cy="4651728"/>
            <a:chOff x="0" y="0"/>
            <a:chExt cx="812800" cy="7112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E2C6FBD-C4D1-7470-121C-758D3B78C6C3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0FAE837-9888-861D-2830-9E0228FADBD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DB859E0-DFFD-A291-539D-71F734CD92C5}"/>
              </a:ext>
            </a:extLst>
          </p:cNvPr>
          <p:cNvGrpSpPr/>
          <p:nvPr/>
        </p:nvGrpSpPr>
        <p:grpSpPr>
          <a:xfrm>
            <a:off x="-7247241" y="9637771"/>
            <a:ext cx="13716000" cy="10287000"/>
            <a:chOff x="0" y="0"/>
            <a:chExt cx="812800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A524EBE-B63C-2D46-3561-0ACB5AAB6EEB}"/>
                </a:ext>
              </a:extLst>
            </p:cNvPr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B197457-E812-BC43-52F2-08A9F78222D0}"/>
                </a:ext>
              </a:extLst>
            </p:cNvPr>
            <p:cNvSpPr txBox="1"/>
            <p:nvPr/>
          </p:nvSpPr>
          <p:spPr>
            <a:xfrm>
              <a:off x="101600" y="-47625"/>
              <a:ext cx="60960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49B2040-1DD4-F716-783D-1826E3BD4A4D}"/>
              </a:ext>
            </a:extLst>
          </p:cNvPr>
          <p:cNvGrpSpPr/>
          <p:nvPr/>
        </p:nvGrpSpPr>
        <p:grpSpPr>
          <a:xfrm>
            <a:off x="12126940" y="-9576751"/>
            <a:ext cx="11005377" cy="10287000"/>
            <a:chOff x="0" y="0"/>
            <a:chExt cx="652170" cy="6096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484CCBD-CF49-319D-EA9F-3C433626FBFF}"/>
                </a:ext>
              </a:extLst>
            </p:cNvPr>
            <p:cNvSpPr/>
            <p:nvPr/>
          </p:nvSpPr>
          <p:spPr>
            <a:xfrm>
              <a:off x="0" y="0"/>
              <a:ext cx="652170" cy="609600"/>
            </a:xfrm>
            <a:custGeom>
              <a:avLst/>
              <a:gdLst/>
              <a:ahLst/>
              <a:cxnLst/>
              <a:rect l="l" t="t" r="r" b="b"/>
              <a:pathLst>
                <a:path w="652170" h="609600">
                  <a:moveTo>
                    <a:pt x="203200" y="0"/>
                  </a:moveTo>
                  <a:lnTo>
                    <a:pt x="652170" y="0"/>
                  </a:lnTo>
                  <a:lnTo>
                    <a:pt x="44897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19E8FCA-34A7-EA2A-7EEB-69671D9E6D3E}"/>
                </a:ext>
              </a:extLst>
            </p:cNvPr>
            <p:cNvSpPr txBox="1"/>
            <p:nvPr/>
          </p:nvSpPr>
          <p:spPr>
            <a:xfrm>
              <a:off x="101600" y="-47625"/>
              <a:ext cx="44897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2427A47B-BFEB-81F1-A736-57F39263E739}"/>
              </a:ext>
            </a:extLst>
          </p:cNvPr>
          <p:cNvSpPr/>
          <p:nvPr/>
        </p:nvSpPr>
        <p:spPr>
          <a:xfrm>
            <a:off x="-389241" y="-709061"/>
            <a:ext cx="2316960" cy="2316960"/>
          </a:xfrm>
          <a:custGeom>
            <a:avLst/>
            <a:gdLst/>
            <a:ahLst/>
            <a:cxnLst/>
            <a:rect l="l" t="t" r="r" b="b"/>
            <a:pathLst>
              <a:path w="2316960" h="2316960">
                <a:moveTo>
                  <a:pt x="0" y="0"/>
                </a:moveTo>
                <a:lnTo>
                  <a:pt x="2316960" y="0"/>
                </a:lnTo>
                <a:lnTo>
                  <a:pt x="2316960" y="2316960"/>
                </a:lnTo>
                <a:lnTo>
                  <a:pt x="0" y="2316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9F8DB2FE-D0C9-7D6A-D87C-F7646FCD0357}"/>
              </a:ext>
            </a:extLst>
          </p:cNvPr>
          <p:cNvSpPr/>
          <p:nvPr/>
        </p:nvSpPr>
        <p:spPr>
          <a:xfrm>
            <a:off x="16702078" y="9057471"/>
            <a:ext cx="2769429" cy="2364400"/>
          </a:xfrm>
          <a:custGeom>
            <a:avLst/>
            <a:gdLst/>
            <a:ahLst/>
            <a:cxnLst/>
            <a:rect l="l" t="t" r="r" b="b"/>
            <a:pathLst>
              <a:path w="2769429" h="2364400">
                <a:moveTo>
                  <a:pt x="0" y="0"/>
                </a:moveTo>
                <a:lnTo>
                  <a:pt x="2769429" y="0"/>
                </a:lnTo>
                <a:lnTo>
                  <a:pt x="2769429" y="2364400"/>
                </a:lnTo>
                <a:lnTo>
                  <a:pt x="0" y="236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B8D2449-F435-FF88-ECBD-B04EC3891D10}"/>
              </a:ext>
            </a:extLst>
          </p:cNvPr>
          <p:cNvSpPr txBox="1"/>
          <p:nvPr/>
        </p:nvSpPr>
        <p:spPr>
          <a:xfrm>
            <a:off x="4375890" y="1568954"/>
            <a:ext cx="9578637" cy="78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5"/>
              </a:lnSpc>
            </a:pPr>
            <a:r>
              <a:rPr lang="en-US" sz="5396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DOCKER – hand’s 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0143C-ECE3-94E9-6A77-905B9E3B6237}"/>
              </a:ext>
            </a:extLst>
          </p:cNvPr>
          <p:cNvSpPr txBox="1"/>
          <p:nvPr/>
        </p:nvSpPr>
        <p:spPr>
          <a:xfrm>
            <a:off x="831521" y="2613565"/>
            <a:ext cx="10629143" cy="7791044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git clone </a:t>
            </a:r>
            <a:r>
              <a:rPr lang="en-US" sz="2400" dirty="0">
                <a:solidFill>
                  <a:schemeClr val="bg1"/>
                </a:solidFill>
              </a:rPr>
              <a:t>https://</a:t>
            </a:r>
            <a:r>
              <a:rPr lang="en-US" sz="2400" dirty="0" err="1">
                <a:solidFill>
                  <a:schemeClr val="bg1"/>
                </a:solidFill>
              </a:rPr>
              <a:t>github.com</a:t>
            </a:r>
            <a:r>
              <a:rPr lang="en-US" sz="2400" dirty="0">
                <a:solidFill>
                  <a:schemeClr val="bg1"/>
                </a:solidFill>
              </a:rPr>
              <a:t>/</a:t>
            </a:r>
            <a:r>
              <a:rPr lang="en-US" sz="2400" dirty="0" err="1">
                <a:solidFill>
                  <a:schemeClr val="bg1"/>
                </a:solidFill>
              </a:rPr>
              <a:t>vladagasevic</a:t>
            </a:r>
            <a:r>
              <a:rPr lang="en-US" sz="2400" dirty="0">
                <a:solidFill>
                  <a:schemeClr val="bg1"/>
                </a:solidFill>
              </a:rPr>
              <a:t>/LeniTECH.K8s.Training.git</a:t>
            </a:r>
            <a:endParaRPr lang="en-US" sz="2400" dirty="0">
              <a:solidFill>
                <a:schemeClr val="bg1"/>
              </a:solidFill>
              <a:latin typeface="PT Sans" panose="020B0503020203020204" pitchFamily="34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build -t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ime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-image 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run -d -p 5001:5000 --name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ime-kontejnera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ime-imagea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ps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-a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start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ime-kontejnera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/ docker stop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ime-kontejnera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logs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ime-kontejnera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logs -f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ime-kontejnera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(live)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logs -f --tail 50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ime-kontejnera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exec -it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ime-kontejnera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sh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(bash)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stop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ime-kontejnera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rm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ime-kontejnera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image 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rmi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ime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-image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docker volume rm docker-</a:t>
            </a:r>
            <a:r>
              <a:rPr lang="en-US" sz="2400" dirty="0" err="1">
                <a:solidFill>
                  <a:schemeClr val="bg1"/>
                </a:solidFill>
              </a:rPr>
              <a:t>php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en-US" sz="2400" dirty="0" err="1">
                <a:solidFill>
                  <a:schemeClr val="bg1"/>
                </a:solidFill>
              </a:rPr>
              <a:t>sample_db</a:t>
            </a:r>
            <a:r>
              <a:rPr lang="en-US" sz="2400" dirty="0">
                <a:solidFill>
                  <a:schemeClr val="bg1"/>
                </a:solidFill>
              </a:rPr>
              <a:t>-data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1C7DC5-BD18-4236-5287-84B9BF47065C}"/>
              </a:ext>
            </a:extLst>
          </p:cNvPr>
          <p:cNvSpPr txBox="1"/>
          <p:nvPr/>
        </p:nvSpPr>
        <p:spPr>
          <a:xfrm>
            <a:off x="11813251" y="2613565"/>
            <a:ext cx="5712749" cy="2248501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docker system prune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docker volume prune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docker image prune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pazljivo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: docker system prune -a</a:t>
            </a:r>
          </a:p>
        </p:txBody>
      </p:sp>
    </p:spTree>
    <p:extLst>
      <p:ext uri="{BB962C8B-B14F-4D97-AF65-F5344CB8AC3E}">
        <p14:creationId xmlns:p14="http://schemas.microsoft.com/office/powerpoint/2010/main" val="2351437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80E37-2B92-BA34-C7F9-441A946AA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742A08-2B16-041D-2AB4-FBB487405AD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5B5B9CC-31FC-AC92-C1BB-960A30BDEC3D}"/>
              </a:ext>
            </a:extLst>
          </p:cNvPr>
          <p:cNvGrpSpPr/>
          <p:nvPr/>
        </p:nvGrpSpPr>
        <p:grpSpPr>
          <a:xfrm rot="6490287">
            <a:off x="-2269166" y="6731607"/>
            <a:ext cx="5316260" cy="4651728"/>
            <a:chOff x="0" y="0"/>
            <a:chExt cx="812800" cy="7112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99CE2A8-4280-56BE-DA63-B8CC5DE86828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003C8BD-5596-1DCE-C60B-5227E677FD0C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9DB55D0-2707-3086-C36C-E3F0408CBFA4}"/>
              </a:ext>
            </a:extLst>
          </p:cNvPr>
          <p:cNvGrpSpPr/>
          <p:nvPr/>
        </p:nvGrpSpPr>
        <p:grpSpPr>
          <a:xfrm rot="3586984">
            <a:off x="16566099" y="-649873"/>
            <a:ext cx="5316260" cy="4651728"/>
            <a:chOff x="0" y="0"/>
            <a:chExt cx="812800" cy="7112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E4BD23F-D549-89F4-37E7-6B18D55A652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9873632-9FB9-BACF-2269-DD62F54922E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32892A0-D66F-3E33-D18F-B4FDB7A10868}"/>
              </a:ext>
            </a:extLst>
          </p:cNvPr>
          <p:cNvGrpSpPr/>
          <p:nvPr/>
        </p:nvGrpSpPr>
        <p:grpSpPr>
          <a:xfrm>
            <a:off x="-7247241" y="9637771"/>
            <a:ext cx="13716000" cy="10287000"/>
            <a:chOff x="0" y="0"/>
            <a:chExt cx="812800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588BB36-6D06-0C9D-871A-AB0F2BB07EC0}"/>
                </a:ext>
              </a:extLst>
            </p:cNvPr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3281630-E510-0BA0-9C7F-EB04DDA784F5}"/>
                </a:ext>
              </a:extLst>
            </p:cNvPr>
            <p:cNvSpPr txBox="1"/>
            <p:nvPr/>
          </p:nvSpPr>
          <p:spPr>
            <a:xfrm>
              <a:off x="101600" y="-47625"/>
              <a:ext cx="60960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1094FFC-6978-8CF8-25CE-F42039AF3AF8}"/>
              </a:ext>
            </a:extLst>
          </p:cNvPr>
          <p:cNvGrpSpPr/>
          <p:nvPr/>
        </p:nvGrpSpPr>
        <p:grpSpPr>
          <a:xfrm>
            <a:off x="12126940" y="-9576751"/>
            <a:ext cx="11005377" cy="10287000"/>
            <a:chOff x="0" y="0"/>
            <a:chExt cx="652170" cy="6096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47C8CAA-039C-50BF-A5B3-2775EE4ADF08}"/>
                </a:ext>
              </a:extLst>
            </p:cNvPr>
            <p:cNvSpPr/>
            <p:nvPr/>
          </p:nvSpPr>
          <p:spPr>
            <a:xfrm>
              <a:off x="0" y="0"/>
              <a:ext cx="652170" cy="609600"/>
            </a:xfrm>
            <a:custGeom>
              <a:avLst/>
              <a:gdLst/>
              <a:ahLst/>
              <a:cxnLst/>
              <a:rect l="l" t="t" r="r" b="b"/>
              <a:pathLst>
                <a:path w="652170" h="609600">
                  <a:moveTo>
                    <a:pt x="203200" y="0"/>
                  </a:moveTo>
                  <a:lnTo>
                    <a:pt x="652170" y="0"/>
                  </a:lnTo>
                  <a:lnTo>
                    <a:pt x="44897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B2F50F22-3050-0222-832F-F81854B38AEF}"/>
                </a:ext>
              </a:extLst>
            </p:cNvPr>
            <p:cNvSpPr txBox="1"/>
            <p:nvPr/>
          </p:nvSpPr>
          <p:spPr>
            <a:xfrm>
              <a:off x="101600" y="-47625"/>
              <a:ext cx="44897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B59F945F-1033-1639-5415-B446F7FDCA95}"/>
              </a:ext>
            </a:extLst>
          </p:cNvPr>
          <p:cNvSpPr/>
          <p:nvPr/>
        </p:nvSpPr>
        <p:spPr>
          <a:xfrm>
            <a:off x="-389241" y="-709061"/>
            <a:ext cx="2316960" cy="2316960"/>
          </a:xfrm>
          <a:custGeom>
            <a:avLst/>
            <a:gdLst/>
            <a:ahLst/>
            <a:cxnLst/>
            <a:rect l="l" t="t" r="r" b="b"/>
            <a:pathLst>
              <a:path w="2316960" h="2316960">
                <a:moveTo>
                  <a:pt x="0" y="0"/>
                </a:moveTo>
                <a:lnTo>
                  <a:pt x="2316960" y="0"/>
                </a:lnTo>
                <a:lnTo>
                  <a:pt x="2316960" y="2316960"/>
                </a:lnTo>
                <a:lnTo>
                  <a:pt x="0" y="2316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AF06B85E-3FC4-26AA-FB87-6BA17D0E79DD}"/>
              </a:ext>
            </a:extLst>
          </p:cNvPr>
          <p:cNvSpPr/>
          <p:nvPr/>
        </p:nvSpPr>
        <p:spPr>
          <a:xfrm>
            <a:off x="16702078" y="9057471"/>
            <a:ext cx="2769429" cy="2364400"/>
          </a:xfrm>
          <a:custGeom>
            <a:avLst/>
            <a:gdLst/>
            <a:ahLst/>
            <a:cxnLst/>
            <a:rect l="l" t="t" r="r" b="b"/>
            <a:pathLst>
              <a:path w="2769429" h="2364400">
                <a:moveTo>
                  <a:pt x="0" y="0"/>
                </a:moveTo>
                <a:lnTo>
                  <a:pt x="2769429" y="0"/>
                </a:lnTo>
                <a:lnTo>
                  <a:pt x="2769429" y="2364400"/>
                </a:lnTo>
                <a:lnTo>
                  <a:pt x="0" y="236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BE7B5E3-6C3B-3921-3C94-84512ECF1E79}"/>
              </a:ext>
            </a:extLst>
          </p:cNvPr>
          <p:cNvSpPr txBox="1"/>
          <p:nvPr/>
        </p:nvSpPr>
        <p:spPr>
          <a:xfrm>
            <a:off x="4375890" y="1568954"/>
            <a:ext cx="9578637" cy="78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5"/>
              </a:lnSpc>
            </a:pPr>
            <a:r>
              <a:rPr lang="en-US" sz="5396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DOCKER – hand’s 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20D491-7FB2-73C6-3385-56B53C91C72B}"/>
              </a:ext>
            </a:extLst>
          </p:cNvPr>
          <p:cNvSpPr txBox="1"/>
          <p:nvPr/>
        </p:nvSpPr>
        <p:spPr>
          <a:xfrm>
            <a:off x="4572000" y="2549004"/>
            <a:ext cx="8910051" cy="3356496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git clone 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https://github.com/docker/docker-php-sample</a:t>
            </a:r>
            <a:endParaRPr lang="en-US" sz="2400" dirty="0">
              <a:solidFill>
                <a:schemeClr val="bg1"/>
              </a:solidFill>
              <a:latin typeface="PT Sans" panose="020B0503020203020204" pitchFamily="34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init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docker compose up --build (docker compose up --build -d)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http://localhost:9000/hello.php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http://localhost:9000/database.php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US" sz="32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docker compose down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8B70C7-CFE5-DE6D-AAA3-9242BDCB4AF2}"/>
              </a:ext>
            </a:extLst>
          </p:cNvPr>
          <p:cNvSpPr txBox="1"/>
          <p:nvPr/>
        </p:nvSpPr>
        <p:spPr>
          <a:xfrm>
            <a:off x="4572000" y="6774240"/>
            <a:ext cx="8910050" cy="1569660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? What application platform does your project use? </a:t>
            </a:r>
            <a:r>
              <a:rPr lang="en-US" sz="2400" dirty="0">
                <a:solidFill>
                  <a:srgbClr val="FFC000"/>
                </a:solidFill>
              </a:rPr>
              <a:t>PHP with Apache</a:t>
            </a:r>
          </a:p>
          <a:p>
            <a:r>
              <a:rPr lang="en-US" sz="2400" dirty="0">
                <a:solidFill>
                  <a:schemeClr val="bg1"/>
                </a:solidFill>
              </a:rPr>
              <a:t>? What version of PHP do you want to use? </a:t>
            </a:r>
            <a:r>
              <a:rPr lang="en-US" sz="2400" dirty="0">
                <a:solidFill>
                  <a:srgbClr val="FFC000"/>
                </a:solidFill>
              </a:rPr>
              <a:t>8.2</a:t>
            </a:r>
          </a:p>
          <a:p>
            <a:r>
              <a:rPr lang="en-US" sz="2400" dirty="0">
                <a:solidFill>
                  <a:schemeClr val="bg1"/>
                </a:solidFill>
              </a:rPr>
              <a:t>? What's the relative directory (with a leading .) for your app? </a:t>
            </a:r>
            <a:r>
              <a:rPr lang="en-US" sz="2400" dirty="0">
                <a:solidFill>
                  <a:srgbClr val="FFC000"/>
                </a:solidFill>
              </a:rPr>
              <a:t>./</a:t>
            </a:r>
            <a:r>
              <a:rPr lang="en-US" sz="2400" dirty="0" err="1">
                <a:solidFill>
                  <a:srgbClr val="FFC000"/>
                </a:solidFill>
              </a:rPr>
              <a:t>src</a:t>
            </a:r>
            <a:endParaRPr lang="en-US" sz="2400" dirty="0">
              <a:solidFill>
                <a:srgbClr val="FFC000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? What local port do you want to use to access your server? </a:t>
            </a:r>
            <a:r>
              <a:rPr lang="en-US" sz="2400" dirty="0">
                <a:solidFill>
                  <a:srgbClr val="FFC000"/>
                </a:solidFill>
              </a:rPr>
              <a:t>9000</a:t>
            </a:r>
          </a:p>
        </p:txBody>
      </p:sp>
    </p:spTree>
    <p:extLst>
      <p:ext uri="{BB962C8B-B14F-4D97-AF65-F5344CB8AC3E}">
        <p14:creationId xmlns:p14="http://schemas.microsoft.com/office/powerpoint/2010/main" val="143146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298E-92F4-6FD6-8891-E620A85E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9D6D29-0D3E-C5F9-F78F-2C403F0D513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B8C2D7A-3778-A331-CC99-A485D763AD64}"/>
              </a:ext>
            </a:extLst>
          </p:cNvPr>
          <p:cNvGrpSpPr/>
          <p:nvPr/>
        </p:nvGrpSpPr>
        <p:grpSpPr>
          <a:xfrm rot="6490287">
            <a:off x="-2269166" y="6731607"/>
            <a:ext cx="5316260" cy="4651728"/>
            <a:chOff x="0" y="0"/>
            <a:chExt cx="812800" cy="7112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5910BA5-5BC3-CC3C-B4A2-D320497D13A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B311107-3B4C-5CEC-C0B0-3FDC49887F2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DB6363C-4850-CB78-409C-27A7483B3B16}"/>
              </a:ext>
            </a:extLst>
          </p:cNvPr>
          <p:cNvGrpSpPr/>
          <p:nvPr/>
        </p:nvGrpSpPr>
        <p:grpSpPr>
          <a:xfrm rot="3586984">
            <a:off x="16566099" y="-649873"/>
            <a:ext cx="5316260" cy="4651728"/>
            <a:chOff x="0" y="0"/>
            <a:chExt cx="812800" cy="7112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992533A-8920-52B7-5F4E-7A551CCACD1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E43F1A5-DE9D-8F75-C404-03D1272E853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100725D-D25E-C932-5670-E94F21F92EA6}"/>
              </a:ext>
            </a:extLst>
          </p:cNvPr>
          <p:cNvGrpSpPr/>
          <p:nvPr/>
        </p:nvGrpSpPr>
        <p:grpSpPr>
          <a:xfrm>
            <a:off x="-7247241" y="9637771"/>
            <a:ext cx="13716000" cy="10287000"/>
            <a:chOff x="0" y="0"/>
            <a:chExt cx="812800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A1F5F94-0E82-F9F5-786B-8A332815007B}"/>
                </a:ext>
              </a:extLst>
            </p:cNvPr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279E494-D3FD-F9A9-1A08-5A207F0BFB52}"/>
                </a:ext>
              </a:extLst>
            </p:cNvPr>
            <p:cNvSpPr txBox="1"/>
            <p:nvPr/>
          </p:nvSpPr>
          <p:spPr>
            <a:xfrm>
              <a:off x="101600" y="-47625"/>
              <a:ext cx="60960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225E128-878B-0863-D05F-38168DEE88B3}"/>
              </a:ext>
            </a:extLst>
          </p:cNvPr>
          <p:cNvGrpSpPr/>
          <p:nvPr/>
        </p:nvGrpSpPr>
        <p:grpSpPr>
          <a:xfrm>
            <a:off x="12126940" y="-9576751"/>
            <a:ext cx="11005377" cy="10287000"/>
            <a:chOff x="0" y="0"/>
            <a:chExt cx="652170" cy="6096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D2B630A-77B5-0790-8C31-C9A64D9F90D1}"/>
                </a:ext>
              </a:extLst>
            </p:cNvPr>
            <p:cNvSpPr/>
            <p:nvPr/>
          </p:nvSpPr>
          <p:spPr>
            <a:xfrm>
              <a:off x="0" y="0"/>
              <a:ext cx="652170" cy="609600"/>
            </a:xfrm>
            <a:custGeom>
              <a:avLst/>
              <a:gdLst/>
              <a:ahLst/>
              <a:cxnLst/>
              <a:rect l="l" t="t" r="r" b="b"/>
              <a:pathLst>
                <a:path w="652170" h="609600">
                  <a:moveTo>
                    <a:pt x="203200" y="0"/>
                  </a:moveTo>
                  <a:lnTo>
                    <a:pt x="652170" y="0"/>
                  </a:lnTo>
                  <a:lnTo>
                    <a:pt x="44897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BDE0CB41-CF42-C108-830B-4737A2EB798A}"/>
                </a:ext>
              </a:extLst>
            </p:cNvPr>
            <p:cNvSpPr txBox="1"/>
            <p:nvPr/>
          </p:nvSpPr>
          <p:spPr>
            <a:xfrm>
              <a:off x="101600" y="-47625"/>
              <a:ext cx="44897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E9C2287C-6773-972D-EA92-EF627DC8A5DF}"/>
              </a:ext>
            </a:extLst>
          </p:cNvPr>
          <p:cNvSpPr/>
          <p:nvPr/>
        </p:nvSpPr>
        <p:spPr>
          <a:xfrm>
            <a:off x="-389241" y="-709061"/>
            <a:ext cx="2316960" cy="2316960"/>
          </a:xfrm>
          <a:custGeom>
            <a:avLst/>
            <a:gdLst/>
            <a:ahLst/>
            <a:cxnLst/>
            <a:rect l="l" t="t" r="r" b="b"/>
            <a:pathLst>
              <a:path w="2316960" h="2316960">
                <a:moveTo>
                  <a:pt x="0" y="0"/>
                </a:moveTo>
                <a:lnTo>
                  <a:pt x="2316960" y="0"/>
                </a:lnTo>
                <a:lnTo>
                  <a:pt x="2316960" y="2316960"/>
                </a:lnTo>
                <a:lnTo>
                  <a:pt x="0" y="2316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BE2F058D-57E8-263F-A31D-1BE301E81FD7}"/>
              </a:ext>
            </a:extLst>
          </p:cNvPr>
          <p:cNvSpPr/>
          <p:nvPr/>
        </p:nvSpPr>
        <p:spPr>
          <a:xfrm>
            <a:off x="16702078" y="9057471"/>
            <a:ext cx="2769429" cy="2364400"/>
          </a:xfrm>
          <a:custGeom>
            <a:avLst/>
            <a:gdLst/>
            <a:ahLst/>
            <a:cxnLst/>
            <a:rect l="l" t="t" r="r" b="b"/>
            <a:pathLst>
              <a:path w="2769429" h="2364400">
                <a:moveTo>
                  <a:pt x="0" y="0"/>
                </a:moveTo>
                <a:lnTo>
                  <a:pt x="2769429" y="0"/>
                </a:lnTo>
                <a:lnTo>
                  <a:pt x="2769429" y="2364400"/>
                </a:lnTo>
                <a:lnTo>
                  <a:pt x="0" y="236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5325D73-C16E-33C2-F361-139B27C3DC65}"/>
              </a:ext>
            </a:extLst>
          </p:cNvPr>
          <p:cNvSpPr txBox="1"/>
          <p:nvPr/>
        </p:nvSpPr>
        <p:spPr>
          <a:xfrm>
            <a:off x="4375890" y="1568954"/>
            <a:ext cx="9578637" cy="78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5"/>
              </a:lnSpc>
            </a:pPr>
            <a:r>
              <a:rPr lang="en-US" sz="5396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DOCKERFILE – docker </a:t>
            </a:r>
            <a:r>
              <a:rPr lang="en-US" sz="5396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init</a:t>
            </a:r>
            <a:endParaRPr lang="en-US" sz="5396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C8250-0C6A-CFC5-D2C7-B79EF2B5F0D5}"/>
              </a:ext>
            </a:extLst>
          </p:cNvPr>
          <p:cNvSpPr txBox="1"/>
          <p:nvPr/>
        </p:nvSpPr>
        <p:spPr>
          <a:xfrm>
            <a:off x="533400" y="3054771"/>
            <a:ext cx="4220859" cy="3356496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</a:rPr>
              <a:t>Docker Desktop -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</a:rPr>
              <a:t>pokrenut</a:t>
            </a:r>
            <a:endParaRPr lang="en-US" sz="2400" dirty="0">
              <a:solidFill>
                <a:schemeClr val="bg1"/>
              </a:solidFill>
              <a:latin typeface="PT Sans" panose="020B0503020203020204" pitchFamily="34" charset="77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Prepoznaje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projekat</a:t>
            </a:r>
            <a:endParaRPr lang="en-US" sz="2400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Generiše</a:t>
            </a: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(“generic”):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Dockerfile</a:t>
            </a:r>
            <a:endParaRPr lang="en-US" sz="2400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dockerignore</a:t>
            </a:r>
            <a:endParaRPr lang="en-US" sz="2400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compose.yaml</a:t>
            </a:r>
            <a:endParaRPr lang="en-US" sz="2400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6354093-C69E-949A-6847-CFA47D6D92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779" y="3006142"/>
            <a:ext cx="12228568" cy="597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1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42CBD-B7D1-705F-0B88-B3CADCF9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0C099D8-937D-8957-3CAA-DD1DEBD59405}"/>
              </a:ext>
            </a:extLst>
          </p:cNvPr>
          <p:cNvGrpSpPr/>
          <p:nvPr/>
        </p:nvGrpSpPr>
        <p:grpSpPr>
          <a:xfrm rot="-5400000">
            <a:off x="13957559" y="5412321"/>
            <a:ext cx="5316260" cy="4651728"/>
            <a:chOff x="0" y="0"/>
            <a:chExt cx="812800" cy="7112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ACCF3E-37FF-91EE-C512-FA018DC7ADE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32B40AA-3358-AB0D-AAEF-F9F240B0CB1B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CF91686-58D7-CA3B-074D-1D46296167C0}"/>
              </a:ext>
            </a:extLst>
          </p:cNvPr>
          <p:cNvGrpSpPr/>
          <p:nvPr/>
        </p:nvGrpSpPr>
        <p:grpSpPr>
          <a:xfrm>
            <a:off x="9753343" y="-2755190"/>
            <a:ext cx="9072964" cy="10493375"/>
            <a:chOff x="0" y="0"/>
            <a:chExt cx="704974" cy="8153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5BBE898-A9F7-2703-A2B9-172D700AF85E}"/>
                </a:ext>
              </a:extLst>
            </p:cNvPr>
            <p:cNvSpPr/>
            <p:nvPr/>
          </p:nvSpPr>
          <p:spPr>
            <a:xfrm>
              <a:off x="0" y="0"/>
              <a:ext cx="704974" cy="815341"/>
            </a:xfrm>
            <a:custGeom>
              <a:avLst/>
              <a:gdLst/>
              <a:ahLst/>
              <a:cxnLst/>
              <a:rect l="l" t="t" r="r" b="b"/>
              <a:pathLst>
                <a:path w="704974" h="815341">
                  <a:moveTo>
                    <a:pt x="352487" y="0"/>
                  </a:moveTo>
                  <a:lnTo>
                    <a:pt x="704974" y="203200"/>
                  </a:lnTo>
                  <a:lnTo>
                    <a:pt x="704974" y="612141"/>
                  </a:lnTo>
                  <a:lnTo>
                    <a:pt x="352487" y="815341"/>
                  </a:lnTo>
                  <a:lnTo>
                    <a:pt x="0" y="612141"/>
                  </a:lnTo>
                  <a:lnTo>
                    <a:pt x="0" y="203200"/>
                  </a:lnTo>
                  <a:lnTo>
                    <a:pt x="352487" y="0"/>
                  </a:lnTo>
                  <a:close/>
                </a:path>
              </a:pathLst>
            </a:custGeom>
            <a:blipFill>
              <a:blip r:embed="rId3"/>
              <a:stretch>
                <a:fillRect t="-3455" b="-34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F43EB486-1F29-1004-7DEB-7D187DE17CA9}"/>
              </a:ext>
            </a:extLst>
          </p:cNvPr>
          <p:cNvGrpSpPr/>
          <p:nvPr/>
        </p:nvGrpSpPr>
        <p:grpSpPr>
          <a:xfrm rot="-5400000">
            <a:off x="9481088" y="-887973"/>
            <a:ext cx="2019219" cy="1766817"/>
            <a:chOff x="0" y="0"/>
            <a:chExt cx="812800" cy="7112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DCAB5AE-6B74-8E86-01BD-2D620FA7B5E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EAD668B-D2FC-7EEB-7BF6-C08316DAF793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959DB8A-C65C-FAAA-6F5B-8C5742562350}"/>
              </a:ext>
            </a:extLst>
          </p:cNvPr>
          <p:cNvGrpSpPr/>
          <p:nvPr/>
        </p:nvGrpSpPr>
        <p:grpSpPr>
          <a:xfrm rot="-5400000">
            <a:off x="9564228" y="3819689"/>
            <a:ext cx="3025854" cy="2647622"/>
            <a:chOff x="0" y="0"/>
            <a:chExt cx="812800" cy="7112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0BB31DB-1C85-C4E4-74F3-A42079DC474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704101E-A0E1-D353-40FB-ADFC9867910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A7C569CB-5B5B-F372-3EB4-09A658E1F3FC}"/>
              </a:ext>
            </a:extLst>
          </p:cNvPr>
          <p:cNvGrpSpPr/>
          <p:nvPr/>
        </p:nvGrpSpPr>
        <p:grpSpPr>
          <a:xfrm rot="-5400000">
            <a:off x="11689634" y="93203"/>
            <a:ext cx="2735223" cy="2393320"/>
            <a:chOff x="0" y="0"/>
            <a:chExt cx="812800" cy="7112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077DC42-FE87-03CA-1B31-6A6AA68EE90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95544A1-E558-E7F7-FCAD-C6F8A2747FCC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59DA263-AFAE-0A23-DC3B-2201153B486B}"/>
              </a:ext>
            </a:extLst>
          </p:cNvPr>
          <p:cNvGrpSpPr/>
          <p:nvPr/>
        </p:nvGrpSpPr>
        <p:grpSpPr>
          <a:xfrm rot="5400000">
            <a:off x="9431875" y="388144"/>
            <a:ext cx="5143500" cy="4500562"/>
            <a:chOff x="0" y="0"/>
            <a:chExt cx="812800" cy="7112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9327A5A-3482-57A6-EC96-EFF07044539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E0D893A-EDAA-9268-6A97-1C38A6FC3FC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7F7DC6E-A009-4B87-C654-910AD34FCA7F}"/>
              </a:ext>
            </a:extLst>
          </p:cNvPr>
          <p:cNvGrpSpPr/>
          <p:nvPr/>
        </p:nvGrpSpPr>
        <p:grpSpPr>
          <a:xfrm>
            <a:off x="-612373" y="7122783"/>
            <a:ext cx="10137254" cy="1230804"/>
            <a:chOff x="0" y="0"/>
            <a:chExt cx="5020838" cy="6096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1B6352C-68B5-994A-B01E-870588B0548D}"/>
                </a:ext>
              </a:extLst>
            </p:cNvPr>
            <p:cNvSpPr/>
            <p:nvPr/>
          </p:nvSpPr>
          <p:spPr>
            <a:xfrm>
              <a:off x="0" y="0"/>
              <a:ext cx="5020838" cy="609600"/>
            </a:xfrm>
            <a:custGeom>
              <a:avLst/>
              <a:gdLst/>
              <a:ahLst/>
              <a:cxnLst/>
              <a:rect l="l" t="t" r="r" b="b"/>
              <a:pathLst>
                <a:path w="5020838" h="609600">
                  <a:moveTo>
                    <a:pt x="48176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020838" y="609600"/>
                  </a:lnTo>
                  <a:lnTo>
                    <a:pt x="4817638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56BE8BF-690B-E0EB-7D08-2D16545A3AA7}"/>
                </a:ext>
              </a:extLst>
            </p:cNvPr>
            <p:cNvSpPr txBox="1"/>
            <p:nvPr/>
          </p:nvSpPr>
          <p:spPr>
            <a:xfrm>
              <a:off x="101600" y="-47625"/>
              <a:ext cx="4817638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A38F54D-C10C-32A4-F002-F8414A4F096C}"/>
              </a:ext>
            </a:extLst>
          </p:cNvPr>
          <p:cNvGrpSpPr/>
          <p:nvPr/>
        </p:nvGrpSpPr>
        <p:grpSpPr>
          <a:xfrm rot="-1788000">
            <a:off x="-1585015" y="-2929811"/>
            <a:ext cx="4114800" cy="4114800"/>
            <a:chOff x="0" y="0"/>
            <a:chExt cx="812800" cy="812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E02CBB7-58F7-1969-CAD4-4B542FD6191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0658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76DA907C-9C7D-1787-D7E9-E832FF9866C8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F219B8B3-FA6E-654C-4CF3-D38989FDB720}"/>
              </a:ext>
            </a:extLst>
          </p:cNvPr>
          <p:cNvGrpSpPr/>
          <p:nvPr/>
        </p:nvGrpSpPr>
        <p:grpSpPr>
          <a:xfrm rot="8100000">
            <a:off x="9946225" y="9624890"/>
            <a:ext cx="4114800" cy="4114800"/>
            <a:chOff x="0" y="0"/>
            <a:chExt cx="812800" cy="81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B2A93FC1-E187-B889-3972-343922B234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0658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4C84903A-DEFD-8BB8-2B32-D56E9688592F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>
            <a:extLst>
              <a:ext uri="{FF2B5EF4-FFF2-40B4-BE49-F238E27FC236}">
                <a16:creationId xmlns:a16="http://schemas.microsoft.com/office/drawing/2014/main" id="{13E8489B-D0D7-7B1A-53E0-80DDB5673F0C}"/>
              </a:ext>
            </a:extLst>
          </p:cNvPr>
          <p:cNvSpPr/>
          <p:nvPr/>
        </p:nvSpPr>
        <p:spPr>
          <a:xfrm>
            <a:off x="-494812" y="6537180"/>
            <a:ext cx="1523512" cy="1816407"/>
          </a:xfrm>
          <a:custGeom>
            <a:avLst/>
            <a:gdLst/>
            <a:ahLst/>
            <a:cxnLst/>
            <a:rect l="l" t="t" r="r" b="b"/>
            <a:pathLst>
              <a:path w="1523512" h="1816407">
                <a:moveTo>
                  <a:pt x="0" y="0"/>
                </a:moveTo>
                <a:lnTo>
                  <a:pt x="1523512" y="0"/>
                </a:lnTo>
                <a:lnTo>
                  <a:pt x="1523512" y="1816407"/>
                </a:lnTo>
                <a:lnTo>
                  <a:pt x="0" y="181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0C6A092-61A9-0A3A-87CD-F46BCE1290A6}"/>
              </a:ext>
            </a:extLst>
          </p:cNvPr>
          <p:cNvSpPr txBox="1"/>
          <p:nvPr/>
        </p:nvSpPr>
        <p:spPr>
          <a:xfrm>
            <a:off x="1411829" y="3070080"/>
            <a:ext cx="7503571" cy="3124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206"/>
              </a:lnSpc>
            </a:pPr>
            <a:r>
              <a:rPr lang="en-US" sz="6838" b="1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KUBERNETES TRAINING: </a:t>
            </a:r>
          </a:p>
          <a:p>
            <a:pPr marL="0" lvl="0" indent="0" algn="l">
              <a:lnSpc>
                <a:spcPts val="8206"/>
              </a:lnSpc>
            </a:pPr>
            <a:r>
              <a:rPr lang="en-US" sz="6838" b="1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DAN 1 - OSNOVE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F8C383F-CE09-ECB9-0D2F-0BE3E379279C}"/>
              </a:ext>
            </a:extLst>
          </p:cNvPr>
          <p:cNvSpPr txBox="1"/>
          <p:nvPr/>
        </p:nvSpPr>
        <p:spPr>
          <a:xfrm>
            <a:off x="1411829" y="7521015"/>
            <a:ext cx="6898396" cy="394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75"/>
              </a:lnSpc>
              <a:spcBef>
                <a:spcPct val="0"/>
              </a:spcBef>
            </a:pPr>
            <a:r>
              <a:rPr lang="en-US" sz="2339" dirty="0">
                <a:solidFill>
                  <a:srgbClr val="222A35"/>
                </a:solidFill>
                <a:latin typeface="Open Sans"/>
                <a:ea typeface="Open Sans"/>
                <a:cs typeface="Open Sans"/>
                <a:sym typeface="Open Sans"/>
              </a:rPr>
              <a:t>KUBERNETES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CF2EAD0-58D0-DF29-84FC-3CACDB44E8B2}"/>
              </a:ext>
            </a:extLst>
          </p:cNvPr>
          <p:cNvSpPr txBox="1"/>
          <p:nvPr/>
        </p:nvSpPr>
        <p:spPr>
          <a:xfrm>
            <a:off x="2239046" y="1714500"/>
            <a:ext cx="3056231" cy="37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r>
              <a:rPr lang="en-US" sz="215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Kubernetes Basics</a:t>
            </a:r>
          </a:p>
        </p:txBody>
      </p:sp>
      <p:pic>
        <p:nvPicPr>
          <p:cNvPr id="34" name="Picture 33" descr="A logo with a letter&#10;&#10;AI-generated content may be incorrect.">
            <a:extLst>
              <a:ext uri="{FF2B5EF4-FFF2-40B4-BE49-F238E27FC236}">
                <a16:creationId xmlns:a16="http://schemas.microsoft.com/office/drawing/2014/main" id="{160AC8B0-5022-1FA0-2902-8673361E57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608794"/>
            <a:ext cx="584200" cy="584200"/>
          </a:xfrm>
          <a:prstGeom prst="rect">
            <a:avLst/>
          </a:prstGeom>
        </p:spPr>
      </p:pic>
      <p:sp>
        <p:nvSpPr>
          <p:cNvPr id="28" name="TextBox 32">
            <a:extLst>
              <a:ext uri="{FF2B5EF4-FFF2-40B4-BE49-F238E27FC236}">
                <a16:creationId xmlns:a16="http://schemas.microsoft.com/office/drawing/2014/main" id="{46B305E7-2105-BABD-30D2-59817AF2508E}"/>
              </a:ext>
            </a:extLst>
          </p:cNvPr>
          <p:cNvSpPr txBox="1"/>
          <p:nvPr/>
        </p:nvSpPr>
        <p:spPr>
          <a:xfrm>
            <a:off x="1447800" y="9000144"/>
            <a:ext cx="3056231" cy="37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r>
              <a:rPr lang="en-US" sz="215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MSc Vladimir Gasevic</a:t>
            </a:r>
          </a:p>
        </p:txBody>
      </p:sp>
    </p:spTree>
    <p:extLst>
      <p:ext uri="{BB962C8B-B14F-4D97-AF65-F5344CB8AC3E}">
        <p14:creationId xmlns:p14="http://schemas.microsoft.com/office/powerpoint/2010/main" val="3795227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1905" y="3328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600966" y="4198844"/>
            <a:ext cx="7061875" cy="1162404"/>
            <a:chOff x="0" y="0"/>
            <a:chExt cx="1859918" cy="3061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355685" y="769491"/>
            <a:ext cx="6361527" cy="4850664"/>
          </a:xfrm>
          <a:custGeom>
            <a:avLst/>
            <a:gdLst/>
            <a:ahLst/>
            <a:cxnLst/>
            <a:rect l="l" t="t" r="r" b="b"/>
            <a:pathLst>
              <a:path w="6361527" h="4850664">
                <a:moveTo>
                  <a:pt x="0" y="0"/>
                </a:moveTo>
                <a:lnTo>
                  <a:pt x="6361527" y="0"/>
                </a:lnTo>
                <a:lnTo>
                  <a:pt x="6361527" y="4850664"/>
                </a:lnTo>
                <a:lnTo>
                  <a:pt x="0" y="48506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084824" y="4198844"/>
            <a:ext cx="7061875" cy="1162404"/>
            <a:chOff x="0" y="0"/>
            <a:chExt cx="1859918" cy="3061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00966" y="1256617"/>
            <a:ext cx="9578637" cy="1592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KUBERNETES </a:t>
            </a:r>
          </a:p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ARHITEKTURA</a:t>
            </a:r>
          </a:p>
        </p:txBody>
      </p:sp>
      <p:grpSp>
        <p:nvGrpSpPr>
          <p:cNvPr id="11" name="Group 11"/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3342915" y="4527316"/>
            <a:ext cx="3577977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Control Plane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26773" y="4527316"/>
            <a:ext cx="3577977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Worker Nodes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17725" y="5747092"/>
            <a:ext cx="5997868" cy="794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Glavna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komponenta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koja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upravlja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stanjem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klastera</a:t>
            </a:r>
            <a:endParaRPr lang="en-US" sz="2298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616827" y="5747092"/>
            <a:ext cx="5997868" cy="389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Pokrece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kontejnere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aplikacije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(pod)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17725" y="6796837"/>
            <a:ext cx="5997868" cy="2025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Glavne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komponente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342900" lvl="0" indent="-342900" algn="l">
              <a:lnSpc>
                <a:spcPts val="3217"/>
              </a:lnSpc>
              <a:buFontTx/>
              <a:buChar char="-"/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Api Server (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kubectl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  <a:p>
            <a:pPr marL="342900" lvl="0" indent="-342900" algn="l">
              <a:lnSpc>
                <a:spcPts val="3217"/>
              </a:lnSpc>
              <a:buFontTx/>
              <a:buChar char="-"/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etcd</a:t>
            </a:r>
            <a:endParaRPr lang="en-US" sz="2298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42900" algn="l">
              <a:lnSpc>
                <a:spcPts val="3217"/>
              </a:lnSpc>
              <a:buFontTx/>
              <a:buChar char="-"/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Scheduler (pod)</a:t>
            </a:r>
          </a:p>
          <a:p>
            <a:pPr marL="342900" lvl="0" indent="-342900" algn="l">
              <a:lnSpc>
                <a:spcPts val="3217"/>
              </a:lnSpc>
              <a:buFontTx/>
              <a:buChar char="-"/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Controller manager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616827" y="6796837"/>
            <a:ext cx="5997868" cy="161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Glavne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komponente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342900" lvl="0" indent="-342900" algn="l">
              <a:lnSpc>
                <a:spcPts val="3217"/>
              </a:lnSpc>
              <a:buFontTx/>
              <a:buChar char="-"/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Kubelet</a:t>
            </a:r>
            <a:endParaRPr lang="en-US" sz="2298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42900" algn="l">
              <a:lnSpc>
                <a:spcPts val="3217"/>
              </a:lnSpc>
              <a:buFontTx/>
              <a:buChar char="-"/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Kube-proxy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agenti</a:t>
            </a:r>
            <a:endParaRPr lang="en-US" sz="2298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42900" algn="l">
              <a:lnSpc>
                <a:spcPts val="3217"/>
              </a:lnSpc>
              <a:buFontTx/>
              <a:buChar char="-"/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Container runtime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6490287">
            <a:off x="-2269166" y="6731607"/>
            <a:ext cx="5316260" cy="4651728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3586984">
            <a:off x="16566099" y="-649873"/>
            <a:ext cx="5316260" cy="4651728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7247241" y="9637771"/>
            <a:ext cx="13716000" cy="10287000"/>
            <a:chOff x="0" y="0"/>
            <a:chExt cx="812800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47625"/>
              <a:ext cx="60960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26940" y="-9576751"/>
            <a:ext cx="11005377" cy="10287000"/>
            <a:chOff x="0" y="0"/>
            <a:chExt cx="65217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52170" cy="609600"/>
            </a:xfrm>
            <a:custGeom>
              <a:avLst/>
              <a:gdLst/>
              <a:ahLst/>
              <a:cxnLst/>
              <a:rect l="l" t="t" r="r" b="b"/>
              <a:pathLst>
                <a:path w="652170" h="609600">
                  <a:moveTo>
                    <a:pt x="203200" y="0"/>
                  </a:moveTo>
                  <a:lnTo>
                    <a:pt x="652170" y="0"/>
                  </a:lnTo>
                  <a:lnTo>
                    <a:pt x="44897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600" y="-47625"/>
              <a:ext cx="448970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769251" y="4373846"/>
            <a:ext cx="11432399" cy="2300770"/>
          </a:xfrm>
          <a:custGeom>
            <a:avLst/>
            <a:gdLst/>
            <a:ahLst/>
            <a:cxnLst/>
            <a:rect l="l" t="t" r="r" b="b"/>
            <a:pathLst>
              <a:path w="11432399" h="2300770">
                <a:moveTo>
                  <a:pt x="0" y="0"/>
                </a:moveTo>
                <a:lnTo>
                  <a:pt x="11432398" y="0"/>
                </a:lnTo>
                <a:lnTo>
                  <a:pt x="11432398" y="2300770"/>
                </a:lnTo>
                <a:lnTo>
                  <a:pt x="0" y="230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-389241" y="-709061"/>
            <a:ext cx="2316960" cy="2316960"/>
          </a:xfrm>
          <a:custGeom>
            <a:avLst/>
            <a:gdLst/>
            <a:ahLst/>
            <a:cxnLst/>
            <a:rect l="l" t="t" r="r" b="b"/>
            <a:pathLst>
              <a:path w="2316960" h="2316960">
                <a:moveTo>
                  <a:pt x="0" y="0"/>
                </a:moveTo>
                <a:lnTo>
                  <a:pt x="2316960" y="0"/>
                </a:lnTo>
                <a:lnTo>
                  <a:pt x="2316960" y="2316960"/>
                </a:lnTo>
                <a:lnTo>
                  <a:pt x="0" y="2316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995401" y="4751092"/>
            <a:ext cx="635138" cy="638177"/>
          </a:xfrm>
          <a:custGeom>
            <a:avLst/>
            <a:gdLst/>
            <a:ahLst/>
            <a:cxnLst/>
            <a:rect l="l" t="t" r="r" b="b"/>
            <a:pathLst>
              <a:path w="635138" h="638177">
                <a:moveTo>
                  <a:pt x="0" y="0"/>
                </a:moveTo>
                <a:lnTo>
                  <a:pt x="635138" y="0"/>
                </a:lnTo>
                <a:lnTo>
                  <a:pt x="635138" y="638177"/>
                </a:lnTo>
                <a:lnTo>
                  <a:pt x="0" y="638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7185715" y="4713756"/>
            <a:ext cx="599350" cy="763960"/>
          </a:xfrm>
          <a:custGeom>
            <a:avLst/>
            <a:gdLst/>
            <a:ahLst/>
            <a:cxnLst/>
            <a:rect l="l" t="t" r="r" b="b"/>
            <a:pathLst>
              <a:path w="599350" h="763960">
                <a:moveTo>
                  <a:pt x="0" y="0"/>
                </a:moveTo>
                <a:lnTo>
                  <a:pt x="599349" y="0"/>
                </a:lnTo>
                <a:lnTo>
                  <a:pt x="599349" y="763960"/>
                </a:lnTo>
                <a:lnTo>
                  <a:pt x="0" y="7639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325660" y="4752512"/>
            <a:ext cx="642846" cy="636916"/>
          </a:xfrm>
          <a:custGeom>
            <a:avLst/>
            <a:gdLst/>
            <a:ahLst/>
            <a:cxnLst/>
            <a:rect l="l" t="t" r="r" b="b"/>
            <a:pathLst>
              <a:path w="642846" h="636916">
                <a:moveTo>
                  <a:pt x="0" y="0"/>
                </a:moveTo>
                <a:lnTo>
                  <a:pt x="642846" y="0"/>
                </a:lnTo>
                <a:lnTo>
                  <a:pt x="642846" y="636916"/>
                </a:lnTo>
                <a:lnTo>
                  <a:pt x="0" y="6369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6702078" y="9057471"/>
            <a:ext cx="2769429" cy="2364400"/>
          </a:xfrm>
          <a:custGeom>
            <a:avLst/>
            <a:gdLst/>
            <a:ahLst/>
            <a:cxnLst/>
            <a:rect l="l" t="t" r="r" b="b"/>
            <a:pathLst>
              <a:path w="2769429" h="2364400">
                <a:moveTo>
                  <a:pt x="0" y="0"/>
                </a:moveTo>
                <a:lnTo>
                  <a:pt x="2769429" y="0"/>
                </a:lnTo>
                <a:lnTo>
                  <a:pt x="2769429" y="2364400"/>
                </a:lnTo>
                <a:lnTo>
                  <a:pt x="0" y="236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731157" y="7273997"/>
            <a:ext cx="3262225" cy="1204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API Server: </a:t>
            </a:r>
          </a:p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Ulazna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tacka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za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sve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komande</a:t>
            </a:r>
            <a:endParaRPr lang="en-US" sz="2298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957975" y="7273997"/>
            <a:ext cx="3262225" cy="794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etcd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</a:p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Baza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podataka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klastera</a:t>
            </a:r>
            <a:endParaRPr lang="en-US" sz="2298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148975" y="7273997"/>
            <a:ext cx="3262225" cy="1204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Scheduler: </a:t>
            </a:r>
          </a:p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Odredjuje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lokaciju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pod-ova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54681" y="1607899"/>
            <a:ext cx="9578637" cy="1617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5"/>
              </a:lnSpc>
            </a:pPr>
            <a:r>
              <a:rPr lang="en-US" sz="5396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CONTROL PLANE KOMPONENTE</a:t>
            </a:r>
          </a:p>
        </p:txBody>
      </p:sp>
      <p:sp>
        <p:nvSpPr>
          <p:cNvPr id="26" name="Freeform 15">
            <a:extLst>
              <a:ext uri="{FF2B5EF4-FFF2-40B4-BE49-F238E27FC236}">
                <a16:creationId xmlns:a16="http://schemas.microsoft.com/office/drawing/2014/main" id="{35071837-1CC3-5908-3492-A00ECE80357C}"/>
              </a:ext>
            </a:extLst>
          </p:cNvPr>
          <p:cNvSpPr/>
          <p:nvPr/>
        </p:nvSpPr>
        <p:spPr>
          <a:xfrm>
            <a:off x="13074238" y="4366730"/>
            <a:ext cx="3810000" cy="2300770"/>
          </a:xfrm>
          <a:custGeom>
            <a:avLst/>
            <a:gdLst/>
            <a:ahLst/>
            <a:cxnLst/>
            <a:rect l="l" t="t" r="r" b="b"/>
            <a:pathLst>
              <a:path w="11432399" h="2300770">
                <a:moveTo>
                  <a:pt x="0" y="0"/>
                </a:moveTo>
                <a:lnTo>
                  <a:pt x="11432398" y="0"/>
                </a:lnTo>
                <a:lnTo>
                  <a:pt x="11432398" y="2300770"/>
                </a:lnTo>
                <a:lnTo>
                  <a:pt x="0" y="230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0922" r="-1191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17">
            <a:extLst>
              <a:ext uri="{FF2B5EF4-FFF2-40B4-BE49-F238E27FC236}">
                <a16:creationId xmlns:a16="http://schemas.microsoft.com/office/drawing/2014/main" id="{8F81A973-B5DC-B1AD-7B16-83FFA37EC4D3}"/>
              </a:ext>
            </a:extLst>
          </p:cNvPr>
          <p:cNvSpPr/>
          <p:nvPr/>
        </p:nvSpPr>
        <p:spPr>
          <a:xfrm>
            <a:off x="15366862" y="4776647"/>
            <a:ext cx="635138" cy="638177"/>
          </a:xfrm>
          <a:custGeom>
            <a:avLst/>
            <a:gdLst/>
            <a:ahLst/>
            <a:cxnLst/>
            <a:rect l="l" t="t" r="r" b="b"/>
            <a:pathLst>
              <a:path w="635138" h="638177">
                <a:moveTo>
                  <a:pt x="0" y="0"/>
                </a:moveTo>
                <a:lnTo>
                  <a:pt x="635138" y="0"/>
                </a:lnTo>
                <a:lnTo>
                  <a:pt x="635138" y="638177"/>
                </a:lnTo>
                <a:lnTo>
                  <a:pt x="0" y="638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3">
            <a:extLst>
              <a:ext uri="{FF2B5EF4-FFF2-40B4-BE49-F238E27FC236}">
                <a16:creationId xmlns:a16="http://schemas.microsoft.com/office/drawing/2014/main" id="{83F92D27-AAF4-CEC9-1395-8CC18C23C282}"/>
              </a:ext>
            </a:extLst>
          </p:cNvPr>
          <p:cNvSpPr txBox="1"/>
          <p:nvPr/>
        </p:nvSpPr>
        <p:spPr>
          <a:xfrm>
            <a:off x="14194674" y="7197159"/>
            <a:ext cx="3262225" cy="1204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Controller manager: </a:t>
            </a:r>
          </a:p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Odrzava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zeljeno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stanje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klastera</a:t>
            </a:r>
            <a:endParaRPr lang="en-US" sz="2298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600967" y="4198844"/>
            <a:ext cx="3979955" cy="1162404"/>
            <a:chOff x="0" y="0"/>
            <a:chExt cx="1859918" cy="3061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467222" y="-204808"/>
            <a:ext cx="6868117" cy="6385603"/>
          </a:xfrm>
          <a:custGeom>
            <a:avLst/>
            <a:gdLst/>
            <a:ahLst/>
            <a:cxnLst/>
            <a:rect l="l" t="t" r="r" b="b"/>
            <a:pathLst>
              <a:path w="6868117" h="6385603">
                <a:moveTo>
                  <a:pt x="0" y="0"/>
                </a:moveTo>
                <a:lnTo>
                  <a:pt x="6868117" y="0"/>
                </a:lnTo>
                <a:lnTo>
                  <a:pt x="6868117" y="6385604"/>
                </a:lnTo>
                <a:lnTo>
                  <a:pt x="0" y="6385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190238" y="4018018"/>
            <a:ext cx="8956461" cy="1343230"/>
            <a:chOff x="-2272729" y="-47625"/>
            <a:chExt cx="4132647" cy="353773"/>
          </a:xfrm>
        </p:grpSpPr>
        <p:sp>
          <p:nvSpPr>
            <p:cNvPr id="8" name="Freeform 8"/>
            <p:cNvSpPr/>
            <p:nvPr/>
          </p:nvSpPr>
          <p:spPr>
            <a:xfrm>
              <a:off x="-2272729" y="-3294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00966" y="1256617"/>
            <a:ext cx="9578637" cy="1592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WORKER NODE KOMPONENTE</a:t>
            </a:r>
          </a:p>
        </p:txBody>
      </p:sp>
      <p:grpSp>
        <p:nvGrpSpPr>
          <p:cNvPr id="11" name="Group 11"/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752600" y="4541306"/>
            <a:ext cx="1477919" cy="457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Kubelet</a:t>
            </a:r>
            <a:endParaRPr lang="en-US" sz="2799" b="1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600966" y="5727192"/>
            <a:ext cx="3979955" cy="866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24"/>
              </a:lnSpc>
            </a:pP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Node agent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kojji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upravlja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zivotnim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ciklusom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pod-a I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zdravljem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kontejnera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svakom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Worker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nodu</a:t>
            </a:r>
            <a:endParaRPr lang="en-US" sz="1660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294419" y="5787058"/>
            <a:ext cx="3979955" cy="571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24"/>
              </a:lnSpc>
            </a:pP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Mrezni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proxy koji je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zaduzen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za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pronalazenje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servisa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I za load balancing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84034" y="6865743"/>
            <a:ext cx="3745711" cy="571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24"/>
              </a:lnSpc>
            </a:pP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Komunicira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sa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API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Serverom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 I prima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specifikacije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za pod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12291" y="6732071"/>
            <a:ext cx="3962083" cy="571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24"/>
              </a:lnSpc>
            </a:pP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Odrzava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mrezna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pravila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neophodna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za pod-to-pod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komunikaciju</a:t>
            </a:r>
            <a:endParaRPr lang="en-US" sz="1660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7" name="Group 3">
            <a:extLst>
              <a:ext uri="{FF2B5EF4-FFF2-40B4-BE49-F238E27FC236}">
                <a16:creationId xmlns:a16="http://schemas.microsoft.com/office/drawing/2014/main" id="{26DD2F65-1F3B-2637-7FD9-ADF5D5FCCE08}"/>
              </a:ext>
            </a:extLst>
          </p:cNvPr>
          <p:cNvGrpSpPr/>
          <p:nvPr/>
        </p:nvGrpSpPr>
        <p:grpSpPr>
          <a:xfrm>
            <a:off x="12294420" y="4192762"/>
            <a:ext cx="3979955" cy="1162404"/>
            <a:chOff x="0" y="0"/>
            <a:chExt cx="1859918" cy="306148"/>
          </a:xfrm>
        </p:grpSpPr>
        <p:sp>
          <p:nvSpPr>
            <p:cNvPr id="38" name="Freeform 4">
              <a:extLst>
                <a:ext uri="{FF2B5EF4-FFF2-40B4-BE49-F238E27FC236}">
                  <a16:creationId xmlns:a16="http://schemas.microsoft.com/office/drawing/2014/main" id="{99583FD3-EBC5-9B6F-3442-B47DB0393111}"/>
                </a:ext>
              </a:extLst>
            </p:cNvPr>
            <p:cNvSpPr/>
            <p:nvPr/>
          </p:nvSpPr>
          <p:spPr>
            <a:xfrm>
              <a:off x="0" y="0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5">
              <a:extLst>
                <a:ext uri="{FF2B5EF4-FFF2-40B4-BE49-F238E27FC236}">
                  <a16:creationId xmlns:a16="http://schemas.microsoft.com/office/drawing/2014/main" id="{BF3D6A2A-1343-A2E8-1504-CF4EF7925604}"/>
                </a:ext>
              </a:extLst>
            </p:cNvPr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259440" y="4541306"/>
            <a:ext cx="2559689" cy="457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chemeClr val="bg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Kube-proxy</a:t>
            </a:r>
          </a:p>
        </p:txBody>
      </p:sp>
      <p:sp>
        <p:nvSpPr>
          <p:cNvPr id="40" name="TextBox 33">
            <a:extLst>
              <a:ext uri="{FF2B5EF4-FFF2-40B4-BE49-F238E27FC236}">
                <a16:creationId xmlns:a16="http://schemas.microsoft.com/office/drawing/2014/main" id="{8AC89F1A-28BF-1FF9-D6C4-86DF53F61A28}"/>
              </a:ext>
            </a:extLst>
          </p:cNvPr>
          <p:cNvSpPr txBox="1"/>
          <p:nvPr/>
        </p:nvSpPr>
        <p:spPr>
          <a:xfrm>
            <a:off x="7241182" y="5702205"/>
            <a:ext cx="3979955" cy="571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24"/>
              </a:lnSpc>
            </a:pP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Zaduzen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za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pokretanje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samih</a:t>
            </a:r>
            <a:r>
              <a:rPr lang="en-US" sz="166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6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kontejnera</a:t>
            </a:r>
            <a:endParaRPr lang="en-US" sz="1660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TextBox 31">
            <a:extLst>
              <a:ext uri="{FF2B5EF4-FFF2-40B4-BE49-F238E27FC236}">
                <a16:creationId xmlns:a16="http://schemas.microsoft.com/office/drawing/2014/main" id="{EFE1377E-37CD-73DB-238B-9C382A237DAA}"/>
              </a:ext>
            </a:extLst>
          </p:cNvPr>
          <p:cNvSpPr txBox="1"/>
          <p:nvPr/>
        </p:nvSpPr>
        <p:spPr>
          <a:xfrm>
            <a:off x="7091197" y="4564947"/>
            <a:ext cx="3577977" cy="45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latin typeface="Neue Montreal Bold"/>
                <a:ea typeface="Neue Montreal Bold"/>
                <a:cs typeface="Neue Montreal Bold"/>
                <a:sym typeface="Neue Montreal Bold"/>
              </a:rPr>
              <a:t>Container runtime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B4654-91AE-698C-6A3F-3DA174C9D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08B129-4E1A-5885-A25C-9B6DF3AC1B9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22B121C-60C6-B62C-D055-A82B8CF177FD}"/>
              </a:ext>
            </a:extLst>
          </p:cNvPr>
          <p:cNvGrpSpPr/>
          <p:nvPr/>
        </p:nvGrpSpPr>
        <p:grpSpPr>
          <a:xfrm>
            <a:off x="1612570" y="4192762"/>
            <a:ext cx="3979955" cy="772199"/>
            <a:chOff x="0" y="0"/>
            <a:chExt cx="1859918" cy="30614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8C9F181-F93B-D198-AC27-67BEBA775634}"/>
                </a:ext>
              </a:extLst>
            </p:cNvPr>
            <p:cNvSpPr/>
            <p:nvPr/>
          </p:nvSpPr>
          <p:spPr>
            <a:xfrm>
              <a:off x="0" y="0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3DFAEDE-ED2C-B5AC-BED0-241283903BA8}"/>
                </a:ext>
              </a:extLst>
            </p:cNvPr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5BBE1984-E619-8832-B720-2BC677A81D05}"/>
              </a:ext>
            </a:extLst>
          </p:cNvPr>
          <p:cNvSpPr/>
          <p:nvPr/>
        </p:nvSpPr>
        <p:spPr>
          <a:xfrm>
            <a:off x="11389577" y="3831416"/>
            <a:ext cx="6868117" cy="6385603"/>
          </a:xfrm>
          <a:custGeom>
            <a:avLst/>
            <a:gdLst/>
            <a:ahLst/>
            <a:cxnLst/>
            <a:rect l="l" t="t" r="r" b="b"/>
            <a:pathLst>
              <a:path w="6868117" h="6385603">
                <a:moveTo>
                  <a:pt x="0" y="0"/>
                </a:moveTo>
                <a:lnTo>
                  <a:pt x="6868117" y="0"/>
                </a:lnTo>
                <a:lnTo>
                  <a:pt x="6868117" y="6385604"/>
                </a:lnTo>
                <a:lnTo>
                  <a:pt x="0" y="6385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D3360C1-6D1E-2F22-9AF3-3D4A2D3FCDAE}"/>
              </a:ext>
            </a:extLst>
          </p:cNvPr>
          <p:cNvGrpSpPr/>
          <p:nvPr/>
        </p:nvGrpSpPr>
        <p:grpSpPr>
          <a:xfrm>
            <a:off x="1612570" y="5061409"/>
            <a:ext cx="8857733" cy="853724"/>
            <a:chOff x="-2272729" y="-47625"/>
            <a:chExt cx="4132647" cy="35377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8792C5F-ACDB-EB9C-03FB-5047DE87893D}"/>
                </a:ext>
              </a:extLst>
            </p:cNvPr>
            <p:cNvSpPr/>
            <p:nvPr/>
          </p:nvSpPr>
          <p:spPr>
            <a:xfrm>
              <a:off x="-2272729" y="-3294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E50DEBA-01B8-4EF6-7FEE-5A83DD77B44D}"/>
                </a:ext>
              </a:extLst>
            </p:cNvPr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CC4FFC63-C443-C887-A368-2B91FF453CA8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OSTALE BITNE KOMPONENTE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3225A61-C551-0D98-B6C6-2B831827F7A4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034B54D-8286-2F10-1BC3-4381BA125E76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CF466C0-4D0A-A71D-740B-E30E09F23C2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DC529DC-323D-6DF8-10F4-C5F7510894C0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1E54B8B-FA9C-ACE8-F1FC-3A025EDDD52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6A29D0F-7A09-E0DD-7C20-EA00E2D726A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C70D47B-9F22-511D-711A-7C281D7748EC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6400AE9-679A-257A-6283-669E5A52FA0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1F7CD29-8A6B-673D-D087-9050E5858FB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2F7BCC8-C537-2E8D-7A37-5930CFC969F6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2E18CA80-DD8E-FC73-3E3E-0501438701F8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D55FC80A-AE30-A9D6-EEEB-249637C8FD1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53EA78C9-50F5-8CFD-CAA1-8279A0E445F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364CBC37-EEC4-128B-4467-C00E25BC457C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FE37B5B9-43B6-8D01-51D7-2608DA5FC79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31192640-937B-F172-BFE7-AA925ED27646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DDAB9B0F-99C2-8A95-942F-3FB2D23DB1CF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AE422E8-2F0B-7837-30FC-53B832D71BF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D4848907-76DB-965A-4F71-7ED07C1E0B4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58127164-8CDC-CB71-E6CA-82C9633BFEDE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080E4F13-2A33-418D-D044-BB177829EC0F}"/>
              </a:ext>
            </a:extLst>
          </p:cNvPr>
          <p:cNvSpPr txBox="1"/>
          <p:nvPr/>
        </p:nvSpPr>
        <p:spPr>
          <a:xfrm>
            <a:off x="1752600" y="4305300"/>
            <a:ext cx="2667000" cy="457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Namespace</a:t>
            </a:r>
          </a:p>
        </p:txBody>
      </p:sp>
      <p:grpSp>
        <p:nvGrpSpPr>
          <p:cNvPr id="37" name="Group 3">
            <a:extLst>
              <a:ext uri="{FF2B5EF4-FFF2-40B4-BE49-F238E27FC236}">
                <a16:creationId xmlns:a16="http://schemas.microsoft.com/office/drawing/2014/main" id="{CE2C22C8-2BDC-914C-9A8F-6BAE2C15F6ED}"/>
              </a:ext>
            </a:extLst>
          </p:cNvPr>
          <p:cNvGrpSpPr/>
          <p:nvPr/>
        </p:nvGrpSpPr>
        <p:grpSpPr>
          <a:xfrm>
            <a:off x="1600966" y="6113876"/>
            <a:ext cx="3979955" cy="738795"/>
            <a:chOff x="0" y="0"/>
            <a:chExt cx="1859918" cy="306148"/>
          </a:xfrm>
        </p:grpSpPr>
        <p:sp>
          <p:nvSpPr>
            <p:cNvPr id="38" name="Freeform 4">
              <a:extLst>
                <a:ext uri="{FF2B5EF4-FFF2-40B4-BE49-F238E27FC236}">
                  <a16:creationId xmlns:a16="http://schemas.microsoft.com/office/drawing/2014/main" id="{85430054-5367-E572-9051-75901F46B5AD}"/>
                </a:ext>
              </a:extLst>
            </p:cNvPr>
            <p:cNvSpPr/>
            <p:nvPr/>
          </p:nvSpPr>
          <p:spPr>
            <a:xfrm>
              <a:off x="0" y="0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5">
              <a:extLst>
                <a:ext uri="{FF2B5EF4-FFF2-40B4-BE49-F238E27FC236}">
                  <a16:creationId xmlns:a16="http://schemas.microsoft.com/office/drawing/2014/main" id="{C798B053-9AAB-840D-0AD9-AF4345B6436B}"/>
                </a:ext>
              </a:extLst>
            </p:cNvPr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5F05061F-7B76-DB7B-B318-1D8D3F0E840D}"/>
              </a:ext>
            </a:extLst>
          </p:cNvPr>
          <p:cNvSpPr txBox="1"/>
          <p:nvPr/>
        </p:nvSpPr>
        <p:spPr>
          <a:xfrm>
            <a:off x="1752600" y="6210300"/>
            <a:ext cx="3551105" cy="457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chemeClr val="bg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Ingres</a:t>
            </a:r>
          </a:p>
        </p:txBody>
      </p:sp>
      <p:sp>
        <p:nvSpPr>
          <p:cNvPr id="42" name="TextBox 31">
            <a:extLst>
              <a:ext uri="{FF2B5EF4-FFF2-40B4-BE49-F238E27FC236}">
                <a16:creationId xmlns:a16="http://schemas.microsoft.com/office/drawing/2014/main" id="{B02647AE-CBA8-DC70-E3A1-82518E0F1CF1}"/>
              </a:ext>
            </a:extLst>
          </p:cNvPr>
          <p:cNvSpPr txBox="1"/>
          <p:nvPr/>
        </p:nvSpPr>
        <p:spPr>
          <a:xfrm>
            <a:off x="1752600" y="5308940"/>
            <a:ext cx="3577977" cy="45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latin typeface="Neue Montreal Bold"/>
                <a:ea typeface="Neue Montreal Bold"/>
                <a:cs typeface="Neue Montreal Bold"/>
                <a:sym typeface="Neue Montreal Bold"/>
              </a:rPr>
              <a:t>Service</a:t>
            </a:r>
          </a:p>
        </p:txBody>
      </p:sp>
      <p:grpSp>
        <p:nvGrpSpPr>
          <p:cNvPr id="41" name="Group 7">
            <a:extLst>
              <a:ext uri="{FF2B5EF4-FFF2-40B4-BE49-F238E27FC236}">
                <a16:creationId xmlns:a16="http://schemas.microsoft.com/office/drawing/2014/main" id="{37DBFACE-12A3-E662-6B21-56ED1424A27D}"/>
              </a:ext>
            </a:extLst>
          </p:cNvPr>
          <p:cNvGrpSpPr/>
          <p:nvPr/>
        </p:nvGrpSpPr>
        <p:grpSpPr>
          <a:xfrm>
            <a:off x="1600966" y="6992738"/>
            <a:ext cx="8857733" cy="853724"/>
            <a:chOff x="-2272729" y="-47625"/>
            <a:chExt cx="4132647" cy="353773"/>
          </a:xfrm>
        </p:grpSpPr>
        <p:sp>
          <p:nvSpPr>
            <p:cNvPr id="43" name="Freeform 8">
              <a:extLst>
                <a:ext uri="{FF2B5EF4-FFF2-40B4-BE49-F238E27FC236}">
                  <a16:creationId xmlns:a16="http://schemas.microsoft.com/office/drawing/2014/main" id="{3460BD81-3A40-B276-E548-4A32F9F96EA7}"/>
                </a:ext>
              </a:extLst>
            </p:cNvPr>
            <p:cNvSpPr/>
            <p:nvPr/>
          </p:nvSpPr>
          <p:spPr>
            <a:xfrm>
              <a:off x="-2272729" y="-3294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9">
              <a:extLst>
                <a:ext uri="{FF2B5EF4-FFF2-40B4-BE49-F238E27FC236}">
                  <a16:creationId xmlns:a16="http://schemas.microsoft.com/office/drawing/2014/main" id="{E78AF503-C7BD-78E6-FFF0-B43C3378B7D5}"/>
                </a:ext>
              </a:extLst>
            </p:cNvPr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5" name="TextBox 31">
            <a:extLst>
              <a:ext uri="{FF2B5EF4-FFF2-40B4-BE49-F238E27FC236}">
                <a16:creationId xmlns:a16="http://schemas.microsoft.com/office/drawing/2014/main" id="{A81811D9-9EDB-9E87-A4D1-6F9D5787C1E2}"/>
              </a:ext>
            </a:extLst>
          </p:cNvPr>
          <p:cNvSpPr txBox="1"/>
          <p:nvPr/>
        </p:nvSpPr>
        <p:spPr>
          <a:xfrm>
            <a:off x="1740996" y="7240269"/>
            <a:ext cx="3577977" cy="45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latin typeface="Neue Montreal Bold"/>
                <a:ea typeface="Neue Montreal Bold"/>
                <a:cs typeface="Neue Montreal Bold"/>
                <a:sym typeface="Neue Montreal Bold"/>
              </a:rPr>
              <a:t>ConfigMap</a:t>
            </a:r>
            <a:endParaRPr lang="en-US" sz="2799" b="1" dirty="0"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grpSp>
        <p:nvGrpSpPr>
          <p:cNvPr id="46" name="Group 3">
            <a:extLst>
              <a:ext uri="{FF2B5EF4-FFF2-40B4-BE49-F238E27FC236}">
                <a16:creationId xmlns:a16="http://schemas.microsoft.com/office/drawing/2014/main" id="{927F475B-1549-A691-32EF-4BAC7D341AE8}"/>
              </a:ext>
            </a:extLst>
          </p:cNvPr>
          <p:cNvGrpSpPr/>
          <p:nvPr/>
        </p:nvGrpSpPr>
        <p:grpSpPr>
          <a:xfrm>
            <a:off x="6094553" y="4200224"/>
            <a:ext cx="3979955" cy="772199"/>
            <a:chOff x="0" y="0"/>
            <a:chExt cx="1859918" cy="306148"/>
          </a:xfrm>
        </p:grpSpPr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CE9A9BA4-C4F6-1F27-DC16-D875DC335F96}"/>
                </a:ext>
              </a:extLst>
            </p:cNvPr>
            <p:cNvSpPr/>
            <p:nvPr/>
          </p:nvSpPr>
          <p:spPr>
            <a:xfrm>
              <a:off x="0" y="0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5">
              <a:extLst>
                <a:ext uri="{FF2B5EF4-FFF2-40B4-BE49-F238E27FC236}">
                  <a16:creationId xmlns:a16="http://schemas.microsoft.com/office/drawing/2014/main" id="{859E4C23-49DA-D260-5310-B2F35112C5CF}"/>
                </a:ext>
              </a:extLst>
            </p:cNvPr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9" name="TextBox 31">
            <a:extLst>
              <a:ext uri="{FF2B5EF4-FFF2-40B4-BE49-F238E27FC236}">
                <a16:creationId xmlns:a16="http://schemas.microsoft.com/office/drawing/2014/main" id="{4BE766A3-9F5E-C46B-D8CF-2113B06FBBB9}"/>
              </a:ext>
            </a:extLst>
          </p:cNvPr>
          <p:cNvSpPr txBox="1"/>
          <p:nvPr/>
        </p:nvSpPr>
        <p:spPr>
          <a:xfrm>
            <a:off x="6234583" y="4312762"/>
            <a:ext cx="2667000" cy="457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Deployment</a:t>
            </a:r>
          </a:p>
        </p:txBody>
      </p:sp>
      <p:grpSp>
        <p:nvGrpSpPr>
          <p:cNvPr id="50" name="Group 7">
            <a:extLst>
              <a:ext uri="{FF2B5EF4-FFF2-40B4-BE49-F238E27FC236}">
                <a16:creationId xmlns:a16="http://schemas.microsoft.com/office/drawing/2014/main" id="{DDDCD30F-F579-01EA-1FC8-66162227E831}"/>
              </a:ext>
            </a:extLst>
          </p:cNvPr>
          <p:cNvGrpSpPr/>
          <p:nvPr/>
        </p:nvGrpSpPr>
        <p:grpSpPr>
          <a:xfrm>
            <a:off x="6096000" y="5067300"/>
            <a:ext cx="8857733" cy="853724"/>
            <a:chOff x="-2272729" y="-47625"/>
            <a:chExt cx="4132647" cy="353773"/>
          </a:xfrm>
        </p:grpSpPr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C8AA6C57-AAFE-6A6B-57DB-503B71937C21}"/>
                </a:ext>
              </a:extLst>
            </p:cNvPr>
            <p:cNvSpPr/>
            <p:nvPr/>
          </p:nvSpPr>
          <p:spPr>
            <a:xfrm>
              <a:off x="-2272729" y="-3294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9">
              <a:extLst>
                <a:ext uri="{FF2B5EF4-FFF2-40B4-BE49-F238E27FC236}">
                  <a16:creationId xmlns:a16="http://schemas.microsoft.com/office/drawing/2014/main" id="{A898248D-224C-C4E5-6B29-6E593C96904C}"/>
                </a:ext>
              </a:extLst>
            </p:cNvPr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3" name="TextBox 31">
            <a:extLst>
              <a:ext uri="{FF2B5EF4-FFF2-40B4-BE49-F238E27FC236}">
                <a16:creationId xmlns:a16="http://schemas.microsoft.com/office/drawing/2014/main" id="{7CE3F4CC-0468-24ED-9197-1BA5D8D51DDC}"/>
              </a:ext>
            </a:extLst>
          </p:cNvPr>
          <p:cNvSpPr txBox="1"/>
          <p:nvPr/>
        </p:nvSpPr>
        <p:spPr>
          <a:xfrm>
            <a:off x="6236030" y="5314831"/>
            <a:ext cx="3577977" cy="45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latin typeface="Neue Montreal Bold"/>
                <a:ea typeface="Neue Montreal Bold"/>
                <a:cs typeface="Neue Montreal Bold"/>
                <a:sym typeface="Neue Montreal Bold"/>
              </a:rPr>
              <a:t>Storage</a:t>
            </a:r>
          </a:p>
        </p:txBody>
      </p:sp>
      <p:grpSp>
        <p:nvGrpSpPr>
          <p:cNvPr id="54" name="Group 3">
            <a:extLst>
              <a:ext uri="{FF2B5EF4-FFF2-40B4-BE49-F238E27FC236}">
                <a16:creationId xmlns:a16="http://schemas.microsoft.com/office/drawing/2014/main" id="{5CF2C52A-7F36-A9B3-8BDF-A615FBE79FE0}"/>
              </a:ext>
            </a:extLst>
          </p:cNvPr>
          <p:cNvGrpSpPr/>
          <p:nvPr/>
        </p:nvGrpSpPr>
        <p:grpSpPr>
          <a:xfrm>
            <a:off x="6094553" y="6126802"/>
            <a:ext cx="3979955" cy="772199"/>
            <a:chOff x="0" y="0"/>
            <a:chExt cx="1859918" cy="306148"/>
          </a:xfrm>
        </p:grpSpPr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78B84A77-F270-21F0-994E-7B5272106376}"/>
                </a:ext>
              </a:extLst>
            </p:cNvPr>
            <p:cNvSpPr/>
            <p:nvPr/>
          </p:nvSpPr>
          <p:spPr>
            <a:xfrm>
              <a:off x="0" y="0"/>
              <a:ext cx="1859918" cy="306148"/>
            </a:xfrm>
            <a:custGeom>
              <a:avLst/>
              <a:gdLst/>
              <a:ahLst/>
              <a:cxnLst/>
              <a:rect l="l" t="t" r="r" b="b"/>
              <a:pathLst>
                <a:path w="1859918" h="306148">
                  <a:moveTo>
                    <a:pt x="0" y="0"/>
                  </a:moveTo>
                  <a:lnTo>
                    <a:pt x="1859918" y="0"/>
                  </a:lnTo>
                  <a:lnTo>
                    <a:pt x="1859918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">
              <a:extLst>
                <a:ext uri="{FF2B5EF4-FFF2-40B4-BE49-F238E27FC236}">
                  <a16:creationId xmlns:a16="http://schemas.microsoft.com/office/drawing/2014/main" id="{CC8A0BEE-5D84-777E-D9CE-9CD80D959F92}"/>
                </a:ext>
              </a:extLst>
            </p:cNvPr>
            <p:cNvSpPr txBox="1"/>
            <p:nvPr/>
          </p:nvSpPr>
          <p:spPr>
            <a:xfrm>
              <a:off x="0" y="-47625"/>
              <a:ext cx="1859918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7" name="TextBox 31">
            <a:extLst>
              <a:ext uri="{FF2B5EF4-FFF2-40B4-BE49-F238E27FC236}">
                <a16:creationId xmlns:a16="http://schemas.microsoft.com/office/drawing/2014/main" id="{070FCC10-A769-66D2-A6D9-D1F53A31EB3C}"/>
              </a:ext>
            </a:extLst>
          </p:cNvPr>
          <p:cNvSpPr txBox="1"/>
          <p:nvPr/>
        </p:nvSpPr>
        <p:spPr>
          <a:xfrm>
            <a:off x="6234583" y="6239340"/>
            <a:ext cx="2667000" cy="457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YAML</a:t>
            </a:r>
          </a:p>
        </p:txBody>
      </p:sp>
    </p:spTree>
    <p:extLst>
      <p:ext uri="{BB962C8B-B14F-4D97-AF65-F5344CB8AC3E}">
        <p14:creationId xmlns:p14="http://schemas.microsoft.com/office/powerpoint/2010/main" val="112825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AF956-3819-3741-8242-F0A872B3C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13D954-358D-241A-4203-5707329C542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ED59D79-622C-7CC9-4455-CC2E2AAFDB0F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Namespace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AD506D8-1F1E-0571-371F-1AF832755B80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D4A05B5-CCA4-E946-1AEC-11DAB1980E4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C99F400-19CF-8A82-3C7E-D172861002D6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2131AE4-7AD7-9573-AE60-1CACA0475B80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4FD18EA-8807-3553-B7D1-B7059E7995F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83DCCC8-C3DE-4EBC-C079-8B38CC4CC466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023981C-AEB2-6E7C-0F6B-0F89AAEE8AD6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55D8078-F151-72B9-03D9-73C3342C0DE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9147B09D-5026-6495-71CD-B61F0C525DE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5D2E309-DF1F-7E0F-3E1E-9130E9E3A4E1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8B3CDE84-73D4-2DCC-2E7D-27BA8EFB2F65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AA366774-0681-B66A-77FD-6B6384F4B487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8E9AB490-7759-C365-2337-87DCCA9343C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70E8317C-EF2C-9299-DC65-5D83CE347C01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F27F2133-17E3-F934-399E-CBFD7F0EBAE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9F27C1DC-759B-D151-D537-B9CA4C6755E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23D38BA1-78DA-BC57-9EA8-EAF7C55735D1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32D3F57F-0CC1-8597-B881-C44FEC374BF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B4C30002-75FF-F00F-B9DC-780D2FDF28E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37FB678E-C72E-077C-B9B7-DBEDDB65BEBA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Maximizing Kubernetes Efficiency with Multiple Namespaces | by Ashish Singh  | Dev Genius">
            <a:extLst>
              <a:ext uri="{FF2B5EF4-FFF2-40B4-BE49-F238E27FC236}">
                <a16:creationId xmlns:a16="http://schemas.microsoft.com/office/drawing/2014/main" id="{117EF109-B7BC-0D4C-E6FD-617E02A2E3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0" t="17311" r="6216" b="6927"/>
          <a:stretch>
            <a:fillRect/>
          </a:stretch>
        </p:blipFill>
        <p:spPr bwMode="auto">
          <a:xfrm>
            <a:off x="2090231" y="2389786"/>
            <a:ext cx="13302169" cy="649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Freeform 6">
            <a:extLst>
              <a:ext uri="{FF2B5EF4-FFF2-40B4-BE49-F238E27FC236}">
                <a16:creationId xmlns:a16="http://schemas.microsoft.com/office/drawing/2014/main" id="{9BCF29C4-84A5-8929-CEBE-269DC8CBC67E}"/>
              </a:ext>
            </a:extLst>
          </p:cNvPr>
          <p:cNvSpPr/>
          <p:nvPr/>
        </p:nvSpPr>
        <p:spPr>
          <a:xfrm>
            <a:off x="10123588" y="8203938"/>
            <a:ext cx="5586159" cy="1059639"/>
          </a:xfrm>
          <a:custGeom>
            <a:avLst/>
            <a:gdLst/>
            <a:ahLst/>
            <a:cxnLst/>
            <a:rect l="l" t="t" r="r" b="b"/>
            <a:pathLst>
              <a:path w="7315200" h="1865376">
                <a:moveTo>
                  <a:pt x="0" y="0"/>
                </a:moveTo>
                <a:lnTo>
                  <a:pt x="7315200" y="0"/>
                </a:lnTo>
                <a:lnTo>
                  <a:pt x="7315200" y="1865376"/>
                </a:lnTo>
                <a:lnTo>
                  <a:pt x="0" y="1865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10">
            <a:extLst>
              <a:ext uri="{FF2B5EF4-FFF2-40B4-BE49-F238E27FC236}">
                <a16:creationId xmlns:a16="http://schemas.microsoft.com/office/drawing/2014/main" id="{18E75D78-6D44-E04B-F67B-A7863674B4AB}"/>
              </a:ext>
            </a:extLst>
          </p:cNvPr>
          <p:cNvGrpSpPr/>
          <p:nvPr/>
        </p:nvGrpSpPr>
        <p:grpSpPr>
          <a:xfrm rot="5400000">
            <a:off x="10968404" y="8611212"/>
            <a:ext cx="271085" cy="237199"/>
            <a:chOff x="0" y="0"/>
            <a:chExt cx="812800" cy="711200"/>
          </a:xfrm>
        </p:grpSpPr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7B11CADD-40ED-BD18-9949-DAB814194F3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12">
              <a:extLst>
                <a:ext uri="{FF2B5EF4-FFF2-40B4-BE49-F238E27FC236}">
                  <a16:creationId xmlns:a16="http://schemas.microsoft.com/office/drawing/2014/main" id="{19D1C5A5-E27B-B654-E631-5CF90DC5D4C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3">
            <a:extLst>
              <a:ext uri="{FF2B5EF4-FFF2-40B4-BE49-F238E27FC236}">
                <a16:creationId xmlns:a16="http://schemas.microsoft.com/office/drawing/2014/main" id="{B776A656-67A9-A4FC-03E2-C6A75C4BC945}"/>
              </a:ext>
            </a:extLst>
          </p:cNvPr>
          <p:cNvSpPr txBox="1"/>
          <p:nvPr/>
        </p:nvSpPr>
        <p:spPr>
          <a:xfrm>
            <a:off x="11486769" y="8267700"/>
            <a:ext cx="4512809" cy="860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kubectl</a:t>
            </a: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get </a:t>
            </a:r>
            <a:r>
              <a:rPr lang="en-US" sz="16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namepspace</a:t>
            </a:r>
            <a:endParaRPr lang="en-US" sz="16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637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kubectl</a:t>
            </a: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get pods -n dev</a:t>
            </a:r>
          </a:p>
        </p:txBody>
      </p:sp>
    </p:spTree>
    <p:extLst>
      <p:ext uri="{BB962C8B-B14F-4D97-AF65-F5344CB8AC3E}">
        <p14:creationId xmlns:p14="http://schemas.microsoft.com/office/powerpoint/2010/main" val="4084952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E51F-3D93-9772-4E46-45B067526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60DD08-6E57-CA59-D41C-23438471F17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33C8F4C-12CE-1F63-C061-7037BF6534F9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Deployment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D319A77-DE9F-F410-71C3-07FDCE9037A3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69BF596-88CA-4D50-F4E2-F4AC996971D9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7E44602-83C7-DC33-B459-31BBC535A669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01D2B46-1271-6AD9-11BA-FC9309B13AD0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7F2BF9F-0F5F-E608-640B-F2C1862F93F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45A2765B-0C60-2B9C-AC2F-1609B04823E3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A6C9987-D76D-293C-F89D-F6C2DC54F9CF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DE6D04E-B208-8EEF-9C72-EF38D832D4A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6C2D297-CE38-688B-3738-B26677C7639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3BB5CBF-6014-3791-6BC4-E2733998288B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894072C0-3C41-43E0-22B7-958DAE8FE624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58003F6-2A94-7124-69BC-4F8BF244E4D7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03E908CA-9AB0-0530-BC44-64354BABE586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30E547EB-657E-538D-B7CD-F865A6E44FA0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18844F7D-49BB-9C4D-3D26-D4308870105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D58F049D-A737-5F89-4D4F-B15B4B814C1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2FD9B3C5-C2D0-E33A-30DA-57C6493A974F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A23169CC-587C-3803-C810-CD3C3BA5250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FD6AFC5B-F703-B6B5-BEDA-A02DC83EB78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590DAB2E-AB66-011A-5966-FA7535C71FC8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D8CD7-A60B-FE00-623B-4C7F177EE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966" y="2245296"/>
            <a:ext cx="5531694" cy="6867579"/>
          </a:xfrm>
          <a:prstGeom prst="rect">
            <a:avLst/>
          </a:prstGeom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43C85716-A6CA-4439-0B82-1DC3A888EB92}"/>
              </a:ext>
            </a:extLst>
          </p:cNvPr>
          <p:cNvSpPr txBox="1"/>
          <p:nvPr/>
        </p:nvSpPr>
        <p:spPr>
          <a:xfrm>
            <a:off x="8311541" y="2244651"/>
            <a:ext cx="6591300" cy="1699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ts val="2189"/>
              </a:lnSpc>
              <a:buFontTx/>
              <a:buChar char="-"/>
            </a:pP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deklarativno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upravljanje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aplikacijama</a:t>
            </a:r>
            <a:endParaRPr lang="en-US"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>
              <a:lnSpc>
                <a:spcPts val="2189"/>
              </a:lnSpc>
              <a:buFontTx/>
              <a:buChar char="-"/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brine se da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odrzava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definisano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zeljeno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stanje</a:t>
            </a:r>
            <a:endParaRPr lang="en-US"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>
              <a:lnSpc>
                <a:spcPts val="2189"/>
              </a:lnSpc>
              <a:buFontTx/>
              <a:buChar char="-"/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Self-Healing</a:t>
            </a:r>
          </a:p>
          <a:p>
            <a:pPr marL="342900" lvl="0" indent="-342900" algn="l">
              <a:lnSpc>
                <a:spcPts val="2189"/>
              </a:lnSpc>
              <a:buFontTx/>
              <a:buChar char="-"/>
            </a:pP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Skaliranje</a:t>
            </a:r>
            <a:endParaRPr lang="en-US"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>
              <a:lnSpc>
                <a:spcPts val="2189"/>
              </a:lnSpc>
              <a:buFontTx/>
              <a:buChar char="-"/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Rolling Updates</a:t>
            </a:r>
          </a:p>
          <a:p>
            <a:pPr marL="342900" lvl="0" indent="-342900" algn="l">
              <a:lnSpc>
                <a:spcPts val="2189"/>
              </a:lnSpc>
              <a:buFontTx/>
              <a:buChar char="-"/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Rollback</a:t>
            </a:r>
          </a:p>
        </p:txBody>
      </p:sp>
    </p:spTree>
    <p:extLst>
      <p:ext uri="{BB962C8B-B14F-4D97-AF65-F5344CB8AC3E}">
        <p14:creationId xmlns:p14="http://schemas.microsoft.com/office/powerpoint/2010/main" val="2819571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D33F-F608-6A3E-39B1-FBC3C1654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6B681E-3A75-76B5-43B4-85936563D93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A65FE49-9D2D-BDD1-5674-DC74D0587864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Service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2A4F020-3E7A-E464-324B-03CEFB831F04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20A772B-18AB-FEA2-9C98-F47ED47A3E0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30B19BF-C5A5-46EC-4381-C5B09251EC9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BEA6CAB-0CAD-4A63-9592-593641A399DD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FD1F261-4FB6-5212-82D5-78B46A3D74E9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376AF76-D987-5399-8384-137AC4C4784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46385AA-4C7B-696F-59E8-55289F863B12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E0B28E2-C933-0C0C-E4A8-F48571620E8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60274EC-FCBB-9813-95E0-D1E23445DDE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A11CE0D-82C8-EE12-E2B0-607DA3EF0F0B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96609544-A730-2033-9460-03D44256B3D1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45982EC5-5EAB-DB8C-0C9C-8C317370CB7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361A7304-D9D3-AB63-9D96-81D90AB47F4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35FBFF7F-BCAA-D11C-A56A-EF45A3138898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F19B1743-F860-0C2B-C823-8FD8ABA0D81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FD495456-A522-9344-7DC1-6F47F13D368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B4A724FB-868E-A217-3E09-C4CBCDCB2083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BF2A0DB-6EDB-6D73-53E1-9A0AC14C20A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CAF6ABAF-B036-C2C1-A5CB-F1D8FDEB967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B60DE4DA-5127-1D03-3212-F4E54CF8B9D2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B37A7B7-D5C2-A50C-767D-C8BE6C3A30D6}"/>
              </a:ext>
            </a:extLst>
          </p:cNvPr>
          <p:cNvSpPr/>
          <p:nvPr/>
        </p:nvSpPr>
        <p:spPr>
          <a:xfrm>
            <a:off x="10123588" y="8203938"/>
            <a:ext cx="5586159" cy="1059639"/>
          </a:xfrm>
          <a:custGeom>
            <a:avLst/>
            <a:gdLst/>
            <a:ahLst/>
            <a:cxnLst/>
            <a:rect l="l" t="t" r="r" b="b"/>
            <a:pathLst>
              <a:path w="7315200" h="1865376">
                <a:moveTo>
                  <a:pt x="0" y="0"/>
                </a:moveTo>
                <a:lnTo>
                  <a:pt x="7315200" y="0"/>
                </a:lnTo>
                <a:lnTo>
                  <a:pt x="7315200" y="1865376"/>
                </a:lnTo>
                <a:lnTo>
                  <a:pt x="0" y="1865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10">
            <a:extLst>
              <a:ext uri="{FF2B5EF4-FFF2-40B4-BE49-F238E27FC236}">
                <a16:creationId xmlns:a16="http://schemas.microsoft.com/office/drawing/2014/main" id="{20116766-DBA0-63F8-E920-2A9FF5A80CDE}"/>
              </a:ext>
            </a:extLst>
          </p:cNvPr>
          <p:cNvGrpSpPr/>
          <p:nvPr/>
        </p:nvGrpSpPr>
        <p:grpSpPr>
          <a:xfrm rot="5400000">
            <a:off x="11785458" y="8665643"/>
            <a:ext cx="271085" cy="237199"/>
            <a:chOff x="0" y="0"/>
            <a:chExt cx="812800" cy="711200"/>
          </a:xfrm>
        </p:grpSpPr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3DF563E4-508A-82A7-B6D0-A098375ECA9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12">
              <a:extLst>
                <a:ext uri="{FF2B5EF4-FFF2-40B4-BE49-F238E27FC236}">
                  <a16:creationId xmlns:a16="http://schemas.microsoft.com/office/drawing/2014/main" id="{78E8CE21-3834-3B36-DA4D-49043168E209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3">
            <a:extLst>
              <a:ext uri="{FF2B5EF4-FFF2-40B4-BE49-F238E27FC236}">
                <a16:creationId xmlns:a16="http://schemas.microsoft.com/office/drawing/2014/main" id="{5403ED80-0E44-3935-CDFD-5A3F3FFA7805}"/>
              </a:ext>
            </a:extLst>
          </p:cNvPr>
          <p:cNvSpPr txBox="1"/>
          <p:nvPr/>
        </p:nvSpPr>
        <p:spPr>
          <a:xfrm>
            <a:off x="12248769" y="8496300"/>
            <a:ext cx="2283004" cy="425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kubectl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get svc</a:t>
            </a:r>
          </a:p>
        </p:txBody>
      </p:sp>
      <p:pic>
        <p:nvPicPr>
          <p:cNvPr id="3074" name="Picture 2" descr="Getting started with Kubernetes Services - Spectro Cloud">
            <a:extLst>
              <a:ext uri="{FF2B5EF4-FFF2-40B4-BE49-F238E27FC236}">
                <a16:creationId xmlns:a16="http://schemas.microsoft.com/office/drawing/2014/main" id="{9FD37638-F935-CDE0-3DAB-BF1432928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680" y="3071202"/>
            <a:ext cx="7051680" cy="496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CF617D-1EAA-1581-CC9C-843ABE99668F}"/>
              </a:ext>
            </a:extLst>
          </p:cNvPr>
          <p:cNvSpPr txBox="1"/>
          <p:nvPr/>
        </p:nvSpPr>
        <p:spPr>
          <a:xfrm>
            <a:off x="9471555" y="3059570"/>
            <a:ext cx="6777034" cy="1694566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stalna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IP </a:t>
            </a: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adresa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DNS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load balancing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05619-19C4-2CF3-8E66-3334D541A5A9}"/>
              </a:ext>
            </a:extLst>
          </p:cNvPr>
          <p:cNvSpPr txBox="1"/>
          <p:nvPr/>
        </p:nvSpPr>
        <p:spPr>
          <a:xfrm>
            <a:off x="9471555" y="5092656"/>
            <a:ext cx="6777034" cy="1694566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ClusterIP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NodePort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LoadBalancer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585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3608600"/>
            <a:chOff x="0" y="0"/>
            <a:chExt cx="4816593" cy="9504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950413"/>
            </a:xfrm>
            <a:custGeom>
              <a:avLst/>
              <a:gdLst/>
              <a:ahLst/>
              <a:cxnLst/>
              <a:rect l="l" t="t" r="r" b="b"/>
              <a:pathLst>
                <a:path w="4816592" h="950413">
                  <a:moveTo>
                    <a:pt x="0" y="0"/>
                  </a:moveTo>
                  <a:lnTo>
                    <a:pt x="4816592" y="0"/>
                  </a:lnTo>
                  <a:lnTo>
                    <a:pt x="4816592" y="950413"/>
                  </a:lnTo>
                  <a:lnTo>
                    <a:pt x="0" y="950413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99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04925" y="3851462"/>
            <a:ext cx="7315200" cy="1865376"/>
          </a:xfrm>
          <a:custGeom>
            <a:avLst/>
            <a:gdLst/>
            <a:ahLst/>
            <a:cxnLst/>
            <a:rect l="l" t="t" r="r" b="b"/>
            <a:pathLst>
              <a:path w="7315200" h="1865376">
                <a:moveTo>
                  <a:pt x="0" y="0"/>
                </a:moveTo>
                <a:lnTo>
                  <a:pt x="7315200" y="0"/>
                </a:lnTo>
                <a:lnTo>
                  <a:pt x="7315200" y="1865376"/>
                </a:lnTo>
                <a:lnTo>
                  <a:pt x="0" y="1865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04925" y="5945124"/>
            <a:ext cx="7315200" cy="1865376"/>
          </a:xfrm>
          <a:custGeom>
            <a:avLst/>
            <a:gdLst/>
            <a:ahLst/>
            <a:cxnLst/>
            <a:rect l="l" t="t" r="r" b="b"/>
            <a:pathLst>
              <a:path w="7315200" h="1865376">
                <a:moveTo>
                  <a:pt x="0" y="0"/>
                </a:moveTo>
                <a:lnTo>
                  <a:pt x="7315200" y="0"/>
                </a:lnTo>
                <a:lnTo>
                  <a:pt x="7315200" y="1865376"/>
                </a:lnTo>
                <a:lnTo>
                  <a:pt x="0" y="1865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461060" y="4421438"/>
            <a:ext cx="7315200" cy="1865376"/>
          </a:xfrm>
          <a:custGeom>
            <a:avLst/>
            <a:gdLst/>
            <a:ahLst/>
            <a:cxnLst/>
            <a:rect l="l" t="t" r="r" b="b"/>
            <a:pathLst>
              <a:path w="7315200" h="1865376">
                <a:moveTo>
                  <a:pt x="0" y="0"/>
                </a:moveTo>
                <a:lnTo>
                  <a:pt x="7315200" y="0"/>
                </a:lnTo>
                <a:lnTo>
                  <a:pt x="7315200" y="1865376"/>
                </a:lnTo>
                <a:lnTo>
                  <a:pt x="0" y="1865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461060" y="7096439"/>
            <a:ext cx="7315200" cy="1865376"/>
          </a:xfrm>
          <a:custGeom>
            <a:avLst/>
            <a:gdLst/>
            <a:ahLst/>
            <a:cxnLst/>
            <a:rect l="l" t="t" r="r" b="b"/>
            <a:pathLst>
              <a:path w="7315200" h="1865376">
                <a:moveTo>
                  <a:pt x="0" y="0"/>
                </a:moveTo>
                <a:lnTo>
                  <a:pt x="7315200" y="0"/>
                </a:lnTo>
                <a:lnTo>
                  <a:pt x="7315200" y="1865376"/>
                </a:lnTo>
                <a:lnTo>
                  <a:pt x="0" y="1865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2129017" y="4562678"/>
            <a:ext cx="506223" cy="442945"/>
            <a:chOff x="0" y="0"/>
            <a:chExt cx="8128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2129017" y="6656340"/>
            <a:ext cx="506223" cy="442945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10285152" y="5132654"/>
            <a:ext cx="506223" cy="442945"/>
            <a:chOff x="0" y="0"/>
            <a:chExt cx="8128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10285152" y="7807655"/>
            <a:ext cx="506223" cy="442945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5400000">
            <a:off x="13650019" y="-2325864"/>
            <a:ext cx="5316260" cy="4651728"/>
            <a:chOff x="0" y="0"/>
            <a:chExt cx="812800" cy="711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225943" y="0"/>
            <a:ext cx="4124114" cy="3608600"/>
            <a:chOff x="0" y="0"/>
            <a:chExt cx="812800" cy="711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910280" y="0"/>
            <a:ext cx="2062057" cy="1804300"/>
            <a:chOff x="0" y="0"/>
            <a:chExt cx="812800" cy="711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313628" y="1804300"/>
            <a:ext cx="1371338" cy="1199921"/>
            <a:chOff x="0" y="0"/>
            <a:chExt cx="812800" cy="711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999297" y="1028700"/>
            <a:ext cx="886400" cy="775600"/>
            <a:chOff x="0" y="0"/>
            <a:chExt cx="812800" cy="711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-10800000">
            <a:off x="12910280" y="1804300"/>
            <a:ext cx="2062057" cy="1804300"/>
            <a:chOff x="0" y="0"/>
            <a:chExt cx="812800" cy="711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-1820799" y="8496614"/>
            <a:ext cx="3641598" cy="4114800"/>
          </a:xfrm>
          <a:custGeom>
            <a:avLst/>
            <a:gdLst/>
            <a:ahLst/>
            <a:cxnLst/>
            <a:rect l="l" t="t" r="r" b="b"/>
            <a:pathLst>
              <a:path w="3641598" h="4114800">
                <a:moveTo>
                  <a:pt x="0" y="0"/>
                </a:moveTo>
                <a:lnTo>
                  <a:pt x="3641598" y="0"/>
                </a:lnTo>
                <a:lnTo>
                  <a:pt x="36415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-1964491" y="-2658130"/>
            <a:ext cx="5981356" cy="5662351"/>
          </a:xfrm>
          <a:custGeom>
            <a:avLst/>
            <a:gdLst/>
            <a:ahLst/>
            <a:cxnLst/>
            <a:rect l="l" t="t" r="r" b="b"/>
            <a:pathLst>
              <a:path w="5981356" h="5662351">
                <a:moveTo>
                  <a:pt x="0" y="0"/>
                </a:moveTo>
                <a:lnTo>
                  <a:pt x="5981356" y="0"/>
                </a:lnTo>
                <a:lnTo>
                  <a:pt x="5981356" y="5662351"/>
                </a:lnTo>
                <a:lnTo>
                  <a:pt x="0" y="56623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1649168" y="1385200"/>
            <a:ext cx="728298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2"/>
              </a:lnSpc>
            </a:pPr>
            <a:r>
              <a:rPr lang="en-US" sz="3502" b="1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OSNOVNE KUBECTL KOMANDE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016022" y="4531420"/>
            <a:ext cx="4512809" cy="44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  <a:spcBef>
                <a:spcPct val="0"/>
              </a:spcBef>
            </a:pP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kubectl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get -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Prikaz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resursa</a:t>
            </a:r>
            <a:endParaRPr lang="en-US" sz="2598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016022" y="6401689"/>
            <a:ext cx="4512809" cy="89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  <a:spcBef>
                <a:spcPct val="0"/>
              </a:spcBef>
            </a:pP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kubectl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describe -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Detalji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odredjenom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resursu</a:t>
            </a:r>
            <a:endParaRPr lang="en-US" sz="2598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1172157" y="4878003"/>
            <a:ext cx="4512809" cy="89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  <a:spcBef>
                <a:spcPct val="0"/>
              </a:spcBef>
            </a:pP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kubectl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apply -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Kreiranje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ili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azuriranje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resursa</a:t>
            </a:r>
            <a:endParaRPr lang="en-US" sz="2598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1172157" y="7553004"/>
            <a:ext cx="4512809" cy="89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  <a:spcBef>
                <a:spcPct val="0"/>
              </a:spcBef>
            </a:pP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kubectl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delete -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Uklanjanje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resursa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iz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klastera</a:t>
            </a:r>
            <a:endParaRPr lang="en-US" sz="2598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BCFE1043-EC34-C9B8-6798-856719F32762}"/>
              </a:ext>
            </a:extLst>
          </p:cNvPr>
          <p:cNvSpPr/>
          <p:nvPr/>
        </p:nvSpPr>
        <p:spPr>
          <a:xfrm>
            <a:off x="1235461" y="8059900"/>
            <a:ext cx="7315200" cy="1865376"/>
          </a:xfrm>
          <a:custGeom>
            <a:avLst/>
            <a:gdLst/>
            <a:ahLst/>
            <a:cxnLst/>
            <a:rect l="l" t="t" r="r" b="b"/>
            <a:pathLst>
              <a:path w="7315200" h="1865376">
                <a:moveTo>
                  <a:pt x="0" y="0"/>
                </a:moveTo>
                <a:lnTo>
                  <a:pt x="7315200" y="0"/>
                </a:lnTo>
                <a:lnTo>
                  <a:pt x="7315200" y="1865376"/>
                </a:lnTo>
                <a:lnTo>
                  <a:pt x="0" y="1865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8" name="Group 13">
            <a:extLst>
              <a:ext uri="{FF2B5EF4-FFF2-40B4-BE49-F238E27FC236}">
                <a16:creationId xmlns:a16="http://schemas.microsoft.com/office/drawing/2014/main" id="{996E1285-F602-F0CF-CA58-6E246EBDC29F}"/>
              </a:ext>
            </a:extLst>
          </p:cNvPr>
          <p:cNvGrpSpPr/>
          <p:nvPr/>
        </p:nvGrpSpPr>
        <p:grpSpPr>
          <a:xfrm rot="5400000">
            <a:off x="2059553" y="8771116"/>
            <a:ext cx="506223" cy="442945"/>
            <a:chOff x="0" y="0"/>
            <a:chExt cx="812800" cy="711200"/>
          </a:xfrm>
        </p:grpSpPr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244A85A8-4110-E7C3-0E27-D04412E12D3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15">
              <a:extLst>
                <a:ext uri="{FF2B5EF4-FFF2-40B4-BE49-F238E27FC236}">
                  <a16:creationId xmlns:a16="http://schemas.microsoft.com/office/drawing/2014/main" id="{B0EF58CE-1830-89B2-08A1-F47D97DFE16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1" name="TextBox 44">
            <a:extLst>
              <a:ext uri="{FF2B5EF4-FFF2-40B4-BE49-F238E27FC236}">
                <a16:creationId xmlns:a16="http://schemas.microsoft.com/office/drawing/2014/main" id="{370D7D1A-C64E-B73F-E680-114EBCEE4BA5}"/>
              </a:ext>
            </a:extLst>
          </p:cNvPr>
          <p:cNvSpPr txBox="1"/>
          <p:nvPr/>
        </p:nvSpPr>
        <p:spPr>
          <a:xfrm>
            <a:off x="2946558" y="8343900"/>
            <a:ext cx="4512809" cy="1355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7"/>
              </a:lnSpc>
              <a:spcBef>
                <a:spcPct val="0"/>
              </a:spcBef>
            </a:pP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kubectl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run my-web -image=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nginx:alpine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  <a:r>
              <a:rPr lang="en-US" sz="25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Starovanje</a:t>
            </a:r>
            <a:r>
              <a:rPr lang="en-US" sz="25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pod-a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285935" y="3955898"/>
            <a:ext cx="4447219" cy="1162404"/>
            <a:chOff x="0" y="0"/>
            <a:chExt cx="1171284" cy="3061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1284" cy="306148"/>
            </a:xfrm>
            <a:custGeom>
              <a:avLst/>
              <a:gdLst/>
              <a:ahLst/>
              <a:cxnLst/>
              <a:rect l="l" t="t" r="r" b="b"/>
              <a:pathLst>
                <a:path w="1171284" h="306148">
                  <a:moveTo>
                    <a:pt x="0" y="0"/>
                  </a:moveTo>
                  <a:lnTo>
                    <a:pt x="1171284" y="0"/>
                  </a:lnTo>
                  <a:lnTo>
                    <a:pt x="1171284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171284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85935" y="5419064"/>
            <a:ext cx="4447219" cy="1162404"/>
            <a:chOff x="0" y="0"/>
            <a:chExt cx="1171284" cy="3061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1284" cy="306148"/>
            </a:xfrm>
            <a:custGeom>
              <a:avLst/>
              <a:gdLst/>
              <a:ahLst/>
              <a:cxnLst/>
              <a:rect l="l" t="t" r="r" b="b"/>
              <a:pathLst>
                <a:path w="1171284" h="306148">
                  <a:moveTo>
                    <a:pt x="0" y="0"/>
                  </a:moveTo>
                  <a:lnTo>
                    <a:pt x="1171284" y="0"/>
                  </a:lnTo>
                  <a:lnTo>
                    <a:pt x="1171284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71284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285935" y="8248296"/>
            <a:ext cx="4447219" cy="1162404"/>
            <a:chOff x="0" y="0"/>
            <a:chExt cx="1171284" cy="3061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1284" cy="306148"/>
            </a:xfrm>
            <a:custGeom>
              <a:avLst/>
              <a:gdLst/>
              <a:ahLst/>
              <a:cxnLst/>
              <a:rect l="l" t="t" r="r" b="b"/>
              <a:pathLst>
                <a:path w="1171284" h="306148">
                  <a:moveTo>
                    <a:pt x="0" y="0"/>
                  </a:moveTo>
                  <a:lnTo>
                    <a:pt x="1171284" y="0"/>
                  </a:lnTo>
                  <a:lnTo>
                    <a:pt x="1171284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171284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-3531236" y="0"/>
            <a:ext cx="9119873" cy="10287000"/>
            <a:chOff x="0" y="0"/>
            <a:chExt cx="809976" cy="9136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09976" cy="913633"/>
            </a:xfrm>
            <a:custGeom>
              <a:avLst/>
              <a:gdLst/>
              <a:ahLst/>
              <a:cxnLst/>
              <a:rect l="l" t="t" r="r" b="b"/>
              <a:pathLst>
                <a:path w="809976" h="913633">
                  <a:moveTo>
                    <a:pt x="0" y="0"/>
                  </a:moveTo>
                  <a:lnTo>
                    <a:pt x="606776" y="0"/>
                  </a:lnTo>
                  <a:lnTo>
                    <a:pt x="809976" y="456817"/>
                  </a:lnTo>
                  <a:lnTo>
                    <a:pt x="606776" y="913633"/>
                  </a:lnTo>
                  <a:lnTo>
                    <a:pt x="0" y="913633"/>
                  </a:lnTo>
                  <a:lnTo>
                    <a:pt x="203200" y="456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800" y="-47625"/>
              <a:ext cx="555976" cy="961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792483" y="-774218"/>
            <a:ext cx="9502038" cy="8314283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blipFill>
              <a:blip r:embed="rId3"/>
              <a:stretch>
                <a:fillRect l="-4095" r="-409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568915" y="9119334"/>
            <a:ext cx="8986716" cy="2951504"/>
            <a:chOff x="0" y="0"/>
            <a:chExt cx="1237404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37404" cy="406400"/>
            </a:xfrm>
            <a:custGeom>
              <a:avLst/>
              <a:gdLst/>
              <a:ahLst/>
              <a:cxnLst/>
              <a:rect l="l" t="t" r="r" b="b"/>
              <a:pathLst>
                <a:path w="1237404" h="406400">
                  <a:moveTo>
                    <a:pt x="1034204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034204" y="406400"/>
                  </a:lnTo>
                  <a:lnTo>
                    <a:pt x="1237404" y="203200"/>
                  </a:lnTo>
                  <a:lnTo>
                    <a:pt x="1034204" y="0"/>
                  </a:lnTo>
                  <a:close/>
                </a:path>
              </a:pathLst>
            </a:custGeom>
            <a:ln w="38100" cap="sq">
              <a:solidFill>
                <a:srgbClr val="4949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400" y="-47625"/>
              <a:ext cx="932604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1065577" y="4402174"/>
            <a:ext cx="581892" cy="269853"/>
          </a:xfrm>
          <a:custGeom>
            <a:avLst/>
            <a:gdLst/>
            <a:ahLst/>
            <a:cxnLst/>
            <a:rect l="l" t="t" r="r" b="b"/>
            <a:pathLst>
              <a:path w="581892" h="269853">
                <a:moveTo>
                  <a:pt x="0" y="0"/>
                </a:moveTo>
                <a:lnTo>
                  <a:pt x="581893" y="0"/>
                </a:lnTo>
                <a:lnTo>
                  <a:pt x="581893" y="269852"/>
                </a:lnTo>
                <a:lnTo>
                  <a:pt x="0" y="269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1065577" y="5865340"/>
            <a:ext cx="581892" cy="269853"/>
          </a:xfrm>
          <a:custGeom>
            <a:avLst/>
            <a:gdLst/>
            <a:ahLst/>
            <a:cxnLst/>
            <a:rect l="l" t="t" r="r" b="b"/>
            <a:pathLst>
              <a:path w="581892" h="269853">
                <a:moveTo>
                  <a:pt x="0" y="0"/>
                </a:moveTo>
                <a:lnTo>
                  <a:pt x="581893" y="0"/>
                </a:lnTo>
                <a:lnTo>
                  <a:pt x="581893" y="269852"/>
                </a:lnTo>
                <a:lnTo>
                  <a:pt x="0" y="269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1065577" y="8694572"/>
            <a:ext cx="581892" cy="269853"/>
          </a:xfrm>
          <a:custGeom>
            <a:avLst/>
            <a:gdLst/>
            <a:ahLst/>
            <a:cxnLst/>
            <a:rect l="l" t="t" r="r" b="b"/>
            <a:pathLst>
              <a:path w="581892" h="269853">
                <a:moveTo>
                  <a:pt x="0" y="0"/>
                </a:moveTo>
                <a:lnTo>
                  <a:pt x="581893" y="0"/>
                </a:lnTo>
                <a:lnTo>
                  <a:pt x="581893" y="269853"/>
                </a:lnTo>
                <a:lnTo>
                  <a:pt x="0" y="269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-1629430" y="5941973"/>
            <a:ext cx="5316260" cy="4651728"/>
            <a:chOff x="0" y="0"/>
            <a:chExt cx="812800" cy="711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6954757" y="-273407"/>
            <a:ext cx="1404777" cy="960516"/>
          </a:xfrm>
          <a:custGeom>
            <a:avLst/>
            <a:gdLst/>
            <a:ahLst/>
            <a:cxnLst/>
            <a:rect l="l" t="t" r="r" b="b"/>
            <a:pathLst>
              <a:path w="1404777" h="960516">
                <a:moveTo>
                  <a:pt x="0" y="0"/>
                </a:moveTo>
                <a:lnTo>
                  <a:pt x="1404776" y="0"/>
                </a:lnTo>
                <a:lnTo>
                  <a:pt x="1404776" y="960516"/>
                </a:lnTo>
                <a:lnTo>
                  <a:pt x="0" y="960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1979892" y="4304867"/>
            <a:ext cx="4974864" cy="389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kubectl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run nginx --image=nginx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979892" y="5581801"/>
            <a:ext cx="4974864" cy="78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kubectl get pods, kubectl describe pod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78432" y="4318660"/>
            <a:ext cx="3577977" cy="389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 dirty="0" err="1">
                <a:solidFill>
                  <a:srgbClr val="2C38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Kreiranje</a:t>
            </a:r>
            <a:r>
              <a:rPr lang="en-US" sz="2298" b="1" dirty="0">
                <a:solidFill>
                  <a:srgbClr val="2C38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298" b="1" dirty="0" err="1">
                <a:solidFill>
                  <a:srgbClr val="2C38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prvog</a:t>
            </a:r>
            <a:r>
              <a:rPr lang="en-US" sz="2298" b="1" dirty="0">
                <a:solidFill>
                  <a:srgbClr val="2C38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pod-a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78432" y="5781826"/>
            <a:ext cx="3577977" cy="389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 dirty="0">
                <a:solidFill>
                  <a:srgbClr val="2C38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Provera </a:t>
            </a:r>
            <a:r>
              <a:rPr lang="en-US" sz="2298" b="1" dirty="0" err="1">
                <a:solidFill>
                  <a:srgbClr val="2C38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statusa</a:t>
            </a:r>
            <a:r>
              <a:rPr lang="en-US" sz="2298" b="1" dirty="0">
                <a:solidFill>
                  <a:srgbClr val="2C38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pod-a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85935" y="419100"/>
            <a:ext cx="7282980" cy="62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52"/>
              </a:lnSpc>
            </a:pPr>
            <a:r>
              <a:rPr lang="en-US" sz="4293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LAB VEZBE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979892" y="8642733"/>
            <a:ext cx="4974864" cy="389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kubectl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logs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78432" y="8611058"/>
            <a:ext cx="3577977" cy="389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 dirty="0">
                <a:solidFill>
                  <a:srgbClr val="2C38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Debug / </a:t>
            </a:r>
            <a:r>
              <a:rPr lang="en-US" sz="2298" b="1" dirty="0" err="1">
                <a:solidFill>
                  <a:srgbClr val="2C38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Logovi</a:t>
            </a:r>
            <a:endParaRPr lang="en-US" sz="2298" b="1" dirty="0">
              <a:solidFill>
                <a:srgbClr val="2C3849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40" name="Group 3">
            <a:extLst>
              <a:ext uri="{FF2B5EF4-FFF2-40B4-BE49-F238E27FC236}">
                <a16:creationId xmlns:a16="http://schemas.microsoft.com/office/drawing/2014/main" id="{C20536A7-FFB1-B383-E0F1-FE78EB69A621}"/>
              </a:ext>
            </a:extLst>
          </p:cNvPr>
          <p:cNvGrpSpPr/>
          <p:nvPr/>
        </p:nvGrpSpPr>
        <p:grpSpPr>
          <a:xfrm>
            <a:off x="6259978" y="2552700"/>
            <a:ext cx="4447219" cy="1162404"/>
            <a:chOff x="0" y="0"/>
            <a:chExt cx="1171284" cy="306148"/>
          </a:xfrm>
        </p:grpSpPr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1BC0D1E5-1DD9-C93D-01B8-5C82E19F3205}"/>
                </a:ext>
              </a:extLst>
            </p:cNvPr>
            <p:cNvSpPr/>
            <p:nvPr/>
          </p:nvSpPr>
          <p:spPr>
            <a:xfrm>
              <a:off x="0" y="0"/>
              <a:ext cx="1171284" cy="306148"/>
            </a:xfrm>
            <a:custGeom>
              <a:avLst/>
              <a:gdLst/>
              <a:ahLst/>
              <a:cxnLst/>
              <a:rect l="l" t="t" r="r" b="b"/>
              <a:pathLst>
                <a:path w="1171284" h="306148">
                  <a:moveTo>
                    <a:pt x="0" y="0"/>
                  </a:moveTo>
                  <a:lnTo>
                    <a:pt x="1171284" y="0"/>
                  </a:lnTo>
                  <a:lnTo>
                    <a:pt x="1171284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5">
              <a:extLst>
                <a:ext uri="{FF2B5EF4-FFF2-40B4-BE49-F238E27FC236}">
                  <a16:creationId xmlns:a16="http://schemas.microsoft.com/office/drawing/2014/main" id="{F2571D18-2F8A-1C54-32CA-9378695793D4}"/>
                </a:ext>
              </a:extLst>
            </p:cNvPr>
            <p:cNvSpPr txBox="1"/>
            <p:nvPr/>
          </p:nvSpPr>
          <p:spPr>
            <a:xfrm>
              <a:off x="0" y="-47625"/>
              <a:ext cx="1171284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29">
            <a:extLst>
              <a:ext uri="{FF2B5EF4-FFF2-40B4-BE49-F238E27FC236}">
                <a16:creationId xmlns:a16="http://schemas.microsoft.com/office/drawing/2014/main" id="{22774C85-6D55-BC0D-54C6-099D329EDCD5}"/>
              </a:ext>
            </a:extLst>
          </p:cNvPr>
          <p:cNvSpPr txBox="1"/>
          <p:nvPr/>
        </p:nvSpPr>
        <p:spPr>
          <a:xfrm>
            <a:off x="6852475" y="2915462"/>
            <a:ext cx="3577977" cy="389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 dirty="0" err="1">
                <a:solidFill>
                  <a:srgbClr val="2C38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Minikube</a:t>
            </a:r>
            <a:r>
              <a:rPr lang="en-US" sz="2298" b="1" dirty="0">
                <a:solidFill>
                  <a:srgbClr val="2C38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(local K8s)</a:t>
            </a:r>
          </a:p>
        </p:txBody>
      </p:sp>
      <p:sp>
        <p:nvSpPr>
          <p:cNvPr id="44" name="Freeform 20">
            <a:extLst>
              <a:ext uri="{FF2B5EF4-FFF2-40B4-BE49-F238E27FC236}">
                <a16:creationId xmlns:a16="http://schemas.microsoft.com/office/drawing/2014/main" id="{EA37A19D-7854-274D-F291-A0EA042F7B1B}"/>
              </a:ext>
            </a:extLst>
          </p:cNvPr>
          <p:cNvSpPr/>
          <p:nvPr/>
        </p:nvSpPr>
        <p:spPr>
          <a:xfrm>
            <a:off x="11065480" y="2975183"/>
            <a:ext cx="581892" cy="269853"/>
          </a:xfrm>
          <a:custGeom>
            <a:avLst/>
            <a:gdLst/>
            <a:ahLst/>
            <a:cxnLst/>
            <a:rect l="l" t="t" r="r" b="b"/>
            <a:pathLst>
              <a:path w="581892" h="269853">
                <a:moveTo>
                  <a:pt x="0" y="0"/>
                </a:moveTo>
                <a:lnTo>
                  <a:pt x="581893" y="0"/>
                </a:lnTo>
                <a:lnTo>
                  <a:pt x="581893" y="269852"/>
                </a:lnTo>
                <a:lnTo>
                  <a:pt x="0" y="269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27">
            <a:extLst>
              <a:ext uri="{FF2B5EF4-FFF2-40B4-BE49-F238E27FC236}">
                <a16:creationId xmlns:a16="http://schemas.microsoft.com/office/drawing/2014/main" id="{2F74E0DF-B7F2-614E-55B3-AD908CD1E654}"/>
              </a:ext>
            </a:extLst>
          </p:cNvPr>
          <p:cNvSpPr txBox="1"/>
          <p:nvPr/>
        </p:nvSpPr>
        <p:spPr>
          <a:xfrm>
            <a:off x="12005655" y="2923967"/>
            <a:ext cx="5625331" cy="383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Kreiranje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K8s lab-a</a:t>
            </a:r>
          </a:p>
        </p:txBody>
      </p:sp>
      <p:grpSp>
        <p:nvGrpSpPr>
          <p:cNvPr id="46" name="Group 6">
            <a:extLst>
              <a:ext uri="{FF2B5EF4-FFF2-40B4-BE49-F238E27FC236}">
                <a16:creationId xmlns:a16="http://schemas.microsoft.com/office/drawing/2014/main" id="{2F995D6A-B2DF-F3B5-0A72-60004A0E28E8}"/>
              </a:ext>
            </a:extLst>
          </p:cNvPr>
          <p:cNvGrpSpPr/>
          <p:nvPr/>
        </p:nvGrpSpPr>
        <p:grpSpPr>
          <a:xfrm>
            <a:off x="6285935" y="6814653"/>
            <a:ext cx="4447219" cy="1162404"/>
            <a:chOff x="0" y="0"/>
            <a:chExt cx="1171284" cy="306148"/>
          </a:xfrm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690D91D0-47A9-F072-EE10-20A931CE1ED7}"/>
                </a:ext>
              </a:extLst>
            </p:cNvPr>
            <p:cNvSpPr/>
            <p:nvPr/>
          </p:nvSpPr>
          <p:spPr>
            <a:xfrm>
              <a:off x="0" y="0"/>
              <a:ext cx="1171284" cy="306148"/>
            </a:xfrm>
            <a:custGeom>
              <a:avLst/>
              <a:gdLst/>
              <a:ahLst/>
              <a:cxnLst/>
              <a:rect l="l" t="t" r="r" b="b"/>
              <a:pathLst>
                <a:path w="1171284" h="306148">
                  <a:moveTo>
                    <a:pt x="0" y="0"/>
                  </a:moveTo>
                  <a:lnTo>
                    <a:pt x="1171284" y="0"/>
                  </a:lnTo>
                  <a:lnTo>
                    <a:pt x="1171284" y="306148"/>
                  </a:lnTo>
                  <a:lnTo>
                    <a:pt x="0" y="306148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8">
              <a:extLst>
                <a:ext uri="{FF2B5EF4-FFF2-40B4-BE49-F238E27FC236}">
                  <a16:creationId xmlns:a16="http://schemas.microsoft.com/office/drawing/2014/main" id="{4A3EBC82-3DEE-353B-D5D2-30D2AACEDE52}"/>
                </a:ext>
              </a:extLst>
            </p:cNvPr>
            <p:cNvSpPr txBox="1"/>
            <p:nvPr/>
          </p:nvSpPr>
          <p:spPr>
            <a:xfrm>
              <a:off x="0" y="-47625"/>
              <a:ext cx="1171284" cy="3537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9" name="TextBox 30">
            <a:extLst>
              <a:ext uri="{FF2B5EF4-FFF2-40B4-BE49-F238E27FC236}">
                <a16:creationId xmlns:a16="http://schemas.microsoft.com/office/drawing/2014/main" id="{2ADECB8B-25B7-6601-81EE-7171F893BD02}"/>
              </a:ext>
            </a:extLst>
          </p:cNvPr>
          <p:cNvSpPr txBox="1"/>
          <p:nvPr/>
        </p:nvSpPr>
        <p:spPr>
          <a:xfrm>
            <a:off x="6878432" y="7177415"/>
            <a:ext cx="3577977" cy="389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 dirty="0" err="1">
                <a:solidFill>
                  <a:srgbClr val="2C384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OpenLans</a:t>
            </a:r>
            <a:endParaRPr lang="en-US" sz="2298" b="1" dirty="0">
              <a:solidFill>
                <a:srgbClr val="2C3849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50" name="Freeform 20">
            <a:extLst>
              <a:ext uri="{FF2B5EF4-FFF2-40B4-BE49-F238E27FC236}">
                <a16:creationId xmlns:a16="http://schemas.microsoft.com/office/drawing/2014/main" id="{C99000C2-D71A-049C-EA91-BEFE02D76F59}"/>
              </a:ext>
            </a:extLst>
          </p:cNvPr>
          <p:cNvSpPr/>
          <p:nvPr/>
        </p:nvSpPr>
        <p:spPr>
          <a:xfrm>
            <a:off x="11095763" y="7296771"/>
            <a:ext cx="581892" cy="269853"/>
          </a:xfrm>
          <a:custGeom>
            <a:avLst/>
            <a:gdLst/>
            <a:ahLst/>
            <a:cxnLst/>
            <a:rect l="l" t="t" r="r" b="b"/>
            <a:pathLst>
              <a:path w="581892" h="269853">
                <a:moveTo>
                  <a:pt x="0" y="0"/>
                </a:moveTo>
                <a:lnTo>
                  <a:pt x="581893" y="0"/>
                </a:lnTo>
                <a:lnTo>
                  <a:pt x="581893" y="269852"/>
                </a:lnTo>
                <a:lnTo>
                  <a:pt x="0" y="269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TextBox 27">
            <a:extLst>
              <a:ext uri="{FF2B5EF4-FFF2-40B4-BE49-F238E27FC236}">
                <a16:creationId xmlns:a16="http://schemas.microsoft.com/office/drawing/2014/main" id="{606E040A-AD08-788D-333B-46BF1479D3AE}"/>
              </a:ext>
            </a:extLst>
          </p:cNvPr>
          <p:cNvSpPr txBox="1"/>
          <p:nvPr/>
        </p:nvSpPr>
        <p:spPr>
          <a:xfrm>
            <a:off x="12001809" y="7229027"/>
            <a:ext cx="5625331" cy="383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Povezivanje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298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8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klaster</a:t>
            </a:r>
            <a:endParaRPr lang="en-US" sz="2298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29427-DB9B-08B1-96F3-EE83739F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>
            <a:extLst>
              <a:ext uri="{FF2B5EF4-FFF2-40B4-BE49-F238E27FC236}">
                <a16:creationId xmlns:a16="http://schemas.microsoft.com/office/drawing/2014/main" id="{C4F021C6-42C1-AA90-45F9-4B5922136CA9}"/>
              </a:ext>
            </a:extLst>
          </p:cNvPr>
          <p:cNvGrpSpPr/>
          <p:nvPr/>
        </p:nvGrpSpPr>
        <p:grpSpPr>
          <a:xfrm rot="-10800000">
            <a:off x="-3531236" y="0"/>
            <a:ext cx="9119873" cy="10287000"/>
            <a:chOff x="0" y="0"/>
            <a:chExt cx="809976" cy="91363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C3F58EF-495B-7809-6999-345F68AB4F2F}"/>
                </a:ext>
              </a:extLst>
            </p:cNvPr>
            <p:cNvSpPr/>
            <p:nvPr/>
          </p:nvSpPr>
          <p:spPr>
            <a:xfrm>
              <a:off x="0" y="0"/>
              <a:ext cx="809976" cy="913633"/>
            </a:xfrm>
            <a:custGeom>
              <a:avLst/>
              <a:gdLst/>
              <a:ahLst/>
              <a:cxnLst/>
              <a:rect l="l" t="t" r="r" b="b"/>
              <a:pathLst>
                <a:path w="809976" h="913633">
                  <a:moveTo>
                    <a:pt x="0" y="0"/>
                  </a:moveTo>
                  <a:lnTo>
                    <a:pt x="606776" y="0"/>
                  </a:lnTo>
                  <a:lnTo>
                    <a:pt x="809976" y="456817"/>
                  </a:lnTo>
                  <a:lnTo>
                    <a:pt x="606776" y="913633"/>
                  </a:lnTo>
                  <a:lnTo>
                    <a:pt x="0" y="913633"/>
                  </a:lnTo>
                  <a:lnTo>
                    <a:pt x="203200" y="456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2CA9A05B-FFD9-B6DF-FDF9-ECBAD33E9B55}"/>
                </a:ext>
              </a:extLst>
            </p:cNvPr>
            <p:cNvSpPr txBox="1"/>
            <p:nvPr/>
          </p:nvSpPr>
          <p:spPr>
            <a:xfrm>
              <a:off x="177800" y="-47625"/>
              <a:ext cx="555976" cy="961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A0BC6A7B-6633-51FA-055B-AE1A154C4A02}"/>
              </a:ext>
            </a:extLst>
          </p:cNvPr>
          <p:cNvGrpSpPr/>
          <p:nvPr/>
        </p:nvGrpSpPr>
        <p:grpSpPr>
          <a:xfrm>
            <a:off x="-2792483" y="-774218"/>
            <a:ext cx="9502038" cy="8314283"/>
            <a:chOff x="0" y="0"/>
            <a:chExt cx="812800" cy="7112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2264F33-D91D-EFFD-8671-85D21A24AB7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blipFill>
              <a:blip r:embed="rId3"/>
              <a:stretch>
                <a:fillRect l="-4095" r="-409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7CD6C56-FD64-1FCD-34A6-97911A4C3A6F}"/>
              </a:ext>
            </a:extLst>
          </p:cNvPr>
          <p:cNvGrpSpPr/>
          <p:nvPr/>
        </p:nvGrpSpPr>
        <p:grpSpPr>
          <a:xfrm>
            <a:off x="13568915" y="9119334"/>
            <a:ext cx="8986716" cy="2951504"/>
            <a:chOff x="0" y="0"/>
            <a:chExt cx="1237404" cy="4064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8234629-D07A-532F-469A-3A890CDAF5C9}"/>
                </a:ext>
              </a:extLst>
            </p:cNvPr>
            <p:cNvSpPr/>
            <p:nvPr/>
          </p:nvSpPr>
          <p:spPr>
            <a:xfrm>
              <a:off x="0" y="0"/>
              <a:ext cx="1237404" cy="406400"/>
            </a:xfrm>
            <a:custGeom>
              <a:avLst/>
              <a:gdLst/>
              <a:ahLst/>
              <a:cxnLst/>
              <a:rect l="l" t="t" r="r" b="b"/>
              <a:pathLst>
                <a:path w="1237404" h="406400">
                  <a:moveTo>
                    <a:pt x="1034204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034204" y="406400"/>
                  </a:lnTo>
                  <a:lnTo>
                    <a:pt x="1237404" y="203200"/>
                  </a:lnTo>
                  <a:lnTo>
                    <a:pt x="1034204" y="0"/>
                  </a:lnTo>
                  <a:close/>
                </a:path>
              </a:pathLst>
            </a:custGeom>
            <a:ln w="38100" cap="sq">
              <a:solidFill>
                <a:srgbClr val="4949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3395CF2-986C-9829-B6BB-21D01A2FF61C}"/>
                </a:ext>
              </a:extLst>
            </p:cNvPr>
            <p:cNvSpPr txBox="1"/>
            <p:nvPr/>
          </p:nvSpPr>
          <p:spPr>
            <a:xfrm>
              <a:off x="152400" y="-47625"/>
              <a:ext cx="932604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C30899C4-FEA1-217B-962C-CEB1FD226369}"/>
              </a:ext>
            </a:extLst>
          </p:cNvPr>
          <p:cNvGrpSpPr/>
          <p:nvPr/>
        </p:nvGrpSpPr>
        <p:grpSpPr>
          <a:xfrm>
            <a:off x="-1629430" y="5941973"/>
            <a:ext cx="5316260" cy="4651728"/>
            <a:chOff x="0" y="0"/>
            <a:chExt cx="812800" cy="7112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D5391367-9C06-0A33-3A98-A400EB307E6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D490402D-2666-F293-A2A1-77A7061C659E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4D400A29-809B-726B-5BF2-7765BA7A2098}"/>
              </a:ext>
            </a:extLst>
          </p:cNvPr>
          <p:cNvSpPr/>
          <p:nvPr/>
        </p:nvSpPr>
        <p:spPr>
          <a:xfrm>
            <a:off x="16954757" y="-273407"/>
            <a:ext cx="1404777" cy="960516"/>
          </a:xfrm>
          <a:custGeom>
            <a:avLst/>
            <a:gdLst/>
            <a:ahLst/>
            <a:cxnLst/>
            <a:rect l="l" t="t" r="r" b="b"/>
            <a:pathLst>
              <a:path w="1404777" h="960516">
                <a:moveTo>
                  <a:pt x="0" y="0"/>
                </a:moveTo>
                <a:lnTo>
                  <a:pt x="1404776" y="0"/>
                </a:lnTo>
                <a:lnTo>
                  <a:pt x="1404776" y="960516"/>
                </a:lnTo>
                <a:lnTo>
                  <a:pt x="0" y="960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23470791-06D9-BDFF-B01C-E64D47639848}"/>
              </a:ext>
            </a:extLst>
          </p:cNvPr>
          <p:cNvSpPr txBox="1"/>
          <p:nvPr/>
        </p:nvSpPr>
        <p:spPr>
          <a:xfrm>
            <a:off x="6285935" y="114300"/>
            <a:ext cx="7282980" cy="1293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52"/>
              </a:lnSpc>
            </a:pPr>
            <a:r>
              <a:rPr lang="en-US" sz="4293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LAB VEZBE - </a:t>
            </a:r>
            <a:r>
              <a:rPr lang="en-US" sz="4293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Minikube</a:t>
            </a:r>
            <a:r>
              <a:rPr lang="en-US" sz="4293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- </a:t>
            </a:r>
            <a:r>
              <a:rPr lang="en-US" sz="4293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Klaster</a:t>
            </a:r>
            <a:r>
              <a:rPr lang="en-US" sz="4293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u tri </a:t>
            </a:r>
            <a:r>
              <a:rPr lang="en-US" sz="4293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koraka</a:t>
            </a:r>
            <a:r>
              <a:rPr lang="en-US" sz="4293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</a:p>
        </p:txBody>
      </p:sp>
      <p:pic>
        <p:nvPicPr>
          <p:cNvPr id="4098" name="Picture 2" descr="Test/Local &#10;Cluster Setup &#10;Master and Node processes &#10;run on ONE machine &#10;Api Server &#10;Api Server &#10;Scheduler &#10;Scheduler &#10;Master processes &#10;Controller &#10;Controller &#10;Manager &#10;Manager &#10;etcd &#10;Leted &#10;Master &#10;Master &#10;POD &#10;POD &#10;POD &#10;POD &#10;Worker processes &#10;POD &#10;POD &#10;POD &#10;POD &#10;POD POD &#10;POD &#10;POD &#10;POC &#10;POD &#10;POD &#10;POD &#10;Node &#10;Node &#10;Node &#10;Node &#10;Node &#10;minikube ">
            <a:extLst>
              <a:ext uri="{FF2B5EF4-FFF2-40B4-BE49-F238E27FC236}">
                <a16:creationId xmlns:a16="http://schemas.microsoft.com/office/drawing/2014/main" id="{90645232-0292-C83D-673C-4498E4BF4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391" y="1546843"/>
            <a:ext cx="11519748" cy="649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5ED78E7-C8E7-3BCD-E4FB-3B850421195F}"/>
              </a:ext>
            </a:extLst>
          </p:cNvPr>
          <p:cNvSpPr txBox="1"/>
          <p:nvPr/>
        </p:nvSpPr>
        <p:spPr>
          <a:xfrm>
            <a:off x="6327391" y="8437169"/>
            <a:ext cx="6777034" cy="1569660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https://minikube.sigs.k8s.io/docs/</a:t>
            </a:r>
            <a:r>
              <a:rPr lang="en-US" sz="2400" dirty="0">
                <a:solidFill>
                  <a:schemeClr val="bg1"/>
                </a:solidFill>
              </a:rPr>
              <a:t> -&gt; Get Started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winget</a:t>
            </a:r>
            <a:r>
              <a:rPr lang="en-US" sz="2400" dirty="0">
                <a:solidFill>
                  <a:schemeClr val="bg1"/>
                </a:solidFill>
              </a:rPr>
              <a:t> install -e --id </a:t>
            </a:r>
            <a:r>
              <a:rPr lang="en-US" sz="2400" dirty="0" err="1">
                <a:solidFill>
                  <a:schemeClr val="bg1"/>
                </a:solidFill>
              </a:rPr>
              <a:t>Kubernetes.kubectl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minikube</a:t>
            </a:r>
            <a:r>
              <a:rPr lang="en-US" sz="2400" dirty="0">
                <a:solidFill>
                  <a:schemeClr val="bg1"/>
                </a:solidFill>
              </a:rPr>
              <a:t> start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cluster-info</a:t>
            </a:r>
          </a:p>
        </p:txBody>
      </p:sp>
    </p:spTree>
    <p:extLst>
      <p:ext uri="{BB962C8B-B14F-4D97-AF65-F5344CB8AC3E}">
        <p14:creationId xmlns:p14="http://schemas.microsoft.com/office/powerpoint/2010/main" val="3577545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B1412-4304-50CC-491B-89E40588B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>
            <a:extLst>
              <a:ext uri="{FF2B5EF4-FFF2-40B4-BE49-F238E27FC236}">
                <a16:creationId xmlns:a16="http://schemas.microsoft.com/office/drawing/2014/main" id="{99959ED2-7C59-1531-C987-34A5ED724A81}"/>
              </a:ext>
            </a:extLst>
          </p:cNvPr>
          <p:cNvGrpSpPr/>
          <p:nvPr/>
        </p:nvGrpSpPr>
        <p:grpSpPr>
          <a:xfrm rot="-10800000">
            <a:off x="-3531236" y="0"/>
            <a:ext cx="9119873" cy="10287000"/>
            <a:chOff x="0" y="0"/>
            <a:chExt cx="809976" cy="91363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D7A0821-8384-B57A-AF31-CCB3855F23AB}"/>
                </a:ext>
              </a:extLst>
            </p:cNvPr>
            <p:cNvSpPr/>
            <p:nvPr/>
          </p:nvSpPr>
          <p:spPr>
            <a:xfrm>
              <a:off x="0" y="0"/>
              <a:ext cx="809976" cy="913633"/>
            </a:xfrm>
            <a:custGeom>
              <a:avLst/>
              <a:gdLst/>
              <a:ahLst/>
              <a:cxnLst/>
              <a:rect l="l" t="t" r="r" b="b"/>
              <a:pathLst>
                <a:path w="809976" h="913633">
                  <a:moveTo>
                    <a:pt x="0" y="0"/>
                  </a:moveTo>
                  <a:lnTo>
                    <a:pt x="606776" y="0"/>
                  </a:lnTo>
                  <a:lnTo>
                    <a:pt x="809976" y="456817"/>
                  </a:lnTo>
                  <a:lnTo>
                    <a:pt x="606776" y="913633"/>
                  </a:lnTo>
                  <a:lnTo>
                    <a:pt x="0" y="913633"/>
                  </a:lnTo>
                  <a:lnTo>
                    <a:pt x="203200" y="456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F9A44E2E-DF31-CF00-307E-0D13152B996C}"/>
                </a:ext>
              </a:extLst>
            </p:cNvPr>
            <p:cNvSpPr txBox="1"/>
            <p:nvPr/>
          </p:nvSpPr>
          <p:spPr>
            <a:xfrm>
              <a:off x="177800" y="-47625"/>
              <a:ext cx="555976" cy="961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1CFE9D9-20E4-0043-E4D8-364435A4213B}"/>
              </a:ext>
            </a:extLst>
          </p:cNvPr>
          <p:cNvGrpSpPr/>
          <p:nvPr/>
        </p:nvGrpSpPr>
        <p:grpSpPr>
          <a:xfrm>
            <a:off x="-2792483" y="-774218"/>
            <a:ext cx="9502038" cy="8314283"/>
            <a:chOff x="0" y="0"/>
            <a:chExt cx="812800" cy="7112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0C71E03-938A-928E-8AED-3C4179CF637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blipFill>
              <a:blip r:embed="rId3"/>
              <a:stretch>
                <a:fillRect l="-4095" r="-409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9D4740C-02A4-6153-9577-00FE39EEF00D}"/>
              </a:ext>
            </a:extLst>
          </p:cNvPr>
          <p:cNvGrpSpPr/>
          <p:nvPr/>
        </p:nvGrpSpPr>
        <p:grpSpPr>
          <a:xfrm>
            <a:off x="13568915" y="9119334"/>
            <a:ext cx="8986716" cy="2951504"/>
            <a:chOff x="0" y="0"/>
            <a:chExt cx="1237404" cy="4064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A17D46E-63FC-2C90-7C00-F2DD7497E2FE}"/>
                </a:ext>
              </a:extLst>
            </p:cNvPr>
            <p:cNvSpPr/>
            <p:nvPr/>
          </p:nvSpPr>
          <p:spPr>
            <a:xfrm>
              <a:off x="0" y="0"/>
              <a:ext cx="1237404" cy="406400"/>
            </a:xfrm>
            <a:custGeom>
              <a:avLst/>
              <a:gdLst/>
              <a:ahLst/>
              <a:cxnLst/>
              <a:rect l="l" t="t" r="r" b="b"/>
              <a:pathLst>
                <a:path w="1237404" h="406400">
                  <a:moveTo>
                    <a:pt x="1034204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034204" y="406400"/>
                  </a:lnTo>
                  <a:lnTo>
                    <a:pt x="1237404" y="203200"/>
                  </a:lnTo>
                  <a:lnTo>
                    <a:pt x="1034204" y="0"/>
                  </a:lnTo>
                  <a:close/>
                </a:path>
              </a:pathLst>
            </a:custGeom>
            <a:ln w="38100" cap="sq">
              <a:solidFill>
                <a:srgbClr val="4949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8AB835E-5663-A652-8662-69C9C2465093}"/>
                </a:ext>
              </a:extLst>
            </p:cNvPr>
            <p:cNvSpPr txBox="1"/>
            <p:nvPr/>
          </p:nvSpPr>
          <p:spPr>
            <a:xfrm>
              <a:off x="152400" y="-47625"/>
              <a:ext cx="932604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89A59EA9-4758-5299-F4C5-7084E331B2E6}"/>
              </a:ext>
            </a:extLst>
          </p:cNvPr>
          <p:cNvGrpSpPr/>
          <p:nvPr/>
        </p:nvGrpSpPr>
        <p:grpSpPr>
          <a:xfrm>
            <a:off x="-1629430" y="5941973"/>
            <a:ext cx="5316260" cy="4651728"/>
            <a:chOff x="0" y="0"/>
            <a:chExt cx="812800" cy="7112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B8406F1-E086-7CC2-CE61-67F79B5A41C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4C58AF2-64C3-0AF6-89BF-331EF7BE7B4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D1AC36FC-B234-4B61-1887-0841908ADC84}"/>
              </a:ext>
            </a:extLst>
          </p:cNvPr>
          <p:cNvSpPr/>
          <p:nvPr/>
        </p:nvSpPr>
        <p:spPr>
          <a:xfrm>
            <a:off x="16954757" y="-273407"/>
            <a:ext cx="1404777" cy="960516"/>
          </a:xfrm>
          <a:custGeom>
            <a:avLst/>
            <a:gdLst/>
            <a:ahLst/>
            <a:cxnLst/>
            <a:rect l="l" t="t" r="r" b="b"/>
            <a:pathLst>
              <a:path w="1404777" h="960516">
                <a:moveTo>
                  <a:pt x="0" y="0"/>
                </a:moveTo>
                <a:lnTo>
                  <a:pt x="1404776" y="0"/>
                </a:lnTo>
                <a:lnTo>
                  <a:pt x="1404776" y="960516"/>
                </a:lnTo>
                <a:lnTo>
                  <a:pt x="0" y="960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CA72836-5DA8-F107-00FF-15D506AEA6E6}"/>
              </a:ext>
            </a:extLst>
          </p:cNvPr>
          <p:cNvSpPr txBox="1"/>
          <p:nvPr/>
        </p:nvSpPr>
        <p:spPr>
          <a:xfrm>
            <a:off x="6285935" y="190500"/>
            <a:ext cx="7282980" cy="1293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52"/>
              </a:lnSpc>
            </a:pPr>
            <a:r>
              <a:rPr lang="en-US" sz="4293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LAB VEZBE - K8s </a:t>
            </a:r>
            <a:r>
              <a:rPr lang="en-US" sz="4293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realni</a:t>
            </a:r>
            <a:r>
              <a:rPr lang="en-US" sz="4293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scenario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8A9F1E-731D-E1F4-C535-03483978F9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165" y="1637118"/>
            <a:ext cx="12914564" cy="860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07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ADDE2-73AE-8AC7-DA89-A1069C31E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>
            <a:extLst>
              <a:ext uri="{FF2B5EF4-FFF2-40B4-BE49-F238E27FC236}">
                <a16:creationId xmlns:a16="http://schemas.microsoft.com/office/drawing/2014/main" id="{80726D3B-A408-A85A-A352-FA111A936023}"/>
              </a:ext>
            </a:extLst>
          </p:cNvPr>
          <p:cNvGrpSpPr/>
          <p:nvPr/>
        </p:nvGrpSpPr>
        <p:grpSpPr>
          <a:xfrm rot="-10800000">
            <a:off x="-3531236" y="0"/>
            <a:ext cx="9119873" cy="10287000"/>
            <a:chOff x="0" y="0"/>
            <a:chExt cx="809976" cy="91363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29DCD45-4EF6-CCFD-015D-16212A14A3DB}"/>
                </a:ext>
              </a:extLst>
            </p:cNvPr>
            <p:cNvSpPr/>
            <p:nvPr/>
          </p:nvSpPr>
          <p:spPr>
            <a:xfrm>
              <a:off x="0" y="0"/>
              <a:ext cx="809976" cy="913633"/>
            </a:xfrm>
            <a:custGeom>
              <a:avLst/>
              <a:gdLst/>
              <a:ahLst/>
              <a:cxnLst/>
              <a:rect l="l" t="t" r="r" b="b"/>
              <a:pathLst>
                <a:path w="809976" h="913633">
                  <a:moveTo>
                    <a:pt x="0" y="0"/>
                  </a:moveTo>
                  <a:lnTo>
                    <a:pt x="606776" y="0"/>
                  </a:lnTo>
                  <a:lnTo>
                    <a:pt x="809976" y="456817"/>
                  </a:lnTo>
                  <a:lnTo>
                    <a:pt x="606776" y="913633"/>
                  </a:lnTo>
                  <a:lnTo>
                    <a:pt x="0" y="913633"/>
                  </a:lnTo>
                  <a:lnTo>
                    <a:pt x="203200" y="456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829B9C43-B64F-C190-80E7-FB463EE279CC}"/>
                </a:ext>
              </a:extLst>
            </p:cNvPr>
            <p:cNvSpPr txBox="1"/>
            <p:nvPr/>
          </p:nvSpPr>
          <p:spPr>
            <a:xfrm>
              <a:off x="177800" y="-47625"/>
              <a:ext cx="555976" cy="961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8D048FFA-F652-FA35-02DC-57D9F4488BF8}"/>
              </a:ext>
            </a:extLst>
          </p:cNvPr>
          <p:cNvGrpSpPr/>
          <p:nvPr/>
        </p:nvGrpSpPr>
        <p:grpSpPr>
          <a:xfrm>
            <a:off x="-2792483" y="-774218"/>
            <a:ext cx="9502038" cy="8314283"/>
            <a:chOff x="0" y="0"/>
            <a:chExt cx="812800" cy="7112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85E9D6C-09B5-EE3F-1399-B297B4D7A9A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blipFill>
              <a:blip r:embed="rId3"/>
              <a:stretch>
                <a:fillRect l="-4095" r="-409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DB22147-FB4A-08BE-8576-C3069E618ED2}"/>
              </a:ext>
            </a:extLst>
          </p:cNvPr>
          <p:cNvGrpSpPr/>
          <p:nvPr/>
        </p:nvGrpSpPr>
        <p:grpSpPr>
          <a:xfrm>
            <a:off x="13568915" y="9119334"/>
            <a:ext cx="8986716" cy="2951504"/>
            <a:chOff x="0" y="0"/>
            <a:chExt cx="1237404" cy="4064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44BFAEA-1D4F-540E-DA0F-FF18476B6227}"/>
                </a:ext>
              </a:extLst>
            </p:cNvPr>
            <p:cNvSpPr/>
            <p:nvPr/>
          </p:nvSpPr>
          <p:spPr>
            <a:xfrm>
              <a:off x="0" y="0"/>
              <a:ext cx="1237404" cy="406400"/>
            </a:xfrm>
            <a:custGeom>
              <a:avLst/>
              <a:gdLst/>
              <a:ahLst/>
              <a:cxnLst/>
              <a:rect l="l" t="t" r="r" b="b"/>
              <a:pathLst>
                <a:path w="1237404" h="406400">
                  <a:moveTo>
                    <a:pt x="1034204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034204" y="406400"/>
                  </a:lnTo>
                  <a:lnTo>
                    <a:pt x="1237404" y="203200"/>
                  </a:lnTo>
                  <a:lnTo>
                    <a:pt x="1034204" y="0"/>
                  </a:lnTo>
                  <a:close/>
                </a:path>
              </a:pathLst>
            </a:custGeom>
            <a:ln w="38100" cap="sq">
              <a:solidFill>
                <a:srgbClr val="4949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0AFAA89-D2BF-79E1-5169-44F64FF13A0B}"/>
                </a:ext>
              </a:extLst>
            </p:cNvPr>
            <p:cNvSpPr txBox="1"/>
            <p:nvPr/>
          </p:nvSpPr>
          <p:spPr>
            <a:xfrm>
              <a:off x="152400" y="-47625"/>
              <a:ext cx="932604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0A757691-F7FD-F249-9198-9048709D2969}"/>
              </a:ext>
            </a:extLst>
          </p:cNvPr>
          <p:cNvGrpSpPr/>
          <p:nvPr/>
        </p:nvGrpSpPr>
        <p:grpSpPr>
          <a:xfrm>
            <a:off x="-1629430" y="5941973"/>
            <a:ext cx="5316260" cy="4651728"/>
            <a:chOff x="0" y="0"/>
            <a:chExt cx="812800" cy="7112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D0503345-BA96-8936-F4CF-C41994C88F3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B71472F7-508E-3ED3-DCD3-FA112E892C4B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5EAE40F8-2977-2843-8287-D4A905C6B94C}"/>
              </a:ext>
            </a:extLst>
          </p:cNvPr>
          <p:cNvSpPr/>
          <p:nvPr/>
        </p:nvSpPr>
        <p:spPr>
          <a:xfrm>
            <a:off x="16954757" y="-273407"/>
            <a:ext cx="1404777" cy="960516"/>
          </a:xfrm>
          <a:custGeom>
            <a:avLst/>
            <a:gdLst/>
            <a:ahLst/>
            <a:cxnLst/>
            <a:rect l="l" t="t" r="r" b="b"/>
            <a:pathLst>
              <a:path w="1404777" h="960516">
                <a:moveTo>
                  <a:pt x="0" y="0"/>
                </a:moveTo>
                <a:lnTo>
                  <a:pt x="1404776" y="0"/>
                </a:lnTo>
                <a:lnTo>
                  <a:pt x="1404776" y="960516"/>
                </a:lnTo>
                <a:lnTo>
                  <a:pt x="0" y="960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42802208-F346-CE84-CE7B-EEDBCA6A8060}"/>
              </a:ext>
            </a:extLst>
          </p:cNvPr>
          <p:cNvSpPr txBox="1"/>
          <p:nvPr/>
        </p:nvSpPr>
        <p:spPr>
          <a:xfrm>
            <a:off x="5922046" y="1482955"/>
            <a:ext cx="7282980" cy="62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52"/>
              </a:lnSpc>
            </a:pPr>
            <a:r>
              <a:rPr lang="en-US" sz="4293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LAB VEZBE - Prvi pod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7E3D3D-7223-F836-0E70-AF81D1CCABFC}"/>
              </a:ext>
            </a:extLst>
          </p:cNvPr>
          <p:cNvSpPr txBox="1"/>
          <p:nvPr/>
        </p:nvSpPr>
        <p:spPr>
          <a:xfrm>
            <a:off x="-684542" y="2636867"/>
            <a:ext cx="8780934" cy="3416320"/>
          </a:xfrm>
          <a:prstGeom prst="rect">
            <a:avLst/>
          </a:prstGeom>
          <a:solidFill>
            <a:srgbClr val="222733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run my-nginx --image=nginx --port=80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get pods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expose pod my-nginx --type=</a:t>
            </a:r>
            <a:r>
              <a:rPr lang="en-US" sz="2400" dirty="0" err="1">
                <a:solidFill>
                  <a:schemeClr val="bg1"/>
                </a:solidFill>
              </a:rPr>
              <a:t>NodePort</a:t>
            </a:r>
            <a:r>
              <a:rPr lang="en-US" sz="2400" dirty="0">
                <a:solidFill>
                  <a:schemeClr val="bg1"/>
                </a:solidFill>
              </a:rPr>
              <a:t> --port=80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get svc (</a:t>
            </a:r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get service)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minikube</a:t>
            </a:r>
            <a:r>
              <a:rPr lang="en-US" sz="2400" dirty="0">
                <a:solidFill>
                  <a:schemeClr val="bg1"/>
                </a:solidFill>
              </a:rPr>
              <a:t> service my-nginx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describe pod my-nginx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logs my-nginx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delete service my-nginx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delete pod my-nginx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F46FAE-F994-C528-3C8E-45DB81218D95}"/>
              </a:ext>
            </a:extLst>
          </p:cNvPr>
          <p:cNvSpPr txBox="1"/>
          <p:nvPr/>
        </p:nvSpPr>
        <p:spPr>
          <a:xfrm>
            <a:off x="8308898" y="2636867"/>
            <a:ext cx="8780934" cy="5632311"/>
          </a:xfrm>
          <a:prstGeom prst="rect">
            <a:avLst/>
          </a:prstGeom>
          <a:solidFill>
            <a:srgbClr val="222733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create deployment my-nginx --image=</a:t>
            </a:r>
            <a:r>
              <a:rPr lang="en-US" sz="2400" dirty="0" err="1">
                <a:solidFill>
                  <a:schemeClr val="bg1"/>
                </a:solidFill>
              </a:rPr>
              <a:t>nginx.alpine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get deployments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get pods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expose deployment my-nginx --type=</a:t>
            </a:r>
            <a:r>
              <a:rPr lang="en-US" sz="2400" dirty="0" err="1">
                <a:solidFill>
                  <a:schemeClr val="bg1"/>
                </a:solidFill>
              </a:rPr>
              <a:t>NodePort</a:t>
            </a:r>
            <a:r>
              <a:rPr lang="en-US" sz="2400" dirty="0">
                <a:solidFill>
                  <a:schemeClr val="bg1"/>
                </a:solidFill>
              </a:rPr>
              <a:t> --port=80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minikube</a:t>
            </a:r>
            <a:r>
              <a:rPr lang="en-US" sz="2400" dirty="0">
                <a:solidFill>
                  <a:schemeClr val="bg1"/>
                </a:solidFill>
              </a:rPr>
              <a:t> service my-nginx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scale deployment my-nginx --replicas=3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set image deployment/my-nginx nginx=nginx:7.5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get pods (</a:t>
            </a:r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get pods -w)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rollout undo deployment my-nginx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rollout history deployment my-nginx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rollout undo deployment my-nginx --to-revision=1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rollout status deployment my-nginx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delete pod &lt;</a:t>
            </a:r>
            <a:r>
              <a:rPr lang="en-US" sz="2400" dirty="0" err="1">
                <a:solidFill>
                  <a:schemeClr val="bg1"/>
                </a:solidFill>
              </a:rPr>
              <a:t>pod_name</a:t>
            </a:r>
            <a:r>
              <a:rPr lang="en-US" sz="2400" dirty="0">
                <a:solidFill>
                  <a:schemeClr val="bg1"/>
                </a:solidFill>
              </a:rPr>
              <a:t>&gt; (</a:t>
            </a:r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get pods)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delete deployment my-nginx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delete service my-nginx</a:t>
            </a:r>
          </a:p>
        </p:txBody>
      </p:sp>
    </p:spTree>
    <p:extLst>
      <p:ext uri="{BB962C8B-B14F-4D97-AF65-F5344CB8AC3E}">
        <p14:creationId xmlns:p14="http://schemas.microsoft.com/office/powerpoint/2010/main" val="3829985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923F3-FE2E-5595-A881-35B6FB0D3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>
            <a:extLst>
              <a:ext uri="{FF2B5EF4-FFF2-40B4-BE49-F238E27FC236}">
                <a16:creationId xmlns:a16="http://schemas.microsoft.com/office/drawing/2014/main" id="{7CA475C2-B043-F729-CBD0-8F5A34424523}"/>
              </a:ext>
            </a:extLst>
          </p:cNvPr>
          <p:cNvGrpSpPr/>
          <p:nvPr/>
        </p:nvGrpSpPr>
        <p:grpSpPr>
          <a:xfrm rot="-10800000">
            <a:off x="-3531236" y="0"/>
            <a:ext cx="9119873" cy="10287000"/>
            <a:chOff x="0" y="0"/>
            <a:chExt cx="809976" cy="91363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2134FDB-0584-6A96-E969-6968316C7196}"/>
                </a:ext>
              </a:extLst>
            </p:cNvPr>
            <p:cNvSpPr/>
            <p:nvPr/>
          </p:nvSpPr>
          <p:spPr>
            <a:xfrm>
              <a:off x="0" y="0"/>
              <a:ext cx="809976" cy="913633"/>
            </a:xfrm>
            <a:custGeom>
              <a:avLst/>
              <a:gdLst/>
              <a:ahLst/>
              <a:cxnLst/>
              <a:rect l="l" t="t" r="r" b="b"/>
              <a:pathLst>
                <a:path w="809976" h="913633">
                  <a:moveTo>
                    <a:pt x="0" y="0"/>
                  </a:moveTo>
                  <a:lnTo>
                    <a:pt x="606776" y="0"/>
                  </a:lnTo>
                  <a:lnTo>
                    <a:pt x="809976" y="456817"/>
                  </a:lnTo>
                  <a:lnTo>
                    <a:pt x="606776" y="913633"/>
                  </a:lnTo>
                  <a:lnTo>
                    <a:pt x="0" y="913633"/>
                  </a:lnTo>
                  <a:lnTo>
                    <a:pt x="203200" y="456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829F1A7-88B6-BF22-C8D7-EA70AD33E797}"/>
                </a:ext>
              </a:extLst>
            </p:cNvPr>
            <p:cNvSpPr txBox="1"/>
            <p:nvPr/>
          </p:nvSpPr>
          <p:spPr>
            <a:xfrm>
              <a:off x="177800" y="-47625"/>
              <a:ext cx="555976" cy="961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C86F8800-7386-3B94-02E1-99324D6F3CFF}"/>
              </a:ext>
            </a:extLst>
          </p:cNvPr>
          <p:cNvGrpSpPr/>
          <p:nvPr/>
        </p:nvGrpSpPr>
        <p:grpSpPr>
          <a:xfrm>
            <a:off x="-2792483" y="-774218"/>
            <a:ext cx="9502038" cy="8314283"/>
            <a:chOff x="0" y="0"/>
            <a:chExt cx="812800" cy="7112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470B3EA-B6D9-3A16-6225-172CFCF484F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blipFill>
              <a:blip r:embed="rId3"/>
              <a:stretch>
                <a:fillRect l="-4095" r="-409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E10CF16-2AEC-30F5-F4C6-7D3779E450FC}"/>
              </a:ext>
            </a:extLst>
          </p:cNvPr>
          <p:cNvGrpSpPr/>
          <p:nvPr/>
        </p:nvGrpSpPr>
        <p:grpSpPr>
          <a:xfrm>
            <a:off x="13568915" y="9119334"/>
            <a:ext cx="8986716" cy="2951504"/>
            <a:chOff x="0" y="0"/>
            <a:chExt cx="1237404" cy="4064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418C372-9184-DA6F-3CC7-5257BDF93E34}"/>
                </a:ext>
              </a:extLst>
            </p:cNvPr>
            <p:cNvSpPr/>
            <p:nvPr/>
          </p:nvSpPr>
          <p:spPr>
            <a:xfrm>
              <a:off x="0" y="0"/>
              <a:ext cx="1237404" cy="406400"/>
            </a:xfrm>
            <a:custGeom>
              <a:avLst/>
              <a:gdLst/>
              <a:ahLst/>
              <a:cxnLst/>
              <a:rect l="l" t="t" r="r" b="b"/>
              <a:pathLst>
                <a:path w="1237404" h="406400">
                  <a:moveTo>
                    <a:pt x="1034204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034204" y="406400"/>
                  </a:lnTo>
                  <a:lnTo>
                    <a:pt x="1237404" y="203200"/>
                  </a:lnTo>
                  <a:lnTo>
                    <a:pt x="1034204" y="0"/>
                  </a:lnTo>
                  <a:close/>
                </a:path>
              </a:pathLst>
            </a:custGeom>
            <a:ln w="38100" cap="sq">
              <a:solidFill>
                <a:srgbClr val="4949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A6C9A3F-8F01-FD3D-031C-B0FCCBEEC615}"/>
                </a:ext>
              </a:extLst>
            </p:cNvPr>
            <p:cNvSpPr txBox="1"/>
            <p:nvPr/>
          </p:nvSpPr>
          <p:spPr>
            <a:xfrm>
              <a:off x="152400" y="-47625"/>
              <a:ext cx="932604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28C1685-7BB0-8842-5BC5-12C32D0D1EED}"/>
              </a:ext>
            </a:extLst>
          </p:cNvPr>
          <p:cNvGrpSpPr/>
          <p:nvPr/>
        </p:nvGrpSpPr>
        <p:grpSpPr>
          <a:xfrm>
            <a:off x="-1629430" y="5941973"/>
            <a:ext cx="5316260" cy="4651728"/>
            <a:chOff x="0" y="0"/>
            <a:chExt cx="812800" cy="7112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67C28089-625A-89F7-A734-2F24D4326BB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30176D1-780E-BB80-8711-8801FC07BFDE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EB15BD59-A1B4-062B-22A8-1D10939C7462}"/>
              </a:ext>
            </a:extLst>
          </p:cNvPr>
          <p:cNvSpPr/>
          <p:nvPr/>
        </p:nvSpPr>
        <p:spPr>
          <a:xfrm>
            <a:off x="16954757" y="-273407"/>
            <a:ext cx="1404777" cy="960516"/>
          </a:xfrm>
          <a:custGeom>
            <a:avLst/>
            <a:gdLst/>
            <a:ahLst/>
            <a:cxnLst/>
            <a:rect l="l" t="t" r="r" b="b"/>
            <a:pathLst>
              <a:path w="1404777" h="960516">
                <a:moveTo>
                  <a:pt x="0" y="0"/>
                </a:moveTo>
                <a:lnTo>
                  <a:pt x="1404776" y="0"/>
                </a:lnTo>
                <a:lnTo>
                  <a:pt x="1404776" y="960516"/>
                </a:lnTo>
                <a:lnTo>
                  <a:pt x="0" y="9605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7A3D8D6-2C4F-86BB-6008-4ED24A09F054}"/>
              </a:ext>
            </a:extLst>
          </p:cNvPr>
          <p:cNvSpPr txBox="1"/>
          <p:nvPr/>
        </p:nvSpPr>
        <p:spPr>
          <a:xfrm>
            <a:off x="6285935" y="190500"/>
            <a:ext cx="7282980" cy="62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52"/>
              </a:lnSpc>
            </a:pPr>
            <a:r>
              <a:rPr lang="en-US" sz="4293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LAB VEZBE - </a:t>
            </a:r>
            <a:r>
              <a:rPr lang="en-US" sz="4293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OpenLens</a:t>
            </a:r>
            <a:endParaRPr lang="en-US" sz="4293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60D7F-5F29-7589-E26F-B99C629423CF}"/>
              </a:ext>
            </a:extLst>
          </p:cNvPr>
          <p:cNvSpPr txBox="1"/>
          <p:nvPr/>
        </p:nvSpPr>
        <p:spPr>
          <a:xfrm>
            <a:off x="6255454" y="1163154"/>
            <a:ext cx="9335065" cy="1200329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winget</a:t>
            </a:r>
            <a:r>
              <a:rPr lang="en-US" sz="2400" dirty="0">
                <a:solidFill>
                  <a:schemeClr val="bg1"/>
                </a:solidFill>
              </a:rPr>
              <a:t> install </a:t>
            </a:r>
            <a:r>
              <a:rPr lang="en-US" sz="2400" dirty="0" err="1">
                <a:solidFill>
                  <a:schemeClr val="bg1"/>
                </a:solidFill>
              </a:rPr>
              <a:t>openlens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OpenLens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automatski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cita</a:t>
            </a:r>
            <a:r>
              <a:rPr lang="en-US" sz="2400" dirty="0">
                <a:solidFill>
                  <a:schemeClr val="bg1"/>
                </a:solidFill>
              </a:rPr>
              <a:t> default folder </a:t>
            </a:r>
            <a:r>
              <a:rPr lang="en-US" sz="2400" dirty="0" err="1">
                <a:solidFill>
                  <a:schemeClr val="bg1"/>
                </a:solidFill>
              </a:rPr>
              <a:t>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trazi</a:t>
            </a:r>
            <a:r>
              <a:rPr lang="en-US" sz="2400" dirty="0">
                <a:solidFill>
                  <a:schemeClr val="bg1"/>
                </a:solidFill>
              </a:rPr>
              <a:t> config </a:t>
            </a:r>
            <a:r>
              <a:rPr lang="en-US" sz="2400" dirty="0" err="1">
                <a:solidFill>
                  <a:schemeClr val="bg1"/>
                </a:solidFill>
              </a:rPr>
              <a:t>fajl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~/.</a:t>
            </a:r>
            <a:r>
              <a:rPr lang="en-US" sz="2400" dirty="0" err="1">
                <a:solidFill>
                  <a:schemeClr val="bg1"/>
                </a:solidFill>
              </a:rPr>
              <a:t>kube</a:t>
            </a:r>
            <a:r>
              <a:rPr lang="en-US" sz="2400" dirty="0">
                <a:solidFill>
                  <a:schemeClr val="bg1"/>
                </a:solidFill>
              </a:rPr>
              <a:t>/config (C:\Users\&lt;username&gt;\.</a:t>
            </a:r>
            <a:r>
              <a:rPr lang="en-US" sz="2400" dirty="0" err="1">
                <a:solidFill>
                  <a:schemeClr val="bg1"/>
                </a:solidFill>
              </a:rPr>
              <a:t>kube</a:t>
            </a:r>
            <a:r>
              <a:rPr lang="en-US" sz="2400" dirty="0">
                <a:solidFill>
                  <a:schemeClr val="bg1"/>
                </a:solidFill>
              </a:rPr>
              <a:t>\config)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EC7A7-2E1A-CB44-7AE6-91B89617B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699" y="2512720"/>
            <a:ext cx="12306300" cy="763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00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1D54B-4614-0AE8-9212-EDA3AC82E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1EA455B-D57F-6101-E4AF-5EE9D6BCF29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4EA5CCF-5CB3-7AEF-9AEE-3E3ABAD07AF1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Priprema</a:t>
            </a: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okruzenja</a:t>
            </a:r>
            <a:endParaRPr lang="en-US" sz="5311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BC03E29-D2B4-664A-7146-489A962D5EC0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AB5938D-B144-9B12-F13F-B7485B1E5B9D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D820D04-6A1B-E62E-84B2-E1885426F4BC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886E6523-F555-1410-0EE5-046332C4DE8B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CBF8E06-8E1B-AF84-59DF-C294C46A160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1D451AC-7D60-6E80-1D3D-44CEBA9EF1FE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7FBC15C-FBC3-C953-426D-FD9F7BC16AAD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E58E4CA-09E2-3BC6-09D1-887046231BD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E8C10E3-6FE7-0540-0FA6-BED960F2959B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8CAC84F-FA03-DE77-736F-5B67228F60B0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5426E38D-54E1-299A-01E3-2FEF01CA4241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A0EF3EE-F026-3D7C-4F7F-667C5DC758A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E52F794D-CE37-C63A-F448-F7D6A10CDBE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A2C8F3D1-34AA-EEFB-DCF8-EB241F0E676F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182FDBD4-A2B6-6631-D1E5-020D806D7D7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DFB545AE-A678-1DF9-F5AE-B848BB9D361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FD63ADC6-C13D-1519-BF57-9CE65657B71C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B01089C-61BB-DA63-4506-C555EAF40D98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3BF1E2E6-0DF7-A19C-507F-C632BB0C09E9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8F90617A-B437-BEC9-E170-64B3003A2A83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74B2AC-E353-EC7B-3783-95626291C0F2}"/>
              </a:ext>
            </a:extLst>
          </p:cNvPr>
          <p:cNvSpPr txBox="1"/>
          <p:nvPr/>
        </p:nvSpPr>
        <p:spPr>
          <a:xfrm>
            <a:off x="1581372" y="2407007"/>
            <a:ext cx="6777034" cy="1694503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minikube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start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minikube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addons enable ingress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i="1" dirty="0" err="1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minikube</a:t>
            </a:r>
            <a:r>
              <a:rPr lang="en-US" sz="2400" i="1" dirty="0">
                <a:solidFill>
                  <a:schemeClr val="bg1"/>
                </a:solidFill>
                <a:latin typeface="PT Sans" panose="020B0503020203020204" pitchFamily="34" charset="77"/>
                <a:cs typeface="Consolas" panose="020B0609020204030204" pitchFamily="49" charset="0"/>
              </a:rPr>
              <a:t> addons enable metrics-server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5EE78-7185-A0CB-599C-6E6DF6B43922}"/>
              </a:ext>
            </a:extLst>
          </p:cNvPr>
          <p:cNvSpPr txBox="1"/>
          <p:nvPr/>
        </p:nvSpPr>
        <p:spPr>
          <a:xfrm>
            <a:off x="1579195" y="4497107"/>
            <a:ext cx="7260005" cy="1327158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apply -f 02-deployment.yaml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apply -f 03-service.yaml</a:t>
            </a:r>
            <a:endParaRPr lang="en-US" sz="32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EB749-DB8E-602A-DE81-C0D5EA38BE33}"/>
              </a:ext>
            </a:extLst>
          </p:cNvPr>
          <p:cNvSpPr txBox="1"/>
          <p:nvPr/>
        </p:nvSpPr>
        <p:spPr>
          <a:xfrm>
            <a:off x="1579194" y="6218773"/>
            <a:ext cx="7564806" cy="1142492"/>
          </a:xfrm>
          <a:prstGeom prst="rect">
            <a:avLst/>
          </a:prstGeom>
          <a:solidFill>
            <a:srgbClr val="222733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apply -f 04-debug-izazovi/greska-3-image.yaml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apply -f 04-debug-izazovi/greska-1-port.yaml</a:t>
            </a:r>
            <a:endParaRPr lang="en-US" sz="2400" i="1" dirty="0">
              <a:solidFill>
                <a:schemeClr val="bg1"/>
              </a:solidFill>
              <a:latin typeface="PT Sans" panose="020B0503020203020204" pitchFamily="34" charset="77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423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788000">
            <a:off x="-1585015" y="-2929811"/>
            <a:ext cx="4114800" cy="41148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0658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8100000">
            <a:off x="9946225" y="9624890"/>
            <a:ext cx="4114800" cy="41148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0658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13957559" y="5412321"/>
            <a:ext cx="5316260" cy="4651728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53343" y="-2755190"/>
            <a:ext cx="9072964" cy="10493375"/>
            <a:chOff x="0" y="0"/>
            <a:chExt cx="704974" cy="81534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4974" cy="815341"/>
            </a:xfrm>
            <a:custGeom>
              <a:avLst/>
              <a:gdLst/>
              <a:ahLst/>
              <a:cxnLst/>
              <a:rect l="l" t="t" r="r" b="b"/>
              <a:pathLst>
                <a:path w="704974" h="815341">
                  <a:moveTo>
                    <a:pt x="352487" y="0"/>
                  </a:moveTo>
                  <a:lnTo>
                    <a:pt x="704974" y="203200"/>
                  </a:lnTo>
                  <a:lnTo>
                    <a:pt x="704974" y="612141"/>
                  </a:lnTo>
                  <a:lnTo>
                    <a:pt x="352487" y="815341"/>
                  </a:lnTo>
                  <a:lnTo>
                    <a:pt x="0" y="612141"/>
                  </a:lnTo>
                  <a:lnTo>
                    <a:pt x="0" y="203200"/>
                  </a:lnTo>
                  <a:lnTo>
                    <a:pt x="352487" y="0"/>
                  </a:lnTo>
                  <a:close/>
                </a:path>
              </a:pathLst>
            </a:custGeom>
            <a:blipFill>
              <a:blip r:embed="rId3"/>
              <a:stretch>
                <a:fillRect t="-3455" b="-34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 rot="-5400000">
            <a:off x="9564228" y="3819689"/>
            <a:ext cx="3025854" cy="2647622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11689634" y="93203"/>
            <a:ext cx="2735223" cy="2393320"/>
            <a:chOff x="0" y="0"/>
            <a:chExt cx="8128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9431875" y="388144"/>
            <a:ext cx="5143500" cy="4500562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612373" y="5003655"/>
            <a:ext cx="10137254" cy="1230804"/>
            <a:chOff x="0" y="0"/>
            <a:chExt cx="5020838" cy="609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20838" cy="609600"/>
            </a:xfrm>
            <a:custGeom>
              <a:avLst/>
              <a:gdLst/>
              <a:ahLst/>
              <a:cxnLst/>
              <a:rect l="l" t="t" r="r" b="b"/>
              <a:pathLst>
                <a:path w="5020838" h="609600">
                  <a:moveTo>
                    <a:pt x="48176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020838" y="609600"/>
                  </a:lnTo>
                  <a:lnTo>
                    <a:pt x="4817638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600" y="-47625"/>
              <a:ext cx="4817638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612373" y="6455894"/>
            <a:ext cx="10137254" cy="1230804"/>
            <a:chOff x="0" y="0"/>
            <a:chExt cx="5020838" cy="609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020838" cy="609600"/>
            </a:xfrm>
            <a:custGeom>
              <a:avLst/>
              <a:gdLst/>
              <a:ahLst/>
              <a:cxnLst/>
              <a:rect l="l" t="t" r="r" b="b"/>
              <a:pathLst>
                <a:path w="5020838" h="609600">
                  <a:moveTo>
                    <a:pt x="48176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020838" y="609600"/>
                  </a:lnTo>
                  <a:lnTo>
                    <a:pt x="4817638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600" y="-47625"/>
              <a:ext cx="4817638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411829" y="1690745"/>
            <a:ext cx="895412" cy="486880"/>
          </a:xfrm>
          <a:custGeom>
            <a:avLst/>
            <a:gdLst/>
            <a:ahLst/>
            <a:cxnLst/>
            <a:rect l="l" t="t" r="r" b="b"/>
            <a:pathLst>
              <a:path w="895412" h="486880">
                <a:moveTo>
                  <a:pt x="0" y="0"/>
                </a:moveTo>
                <a:lnTo>
                  <a:pt x="895412" y="0"/>
                </a:lnTo>
                <a:lnTo>
                  <a:pt x="895412" y="486880"/>
                </a:lnTo>
                <a:lnTo>
                  <a:pt x="0" y="486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-612373" y="7908133"/>
            <a:ext cx="10137254" cy="1230804"/>
            <a:chOff x="0" y="0"/>
            <a:chExt cx="5020838" cy="609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020838" cy="609600"/>
            </a:xfrm>
            <a:custGeom>
              <a:avLst/>
              <a:gdLst/>
              <a:ahLst/>
              <a:cxnLst/>
              <a:rect l="l" t="t" r="r" b="b"/>
              <a:pathLst>
                <a:path w="5020838" h="609600">
                  <a:moveTo>
                    <a:pt x="48176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020838" y="609600"/>
                  </a:lnTo>
                  <a:lnTo>
                    <a:pt x="4817638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600" y="-47625"/>
              <a:ext cx="4817638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rot="-5400000">
            <a:off x="9481088" y="-887973"/>
            <a:ext cx="2019219" cy="1766817"/>
            <a:chOff x="0" y="0"/>
            <a:chExt cx="812800" cy="711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411829" y="3070080"/>
            <a:ext cx="7903621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113"/>
              </a:lnSpc>
            </a:pPr>
            <a:r>
              <a:rPr lang="en-US" sz="7594" b="1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Dan 1 Q&amp;A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11829" y="5448300"/>
            <a:ext cx="7300944" cy="29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92"/>
              </a:lnSpc>
              <a:spcBef>
                <a:spcPct val="0"/>
              </a:spcBef>
            </a:pPr>
            <a:r>
              <a:rPr lang="en-US" sz="178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Kontejnerizacija</a:t>
            </a:r>
            <a:r>
              <a:rPr lang="en-US" sz="178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, Docker images, </a:t>
            </a:r>
            <a:r>
              <a:rPr lang="en-US" sz="178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78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layering </a:t>
            </a:r>
            <a:r>
              <a:rPr lang="en-US" sz="178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osnove</a:t>
            </a:r>
            <a:endParaRPr lang="en-US" sz="1780" dirty="0">
              <a:solidFill>
                <a:srgbClr val="2C384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411829" y="6873176"/>
            <a:ext cx="7300944" cy="29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92"/>
              </a:lnSpc>
              <a:spcBef>
                <a:spcPct val="0"/>
              </a:spcBef>
            </a:pPr>
            <a:r>
              <a:rPr lang="en-US" sz="178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Kubernetes </a:t>
            </a:r>
            <a:r>
              <a:rPr lang="en-US" sz="178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arhitektura</a:t>
            </a:r>
            <a:r>
              <a:rPr lang="en-US" sz="178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, control plane, </a:t>
            </a:r>
            <a:r>
              <a:rPr lang="en-US" sz="178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78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worker nodes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81094" y="1688440"/>
            <a:ext cx="3056231" cy="42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Kubernetes Training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11829" y="8325415"/>
            <a:ext cx="7903621" cy="29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92"/>
              </a:lnSpc>
              <a:spcBef>
                <a:spcPct val="0"/>
              </a:spcBef>
            </a:pPr>
            <a:r>
              <a:rPr lang="en-US" sz="178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Osnovne</a:t>
            </a:r>
            <a:r>
              <a:rPr lang="en-US" sz="178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8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kubectl</a:t>
            </a:r>
            <a:r>
              <a:rPr lang="en-US" sz="178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8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komande</a:t>
            </a:r>
            <a:r>
              <a:rPr lang="en-US" sz="178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80" dirty="0" err="1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780" dirty="0">
                <a:solidFill>
                  <a:srgbClr val="2C3849"/>
                </a:solidFill>
                <a:latin typeface="Open Sans"/>
                <a:ea typeface="Open Sans"/>
                <a:cs typeface="Open Sans"/>
                <a:sym typeface="Open Sans"/>
              </a:rPr>
              <a:t> hands-on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959583-1B1B-8F26-B175-95E0E851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F9EADC-BE13-3987-E7E1-6CE963C369EA}"/>
              </a:ext>
            </a:extLst>
          </p:cNvPr>
          <p:cNvGrpSpPr/>
          <p:nvPr/>
        </p:nvGrpSpPr>
        <p:grpSpPr>
          <a:xfrm rot="-5400000">
            <a:off x="13957559" y="5412321"/>
            <a:ext cx="5316260" cy="4651728"/>
            <a:chOff x="0" y="0"/>
            <a:chExt cx="812800" cy="7112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DCF225F-15C2-7887-DF5E-583CA7BFDACD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09196E1-ED99-5D49-67A4-662DB9DD638E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82C2D9C-7779-115E-D953-07808B9B7CE2}"/>
              </a:ext>
            </a:extLst>
          </p:cNvPr>
          <p:cNvGrpSpPr/>
          <p:nvPr/>
        </p:nvGrpSpPr>
        <p:grpSpPr>
          <a:xfrm>
            <a:off x="9753343" y="-2755190"/>
            <a:ext cx="9072964" cy="10493375"/>
            <a:chOff x="0" y="0"/>
            <a:chExt cx="704974" cy="8153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369657F-9EDA-FFFD-4418-944E9ABB5065}"/>
                </a:ext>
              </a:extLst>
            </p:cNvPr>
            <p:cNvSpPr/>
            <p:nvPr/>
          </p:nvSpPr>
          <p:spPr>
            <a:xfrm>
              <a:off x="0" y="0"/>
              <a:ext cx="704974" cy="815341"/>
            </a:xfrm>
            <a:custGeom>
              <a:avLst/>
              <a:gdLst/>
              <a:ahLst/>
              <a:cxnLst/>
              <a:rect l="l" t="t" r="r" b="b"/>
              <a:pathLst>
                <a:path w="704974" h="815341">
                  <a:moveTo>
                    <a:pt x="352487" y="0"/>
                  </a:moveTo>
                  <a:lnTo>
                    <a:pt x="704974" y="203200"/>
                  </a:lnTo>
                  <a:lnTo>
                    <a:pt x="704974" y="612141"/>
                  </a:lnTo>
                  <a:lnTo>
                    <a:pt x="352487" y="815341"/>
                  </a:lnTo>
                  <a:lnTo>
                    <a:pt x="0" y="612141"/>
                  </a:lnTo>
                  <a:lnTo>
                    <a:pt x="0" y="203200"/>
                  </a:lnTo>
                  <a:lnTo>
                    <a:pt x="352487" y="0"/>
                  </a:lnTo>
                  <a:close/>
                </a:path>
              </a:pathLst>
            </a:custGeom>
            <a:blipFill>
              <a:blip r:embed="rId3"/>
              <a:stretch>
                <a:fillRect t="-3455" b="-34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2F5BD55-8848-9064-3A70-EFA32992FABF}"/>
              </a:ext>
            </a:extLst>
          </p:cNvPr>
          <p:cNvGrpSpPr/>
          <p:nvPr/>
        </p:nvGrpSpPr>
        <p:grpSpPr>
          <a:xfrm rot="-5400000">
            <a:off x="9481088" y="-887973"/>
            <a:ext cx="2019219" cy="1766817"/>
            <a:chOff x="0" y="0"/>
            <a:chExt cx="812800" cy="7112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1FC7C0F-EC09-7896-B303-D3C1B89D3DBD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3641B4F-81F4-B66D-FBA2-B3EB1A4D9BC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F81493F-E28F-F8E4-23FD-231894019B07}"/>
              </a:ext>
            </a:extLst>
          </p:cNvPr>
          <p:cNvGrpSpPr/>
          <p:nvPr/>
        </p:nvGrpSpPr>
        <p:grpSpPr>
          <a:xfrm rot="-5400000">
            <a:off x="9564228" y="3819689"/>
            <a:ext cx="3025854" cy="2647622"/>
            <a:chOff x="0" y="0"/>
            <a:chExt cx="812800" cy="7112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8FDFB9A-E342-ED75-BBAD-96CFE123A3D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5E49E79-011A-6DD1-3BB8-902A2B95ED0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C80DC85-44BB-E215-8D35-A953A74422B9}"/>
              </a:ext>
            </a:extLst>
          </p:cNvPr>
          <p:cNvGrpSpPr/>
          <p:nvPr/>
        </p:nvGrpSpPr>
        <p:grpSpPr>
          <a:xfrm rot="-5400000">
            <a:off x="11689634" y="93203"/>
            <a:ext cx="2735223" cy="2393320"/>
            <a:chOff x="0" y="0"/>
            <a:chExt cx="812800" cy="7112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966B018-0DE3-7DF6-E305-80C20744539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FBD152D-F802-272D-5F12-6C443E436E4E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91935C3F-FB6A-2523-A513-F752F080403A}"/>
              </a:ext>
            </a:extLst>
          </p:cNvPr>
          <p:cNvGrpSpPr/>
          <p:nvPr/>
        </p:nvGrpSpPr>
        <p:grpSpPr>
          <a:xfrm rot="5400000">
            <a:off x="9431875" y="388144"/>
            <a:ext cx="5143500" cy="4500562"/>
            <a:chOff x="0" y="0"/>
            <a:chExt cx="812800" cy="7112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7342B5F-07A1-EF71-F66E-4C250E1C6BF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77ED32E-F6B1-6EE6-79D0-3363AE3BA3BB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C57335B-A7A9-9673-DBA4-3AC0FDA20E41}"/>
              </a:ext>
            </a:extLst>
          </p:cNvPr>
          <p:cNvGrpSpPr/>
          <p:nvPr/>
        </p:nvGrpSpPr>
        <p:grpSpPr>
          <a:xfrm>
            <a:off x="-612373" y="7122783"/>
            <a:ext cx="10137254" cy="1230804"/>
            <a:chOff x="0" y="0"/>
            <a:chExt cx="5020838" cy="6096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77037C2-60D7-97AF-B5BB-088FB8839270}"/>
                </a:ext>
              </a:extLst>
            </p:cNvPr>
            <p:cNvSpPr/>
            <p:nvPr/>
          </p:nvSpPr>
          <p:spPr>
            <a:xfrm>
              <a:off x="0" y="0"/>
              <a:ext cx="5020838" cy="609600"/>
            </a:xfrm>
            <a:custGeom>
              <a:avLst/>
              <a:gdLst/>
              <a:ahLst/>
              <a:cxnLst/>
              <a:rect l="l" t="t" r="r" b="b"/>
              <a:pathLst>
                <a:path w="5020838" h="609600">
                  <a:moveTo>
                    <a:pt x="48176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020838" y="609600"/>
                  </a:lnTo>
                  <a:lnTo>
                    <a:pt x="4817638" y="0"/>
                  </a:lnTo>
                  <a:close/>
                </a:path>
              </a:pathLst>
            </a:custGeom>
            <a:solidFill>
              <a:srgbClr val="FEC10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809C22B-3A79-E9D5-B10F-CD085AFF0E6B}"/>
                </a:ext>
              </a:extLst>
            </p:cNvPr>
            <p:cNvSpPr txBox="1"/>
            <p:nvPr/>
          </p:nvSpPr>
          <p:spPr>
            <a:xfrm>
              <a:off x="101600" y="-47625"/>
              <a:ext cx="4817638" cy="657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36A50D6-C58C-1699-B603-C310843A5BD8}"/>
              </a:ext>
            </a:extLst>
          </p:cNvPr>
          <p:cNvGrpSpPr/>
          <p:nvPr/>
        </p:nvGrpSpPr>
        <p:grpSpPr>
          <a:xfrm rot="-1788000">
            <a:off x="-1585015" y="-2929811"/>
            <a:ext cx="4114800" cy="4114800"/>
            <a:chOff x="0" y="0"/>
            <a:chExt cx="812800" cy="812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D91B4D2-1E5D-11AD-7B16-BDBCEE7386A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0658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7471238F-6881-5CCD-777A-84F3D17E9915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105302C-1169-AF70-D34F-586BED7EF0BC}"/>
              </a:ext>
            </a:extLst>
          </p:cNvPr>
          <p:cNvGrpSpPr/>
          <p:nvPr/>
        </p:nvGrpSpPr>
        <p:grpSpPr>
          <a:xfrm rot="8100000">
            <a:off x="9946225" y="9624890"/>
            <a:ext cx="4114800" cy="4114800"/>
            <a:chOff x="0" y="0"/>
            <a:chExt cx="812800" cy="81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A553ED0-F800-A748-E849-B9BD4951E26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0658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1231B8FA-02CC-A3C7-D20A-BE0CA7CB3B46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>
            <a:extLst>
              <a:ext uri="{FF2B5EF4-FFF2-40B4-BE49-F238E27FC236}">
                <a16:creationId xmlns:a16="http://schemas.microsoft.com/office/drawing/2014/main" id="{01FCBD24-D6A5-D53C-BF52-A9E9B4FC0F09}"/>
              </a:ext>
            </a:extLst>
          </p:cNvPr>
          <p:cNvSpPr/>
          <p:nvPr/>
        </p:nvSpPr>
        <p:spPr>
          <a:xfrm>
            <a:off x="-494812" y="6537180"/>
            <a:ext cx="1523512" cy="1816407"/>
          </a:xfrm>
          <a:custGeom>
            <a:avLst/>
            <a:gdLst/>
            <a:ahLst/>
            <a:cxnLst/>
            <a:rect l="l" t="t" r="r" b="b"/>
            <a:pathLst>
              <a:path w="1523512" h="1816407">
                <a:moveTo>
                  <a:pt x="0" y="0"/>
                </a:moveTo>
                <a:lnTo>
                  <a:pt x="1523512" y="0"/>
                </a:lnTo>
                <a:lnTo>
                  <a:pt x="1523512" y="1816407"/>
                </a:lnTo>
                <a:lnTo>
                  <a:pt x="0" y="1816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2DC01E3-5091-10FE-D943-95D9E098CC3D}"/>
              </a:ext>
            </a:extLst>
          </p:cNvPr>
          <p:cNvSpPr txBox="1"/>
          <p:nvPr/>
        </p:nvSpPr>
        <p:spPr>
          <a:xfrm>
            <a:off x="1411829" y="3070080"/>
            <a:ext cx="7503571" cy="3124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206"/>
              </a:lnSpc>
            </a:pPr>
            <a:r>
              <a:rPr lang="en-US" sz="6838" b="1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KUBERNETES TRAINING: </a:t>
            </a:r>
          </a:p>
          <a:p>
            <a:pPr marL="0" lvl="0" indent="0" algn="l">
              <a:lnSpc>
                <a:spcPts val="8206"/>
              </a:lnSpc>
            </a:pPr>
            <a:r>
              <a:rPr lang="en-US" sz="6838" b="1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DAN 2 - OSNOVE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665611B-91F3-4CEA-9340-C0559BD51889}"/>
              </a:ext>
            </a:extLst>
          </p:cNvPr>
          <p:cNvSpPr txBox="1"/>
          <p:nvPr/>
        </p:nvSpPr>
        <p:spPr>
          <a:xfrm>
            <a:off x="1411829" y="7521015"/>
            <a:ext cx="6898396" cy="394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75"/>
              </a:lnSpc>
              <a:spcBef>
                <a:spcPct val="0"/>
              </a:spcBef>
            </a:pPr>
            <a:r>
              <a:rPr lang="en-US" sz="2339" dirty="0">
                <a:solidFill>
                  <a:srgbClr val="222A35"/>
                </a:solidFill>
                <a:latin typeface="Open Sans"/>
                <a:ea typeface="Open Sans"/>
                <a:cs typeface="Open Sans"/>
                <a:sym typeface="Open Sans"/>
              </a:rPr>
              <a:t>Kubernetes - </a:t>
            </a:r>
            <a:r>
              <a:rPr lang="en-US" sz="2339" dirty="0" err="1">
                <a:solidFill>
                  <a:srgbClr val="222A35"/>
                </a:solidFill>
                <a:latin typeface="Open Sans"/>
                <a:ea typeface="Open Sans"/>
                <a:cs typeface="Open Sans"/>
                <a:sym typeface="Open Sans"/>
              </a:rPr>
              <a:t>WorkFlow</a:t>
            </a:r>
            <a:endParaRPr lang="en-US" sz="2339" dirty="0">
              <a:solidFill>
                <a:srgbClr val="222A3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D3EDFF5-2344-171A-7651-86801AB0456A}"/>
              </a:ext>
            </a:extLst>
          </p:cNvPr>
          <p:cNvSpPr txBox="1"/>
          <p:nvPr/>
        </p:nvSpPr>
        <p:spPr>
          <a:xfrm>
            <a:off x="2239046" y="1714500"/>
            <a:ext cx="3056231" cy="37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r>
              <a:rPr lang="en-US" sz="215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Kubernetes Basics</a:t>
            </a:r>
          </a:p>
        </p:txBody>
      </p:sp>
      <p:pic>
        <p:nvPicPr>
          <p:cNvPr id="34" name="Picture 33" descr="A logo with a letter&#10;&#10;AI-generated content may be incorrect.">
            <a:extLst>
              <a:ext uri="{FF2B5EF4-FFF2-40B4-BE49-F238E27FC236}">
                <a16:creationId xmlns:a16="http://schemas.microsoft.com/office/drawing/2014/main" id="{597B3B0C-5C91-BCC8-0058-AFE61E45FD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608794"/>
            <a:ext cx="584200" cy="584200"/>
          </a:xfrm>
          <a:prstGeom prst="rect">
            <a:avLst/>
          </a:prstGeom>
        </p:spPr>
      </p:pic>
      <p:sp>
        <p:nvSpPr>
          <p:cNvPr id="28" name="TextBox 32">
            <a:extLst>
              <a:ext uri="{FF2B5EF4-FFF2-40B4-BE49-F238E27FC236}">
                <a16:creationId xmlns:a16="http://schemas.microsoft.com/office/drawing/2014/main" id="{40FD8917-328E-CA53-A8BB-C060BB1CC6A7}"/>
              </a:ext>
            </a:extLst>
          </p:cNvPr>
          <p:cNvSpPr txBox="1"/>
          <p:nvPr/>
        </p:nvSpPr>
        <p:spPr>
          <a:xfrm>
            <a:off x="1447800" y="9000144"/>
            <a:ext cx="3056231" cy="37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r>
              <a:rPr lang="en-US" sz="215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MSc Vladimir Gasevic</a:t>
            </a:r>
          </a:p>
        </p:txBody>
      </p:sp>
    </p:spTree>
    <p:extLst>
      <p:ext uri="{BB962C8B-B14F-4D97-AF65-F5344CB8AC3E}">
        <p14:creationId xmlns:p14="http://schemas.microsoft.com/office/powerpoint/2010/main" val="16654648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4B9C-BCDC-BB90-FDF8-0B3B1D345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4DA854-8EF5-CDB9-D226-95221573214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6EB82AD-A022-A5B7-C3D6-928681708FD7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Deployment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F8B494-679B-F348-8386-8AFC0E3AC235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064F899-B9EF-5882-43FD-9516F9E0AC8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B2CA322-80B8-1E61-9FEA-03C1C45EEAD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0610389-CF1C-F747-A64B-9CDA2E44ED10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9E83E18-07ED-870C-76E5-94AE90D13C67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ECB3794-01C3-F84B-3F58-14DA1A27A6B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290DE85-0201-A22D-5223-8710A4C1BBCF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3ED16EA-DE1E-2431-AD64-D3C42B32101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FE197AB-822C-503C-AB1F-D6E2F619A57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BE6421D-26D4-C8B1-38F6-04A38AE35166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CE2CE0A8-68BC-F8AB-A4F4-0B79391D9A77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67A0C2C-677D-B8A6-FFC2-BD846493E673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FEB14038-891B-55B9-972C-6B2FF305734B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DB84D0D1-29DF-7E7E-DDB1-FF47F4CD0363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6EE82256-BFA0-DC91-FC07-2BD16D627A1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FE59F334-9A5B-59C7-6A08-E4B53930B0CB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704986CD-4EDE-F4F4-B6E5-B6942B83DF6E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B154E0E-D21A-03CD-6384-15D1B1183D2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3E11D47E-EA0F-C9F3-0D92-912D241B156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06D36E9C-9BA4-96BD-9B9A-94CB13D4E422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B2453321-C6FA-C764-06E1-D32DBD035C40}"/>
              </a:ext>
            </a:extLst>
          </p:cNvPr>
          <p:cNvSpPr txBox="1"/>
          <p:nvPr/>
        </p:nvSpPr>
        <p:spPr>
          <a:xfrm>
            <a:off x="1612396" y="2618528"/>
            <a:ext cx="4717762" cy="321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0"/>
              </a:lnSpc>
            </a:pP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produkciji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Pod-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ne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kreiramo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rucno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kao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smo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radili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prvog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dana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vec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za to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koristimo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Deployment.</a:t>
            </a:r>
          </a:p>
          <a:p>
            <a:pPr marL="0" lvl="0" indent="0" algn="l">
              <a:lnSpc>
                <a:spcPts val="2770"/>
              </a:lnSpc>
            </a:pP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Deployments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obezbedjuje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deklarativne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apdejte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skaliranje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automatske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ReplicaSet-ove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omoguci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odrzavanje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zeljenog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stanja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klastera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4569C9-94C9-F04C-F4B9-99EDB1A771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0794" y="1279477"/>
            <a:ext cx="7192464" cy="8716694"/>
          </a:xfrm>
          <a:prstGeom prst="rect">
            <a:avLst/>
          </a:prstGeom>
        </p:spPr>
      </p:pic>
      <p:sp>
        <p:nvSpPr>
          <p:cNvPr id="8" name="TextBox 14">
            <a:extLst>
              <a:ext uri="{FF2B5EF4-FFF2-40B4-BE49-F238E27FC236}">
                <a16:creationId xmlns:a16="http://schemas.microsoft.com/office/drawing/2014/main" id="{13013931-0819-060F-8AFA-0FBDA292AEAB}"/>
              </a:ext>
            </a:extLst>
          </p:cNvPr>
          <p:cNvSpPr txBox="1"/>
          <p:nvPr/>
        </p:nvSpPr>
        <p:spPr>
          <a:xfrm>
            <a:off x="1601792" y="6426237"/>
            <a:ext cx="6536315" cy="2140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770"/>
              </a:lnSpc>
            </a:pP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 Grupe:</a:t>
            </a:r>
          </a:p>
          <a:p>
            <a:pPr marL="0" lvl="0" indent="0" algn="l">
              <a:lnSpc>
                <a:spcPts val="2770"/>
              </a:lnSpc>
            </a:pP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Core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tj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v1 - Pod, Service,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ConfigMap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Secret, Namespace</a:t>
            </a:r>
          </a:p>
          <a:p>
            <a:pPr marL="0" lvl="0" indent="0" algn="l">
              <a:lnSpc>
                <a:spcPts val="2770"/>
              </a:lnSpc>
            </a:pP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apps/v1 - Deployment,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ReplicaSet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StatefulSet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DaemonSet</a:t>
            </a:r>
            <a:endParaRPr lang="en-US" sz="197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770"/>
              </a:lnSpc>
            </a:pP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batch/v1 - Cron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Jobovi</a:t>
            </a:r>
            <a:endParaRPr lang="en-US" sz="197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76980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6EE7-D1BF-E4DE-D260-6BAAA2942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3FDA1B-146A-AD3B-3406-8464D4D22D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752ED1E-292B-FDD3-ED21-91A65AC2CDEF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Deployment - apply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CB8CEBD-B8CB-CE8B-1D7E-DB3768E5FF03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5C6756F-E3BC-A26C-6ABD-770C65F0EF9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532CB10-FE63-B8AD-F168-8FDF9EDCFD5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AB535E2-1A68-6E4F-A5A3-1D5DB7294AAA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D30888A-123A-C4A5-939F-8F228278E109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6CE4D62-550A-C585-5C57-152E16AEDBB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1F092FA-843D-73BF-CB88-34676D4F1F21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C732400-23E7-9C9D-F88B-C3C8B8FFA2E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A49E3A9-9676-8716-F107-AFA35EB55F1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7C1DE57-1810-92EC-1C02-B0C384A909FD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69CC7965-6F55-DE97-B1BD-FD8FBB993611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4B762AF5-2E77-A084-99EF-BD2A01CABBDD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3B5AE358-A37E-CDCC-D649-052337B6CC3B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145DBACF-8065-4221-C45A-88B9C088BB96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A442FA55-25A6-D052-2BB0-76AFCEDFBF3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BD014339-50BC-4CB1-2973-83493E26295E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B02700D7-383A-BB58-D7E9-ECB3BAEC0ECE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ECC5B8D-2A7B-55F4-BFA6-85049948C729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8F1FC20E-88BF-B090-3AAD-2EA3E4B26B8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D92A01C3-0225-AEC2-196B-47FEC2230F5B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7ABB4-C0A2-55C6-8EC7-3617AC3AA2F4}"/>
              </a:ext>
            </a:extLst>
          </p:cNvPr>
          <p:cNvSpPr txBox="1"/>
          <p:nvPr/>
        </p:nvSpPr>
        <p:spPr>
          <a:xfrm>
            <a:off x="1447800" y="3148108"/>
            <a:ext cx="14967259" cy="6219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minikube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start --driver=docker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minikube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addons enable metrics-server</a:t>
            </a:r>
            <a:endParaRPr lang="en-US" sz="2400" b="1" i="1" dirty="0">
              <a:solidFill>
                <a:srgbClr val="FF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bg1"/>
                </a:solidFill>
              </a:rPr>
              <a:t>LeniTECH.K8s.Training % 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pull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 02-kubernetes-osnove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apply -f 02-deployment_2.yaml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get deployments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get pods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kubectl</a:t>
            </a:r>
            <a:r>
              <a:rPr lang="en-US" sz="2400" dirty="0">
                <a:solidFill>
                  <a:schemeClr val="bg1"/>
                </a:solidFill>
              </a:rPr>
              <a:t> expose deployment my-nginx --type=</a:t>
            </a:r>
            <a:r>
              <a:rPr lang="en-US" sz="2400" dirty="0" err="1">
                <a:solidFill>
                  <a:schemeClr val="bg1"/>
                </a:solidFill>
              </a:rPr>
              <a:t>NodePort</a:t>
            </a:r>
            <a:r>
              <a:rPr lang="en-US" sz="2400" dirty="0">
                <a:solidFill>
                  <a:schemeClr val="bg1"/>
                </a:solidFill>
              </a:rPr>
              <a:t> --port=80</a:t>
            </a:r>
            <a:endParaRPr lang="en-US" sz="2400" b="1" dirty="0">
              <a:solidFill>
                <a:srgbClr val="FF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WorkLoads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/Deployments)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Restart Deployment &gt;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pratiti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status Pods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Obrisati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Deployment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iz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endParaRPr lang="en-US" sz="2400" b="1" dirty="0">
              <a:solidFill>
                <a:srgbClr val="FF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237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07C86-2BAA-D304-EBC8-B638587C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FD50339-8EEE-F391-5906-7966BF29A19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8FADA03-047F-2FA4-3901-D0510BDBDCFB}"/>
              </a:ext>
            </a:extLst>
          </p:cNvPr>
          <p:cNvSpPr txBox="1"/>
          <p:nvPr/>
        </p:nvSpPr>
        <p:spPr>
          <a:xfrm>
            <a:off x="1600966" y="1256617"/>
            <a:ext cx="4651729" cy="77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ReplicaSet</a:t>
            </a:r>
            <a:endParaRPr lang="en-US" sz="5311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549B45C-C0D3-3D1A-39AE-261957E6AB1D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202BF69-7508-B0AB-2F4F-1D8813497CB8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7A1C98D-B64B-9B89-B52C-90CED2F647F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24ABC83-72F0-D1C6-6BE4-DD3375EC4BB7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F3EFDCA-5FEA-00B5-3E6A-AB5752980C6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4BF3F08-141E-D23D-2B56-C224FA0ED6B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F3E0A70-3DCC-D104-693E-6172CB4E3996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CCCFC2B-7C34-72E1-042C-0224A1C6BF6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E4B93AA-1F7B-BDE6-D64B-9E28A79E72AB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51A1DEA-CB7B-2BE2-793E-3A377B67DF5B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C5A1919B-BF34-A9DA-E41F-693E16B7B562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D5DBF2DC-F740-936A-05CD-4B18E2144EC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750775BD-B4F0-3F83-587C-985AA08AD55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FEE71AA8-D197-4BBD-3D12-BF09D9B35DAF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00C69055-A1FF-4A3D-8869-D7D872BD4FC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EFFA2851-13CD-ABC2-C3B8-8AC56CE820C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3787ED22-11E3-AAD4-A3DA-752984908D89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B2F9DD4-BB9F-3D0E-ECB5-C0C27F0211C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6C70FF54-5E6F-280A-6B0F-88F01DF5DB1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D928AF3A-4550-C1C4-D1CC-64E995E5FE9A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84C2958-8ED8-D9D9-7540-0C72565AC05A}"/>
              </a:ext>
            </a:extLst>
          </p:cNvPr>
          <p:cNvSpPr txBox="1"/>
          <p:nvPr/>
        </p:nvSpPr>
        <p:spPr>
          <a:xfrm>
            <a:off x="1600966" y="2201780"/>
            <a:ext cx="4710299" cy="1781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0"/>
              </a:lnSpc>
            </a:pP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ReplicaSets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 brine o tome da u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svakom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momentu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zeljeni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broj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replica je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uvek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dostupan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Kada pod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padne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on se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automatski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menja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novim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—od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strane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Deploymenta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1BBD5653-96B1-DB63-D7AA-85CA479254C5}"/>
              </a:ext>
            </a:extLst>
          </p:cNvPr>
          <p:cNvSpPr txBox="1"/>
          <p:nvPr/>
        </p:nvSpPr>
        <p:spPr>
          <a:xfrm>
            <a:off x="5980059" y="5111644"/>
            <a:ext cx="4651729" cy="77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RollingUpdate</a:t>
            </a:r>
            <a:endParaRPr lang="en-US" sz="5311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608EE99F-AC4B-90D0-28F9-C0A0532A94A8}"/>
              </a:ext>
            </a:extLst>
          </p:cNvPr>
          <p:cNvSpPr txBox="1"/>
          <p:nvPr/>
        </p:nvSpPr>
        <p:spPr>
          <a:xfrm>
            <a:off x="5956356" y="6065440"/>
            <a:ext cx="4539373" cy="320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581"/>
              </a:lnSpc>
              <a:spcBef>
                <a:spcPct val="0"/>
              </a:spcBef>
            </a:pP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Postepen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update pod-ova bez 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prekida</a:t>
            </a:r>
            <a:endParaRPr lang="en-US" sz="1843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24">
            <a:extLst>
              <a:ext uri="{FF2B5EF4-FFF2-40B4-BE49-F238E27FC236}">
                <a16:creationId xmlns:a16="http://schemas.microsoft.com/office/drawing/2014/main" id="{A66201C7-CB00-612F-4485-7CD7EBFE5CCB}"/>
              </a:ext>
            </a:extLst>
          </p:cNvPr>
          <p:cNvSpPr txBox="1"/>
          <p:nvPr/>
        </p:nvSpPr>
        <p:spPr>
          <a:xfrm>
            <a:off x="5956356" y="6729820"/>
            <a:ext cx="4647855" cy="987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581"/>
              </a:lnSpc>
              <a:spcBef>
                <a:spcPct val="0"/>
              </a:spcBef>
            </a:pP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maxSurge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koliko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dodatnih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pod-ova se 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moze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imati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 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trenutku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 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odnosu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desired state</a:t>
            </a: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1091FD1E-BF89-1DE3-BC29-83CB8EB76FB2}"/>
              </a:ext>
            </a:extLst>
          </p:cNvPr>
          <p:cNvSpPr txBox="1"/>
          <p:nvPr/>
        </p:nvSpPr>
        <p:spPr>
          <a:xfrm>
            <a:off x="5956356" y="8097815"/>
            <a:ext cx="4647855" cy="654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581"/>
              </a:lnSpc>
              <a:spcBef>
                <a:spcPct val="0"/>
              </a:spcBef>
            </a:pP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maxUnavailable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koliko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Pod-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moze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 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bude</a:t>
            </a:r>
            <a:r>
              <a:rPr lang="en-US" sz="18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nesdostupno</a:t>
            </a:r>
            <a:endParaRPr lang="en-US" sz="1843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51EFD62-B17A-F358-EF83-FAA11DACD1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5952" y="242855"/>
            <a:ext cx="6766051" cy="980128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065C995-9DA2-56C1-04B8-392F7DE6E6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90" y="5947817"/>
            <a:ext cx="5620246" cy="2123930"/>
          </a:xfrm>
          <a:prstGeom prst="rect">
            <a:avLst/>
          </a:prstGeom>
        </p:spPr>
      </p:pic>
      <p:sp>
        <p:nvSpPr>
          <p:cNvPr id="34" name="TextBox 10">
            <a:extLst>
              <a:ext uri="{FF2B5EF4-FFF2-40B4-BE49-F238E27FC236}">
                <a16:creationId xmlns:a16="http://schemas.microsoft.com/office/drawing/2014/main" id="{55D756E8-A5C5-A33A-770B-E8568B5C7CA2}"/>
              </a:ext>
            </a:extLst>
          </p:cNvPr>
          <p:cNvSpPr txBox="1"/>
          <p:nvPr/>
        </p:nvSpPr>
        <p:spPr>
          <a:xfrm>
            <a:off x="635171" y="5111644"/>
            <a:ext cx="4651729" cy="77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Namespace</a:t>
            </a:r>
          </a:p>
        </p:txBody>
      </p:sp>
    </p:spTree>
    <p:extLst>
      <p:ext uri="{BB962C8B-B14F-4D97-AF65-F5344CB8AC3E}">
        <p14:creationId xmlns:p14="http://schemas.microsoft.com/office/powerpoint/2010/main" val="12419041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769B5-8AD5-83E1-4BE1-0E59A67B0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9A4370-CE0A-E5DF-6703-F088E17186F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334D440-B97C-A188-2F95-1078E98B2A3F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Deployment - apply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9DAC6A-AED6-C734-FCBD-D8AD34919E38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0C186A3-A15E-BDA5-879D-DF19E5EAF03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9814D25-E767-5ED0-E4F9-D0BA869C5F4B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E284F04-E297-AFDA-9D11-821DF65B3CFA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B066E9A-3F40-83A6-70FB-E623ED37A10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5D0499F-7B86-BE55-317E-3FEBCA22C48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6B12399-066B-314F-39A5-4BAD135BAAD9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08FFF51-DC3E-0AD9-A2F0-60399BF93029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77FD8F9-7E89-51D2-FEA4-032B418BB08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6D376DE-386E-67FC-349C-0267361DA385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320D4A18-ADB9-E9C0-D09B-7CDC05F65D7B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84A231C4-8EAA-3CB6-F3E3-F44E342A2903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BBDF8315-6DDC-191C-E75F-1A0F0C30C25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3BF669B2-F05A-F672-2FAA-14DD3948788C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37B02770-F230-F568-3CF8-2E8A426CE3E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86EEB3CD-8CEA-F02B-3600-8A91D5A6009C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3D749D66-9DD5-4682-DBD9-1351E8AE63F1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FCC39D3-A3B1-2219-B530-FEE8A53C3211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0B5BBB78-1A51-FDC5-B1B8-A4A2562D24A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BC7D2F10-CD43-50D8-BCCB-42B42D68212B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D231E-AF27-178B-A29E-D615A5C9114D}"/>
              </a:ext>
            </a:extLst>
          </p:cNvPr>
          <p:cNvSpPr txBox="1"/>
          <p:nvPr/>
        </p:nvSpPr>
        <p:spPr>
          <a:xfrm>
            <a:off x="1579864" y="3572563"/>
            <a:ext cx="14967259" cy="446494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nano 02-deployment.yaml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ukloniti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komentare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iz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sekcije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strategy &gt; save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apply -f 02-deployment.yaml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set image deployment/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moj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prvi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-deployment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treningapp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=vlajko83/treningapp:v1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get pods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delete deployment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moj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prvi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-deployment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apply -f -4-namespace.yaml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apply -f 02-deployment.yaml -n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moj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prvi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-namespace</a:t>
            </a:r>
          </a:p>
        </p:txBody>
      </p:sp>
    </p:spTree>
    <p:extLst>
      <p:ext uri="{BB962C8B-B14F-4D97-AF65-F5344CB8AC3E}">
        <p14:creationId xmlns:p14="http://schemas.microsoft.com/office/powerpoint/2010/main" val="4146249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133AF-5404-C04A-38E6-52D5FC57E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6ED23F-434D-A590-4EF0-71A0C59A9BB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E08CDF1-D7CC-44D2-EF1B-40084B955009}"/>
              </a:ext>
            </a:extLst>
          </p:cNvPr>
          <p:cNvSpPr txBox="1"/>
          <p:nvPr/>
        </p:nvSpPr>
        <p:spPr>
          <a:xfrm>
            <a:off x="895121" y="1314821"/>
            <a:ext cx="4651729" cy="77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RollBack</a:t>
            </a:r>
            <a:endParaRPr lang="en-US" sz="5311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6ADA905-198A-AE30-8E41-217D870FD730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A7CF43B-265A-E763-8546-F4EF40D6D9B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5CB66A2-6A51-214A-F90D-4FF024731A2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43ECDA2-341B-0E8E-2DA3-431D11891688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90329A2-2C8A-E45F-CBFD-DA6B00033A7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5D65568-07DB-D8BC-D1E6-ABDD0C7F748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5308A97-7FE7-25CC-8977-6CCBD2D30F33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2C80E8E-B786-2E76-A2C9-290A87A9B78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99903AB-3C04-CDE1-016D-730EC3E5FF2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3F0FA3E-699A-4FBE-F9D1-CA1E126651F6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40F51E6D-2A3F-F395-5663-ADBFD6EA7D42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74D2377D-2A6E-D276-3A72-EAFA1730807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139E6C3B-B8D1-B726-F5F7-4D71439F23C6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23158540-2F0A-9ED4-0426-1568904A20EC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B1782E1E-1C1A-8C61-2D16-6FF33361CE6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C899F89E-E7B0-74BB-8958-91C6BB3F930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1260F53D-493D-67B6-5D16-3ABFDCCB454B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FC8AF29C-A6D1-5264-5F24-469ED99DA46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B87B0019-5E08-198C-BA93-DAE189D997D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8776FAB5-2894-DC44-D371-1BA38AFE925A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FAC5B814-BAED-6F42-9B73-3FB496718410}"/>
              </a:ext>
            </a:extLst>
          </p:cNvPr>
          <p:cNvSpPr txBox="1"/>
          <p:nvPr/>
        </p:nvSpPr>
        <p:spPr>
          <a:xfrm>
            <a:off x="915903" y="2778032"/>
            <a:ext cx="8685297" cy="142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770"/>
              </a:lnSpc>
            </a:pP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Kubernetes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odrzava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istoriju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prethodnih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Deploymenta,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omogucava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brzi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rollback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pomocu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kubectl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rollout undo. Ovo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pomaze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smanjenju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downtime-a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smanjenju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gresaka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kada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update ne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prodje</a:t>
            </a:r>
            <a:endParaRPr lang="en-US" sz="197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4E98209C-43A2-40EC-1D80-A198D5BC1DDA}"/>
              </a:ext>
            </a:extLst>
          </p:cNvPr>
          <p:cNvSpPr txBox="1"/>
          <p:nvPr/>
        </p:nvSpPr>
        <p:spPr>
          <a:xfrm>
            <a:off x="915903" y="4932640"/>
            <a:ext cx="12342897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rollout undo deployment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moj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prvi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-deployment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rollout history deployment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moj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prvi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-deployment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rollout undo deployment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moj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prvi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-deployment --to-revision=1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rollout status deployment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moj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prvi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-deployment</a:t>
            </a:r>
          </a:p>
        </p:txBody>
      </p:sp>
    </p:spTree>
    <p:extLst>
      <p:ext uri="{BB962C8B-B14F-4D97-AF65-F5344CB8AC3E}">
        <p14:creationId xmlns:p14="http://schemas.microsoft.com/office/powerpoint/2010/main" val="20870512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5431E-23F9-354C-5CD2-A81CC0243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C478402-E321-B590-DDA8-7776083D8C4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1B96163-8A40-7082-13C8-12B0BC3112B0}"/>
              </a:ext>
            </a:extLst>
          </p:cNvPr>
          <p:cNvSpPr txBox="1"/>
          <p:nvPr/>
        </p:nvSpPr>
        <p:spPr>
          <a:xfrm>
            <a:off x="895121" y="1314821"/>
            <a:ext cx="4651729" cy="77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Service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924AA02-0D88-299F-2AAF-1820CDD51B29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D54E69D-C668-9FF5-8D06-6F6AA0978037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4FA36C1-369D-2BF0-98F0-D980A8BA2DB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D48D5A0-F487-549F-4BB4-C0E89F10FBB6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93A6EE8-771E-604E-B502-010D812D9E8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0A8E3C6-CAB7-E8A8-36D6-7D725CECCB29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16AE029-72A5-B5BC-E039-8FBE5F3BA24E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834E066-D364-D9C4-E73D-57E361E2116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5D46BF4-51C2-4F74-3C7F-385DFE34D40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1AFC456-6486-CDC2-9D52-1956CB3795AC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0318EBA2-37A6-4399-97A3-FADDB742F9C4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F48533C-C1AD-ECD9-53B5-76CFC2AB50D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ECAC6EAC-CF4E-B4BE-0751-204427004EE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6BCCA363-0693-6151-A182-530318FDBF06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F928ACEE-B431-B525-63AC-ADB8D5B74F8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D9C872C2-DE13-B63B-CC43-07B2951E0B0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912AA910-AA69-8D36-0B5D-D2C5C37059A9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E3341B9-2D11-8623-DF3A-AD23E789147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ECC3B012-1CF3-1478-0677-57920B735AD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EEEC624B-C83D-1723-9866-C940CC8DC0C0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4C8DD9BF-CD2C-31E6-CC2E-1CFC0EEB5F71}"/>
              </a:ext>
            </a:extLst>
          </p:cNvPr>
          <p:cNvSpPr txBox="1"/>
          <p:nvPr/>
        </p:nvSpPr>
        <p:spPr>
          <a:xfrm>
            <a:off x="954191" y="2992779"/>
            <a:ext cx="7961209" cy="2140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ts val="2770"/>
              </a:lnSpc>
              <a:buFontTx/>
              <a:buChar char="-"/>
            </a:pP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IP Adresa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Servisa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stalna</a:t>
            </a:r>
            <a:endParaRPr lang="en-US" sz="197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>
              <a:lnSpc>
                <a:spcPts val="2770"/>
              </a:lnSpc>
              <a:buFontTx/>
              <a:buChar char="-"/>
            </a:pP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 discovery -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ugradjen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DNS</a:t>
            </a:r>
          </a:p>
          <a:p>
            <a:pPr marL="342900" lvl="0" indent="-342900" algn="l">
              <a:lnSpc>
                <a:spcPts val="2770"/>
              </a:lnSpc>
              <a:buFontTx/>
              <a:buChar char="-"/>
            </a:pP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Load Balancing</a:t>
            </a:r>
          </a:p>
          <a:p>
            <a:pPr marL="342900" lvl="0" indent="-342900" algn="l">
              <a:lnSpc>
                <a:spcPts val="2770"/>
              </a:lnSpc>
              <a:buFontTx/>
              <a:buChar char="-"/>
            </a:pP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abstrakcija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klijent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npr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frontend)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trazi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Servis, ne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interesuje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ga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koliko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backend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podova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postoje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niti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gde</a:t>
            </a:r>
            <a:r>
              <a:rPr lang="en-US" sz="197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197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nalaze</a:t>
            </a:r>
            <a:endParaRPr lang="en-US" sz="197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770"/>
              </a:lnSpc>
            </a:pPr>
            <a:endParaRPr lang="en-US" sz="197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A70F7-6DC6-1238-FE96-4956B6F2F1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0578" y="2857137"/>
            <a:ext cx="7160622" cy="6401163"/>
          </a:xfrm>
          <a:prstGeom prst="rect">
            <a:avLst/>
          </a:prstGeom>
        </p:spPr>
      </p:pic>
      <p:sp>
        <p:nvSpPr>
          <p:cNvPr id="7" name="TextBox 16">
            <a:extLst>
              <a:ext uri="{FF2B5EF4-FFF2-40B4-BE49-F238E27FC236}">
                <a16:creationId xmlns:a16="http://schemas.microsoft.com/office/drawing/2014/main" id="{05115986-2782-7C7F-BFED-356767F113D9}"/>
              </a:ext>
            </a:extLst>
          </p:cNvPr>
          <p:cNvSpPr txBox="1"/>
          <p:nvPr/>
        </p:nvSpPr>
        <p:spPr>
          <a:xfrm>
            <a:off x="800384" y="5553072"/>
            <a:ext cx="8724616" cy="654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595"/>
              </a:lnSpc>
            </a:pP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ClusterIP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 (default): interna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klaster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komunikacija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. Servis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vidljiv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samo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unutar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klastera</a:t>
            </a:r>
            <a:endParaRPr lang="en-US" sz="1854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99C01835-2427-DE88-6589-030DA3E91DB1}"/>
              </a:ext>
            </a:extLst>
          </p:cNvPr>
          <p:cNvSpPr txBox="1"/>
          <p:nvPr/>
        </p:nvSpPr>
        <p:spPr>
          <a:xfrm>
            <a:off x="779601" y="6498530"/>
            <a:ext cx="7447821" cy="321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595"/>
              </a:lnSpc>
            </a:pP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NodePort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eksterno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izlaganje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odredjeni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 port (</a:t>
            </a:r>
            <a:r>
              <a:rPr lang="en-US" sz="1854" b="1" dirty="0">
                <a:latin typeface="Poppins"/>
                <a:ea typeface="Poppins"/>
                <a:cs typeface="Poppins"/>
                <a:sym typeface="Poppins"/>
              </a:rPr>
              <a:t>30000 - 32767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)</a:t>
            </a: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164829D2-2D1A-8B44-F4A6-940006AAAC01}"/>
              </a:ext>
            </a:extLst>
          </p:cNvPr>
          <p:cNvSpPr txBox="1"/>
          <p:nvPr/>
        </p:nvSpPr>
        <p:spPr>
          <a:xfrm>
            <a:off x="792356" y="7031930"/>
            <a:ext cx="6152443" cy="654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595"/>
              </a:lnSpc>
            </a:pP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LoadBalancer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Integracija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sa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 Cloud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provajderima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. Servis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dobija</a:t>
            </a:r>
            <a:r>
              <a:rPr lang="en-US" sz="1854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54" dirty="0" err="1">
                <a:latin typeface="Poppins"/>
                <a:ea typeface="Poppins"/>
                <a:cs typeface="Poppins"/>
                <a:sym typeface="Poppins"/>
              </a:rPr>
              <a:t>PublicIP</a:t>
            </a:r>
            <a:endParaRPr lang="en-US" sz="1854" dirty="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884106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3514-0D53-B5BB-8FA3-74DB6DC39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0F850CF-4E7A-D41F-3AF1-D4A51579916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EE27FB4-1B7C-9054-3781-0C6045079A3C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Service - apply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967436A-465C-1BDB-18CB-1D51FB16A101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8044A82-FF59-B0FF-5575-44A0955666AD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F08C502-1F5B-B701-F322-1DCD25E227E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CDD6A16-9E80-0D30-4757-A780C9F391A7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2847516-89BB-C69A-7574-6BB9E0A765E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EA12768-05CA-B25F-9930-1E92D33BC10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8BD0297-A81A-3647-7537-F5F64182C637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A95DC4C-D956-EA2A-DB22-555BDACB309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41045EC-C4CD-7C67-D53A-1C6B0609BDC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27AE630-72C0-194C-FEA5-72D72DA190EE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424F324D-E267-ADEE-D05D-7B99C1025DBE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71148B4C-2D48-64A5-189D-CCD8D3817D3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79016262-1261-A56A-8963-FA8D4AE3E34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4FF8DDC8-80AF-FC3A-3A1A-643E0D8D7802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9632DBE2-25FC-C622-CFB3-D9D878A3C583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F1226C9E-A789-021F-EAEA-C6EC32BB925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48275F96-5908-5886-DFF7-FDFC8BC50475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C57DED2-B417-0197-A7EE-3910FCAE6129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3C916E01-34CA-CA2D-102E-6258B5ADF496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A1E34A37-17C1-295A-D45E-B6557417730B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10DBA-BE93-3A0E-BC00-D5A508CBEBCB}"/>
              </a:ext>
            </a:extLst>
          </p:cNvPr>
          <p:cNvSpPr txBox="1"/>
          <p:nvPr/>
        </p:nvSpPr>
        <p:spPr>
          <a:xfrm>
            <a:off x="1579864" y="3572563"/>
            <a:ext cx="14967259" cy="224894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apply -f 02-deployment.yaml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apply -f 03-service.yaml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Network &gt; Services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Network &gt; Endpoints</a:t>
            </a:r>
          </a:p>
        </p:txBody>
      </p:sp>
    </p:spTree>
    <p:extLst>
      <p:ext uri="{BB962C8B-B14F-4D97-AF65-F5344CB8AC3E}">
        <p14:creationId xmlns:p14="http://schemas.microsoft.com/office/powerpoint/2010/main" val="4103360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DC86C-F026-9788-E439-E475B176C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01BBAB-B85E-D874-C286-241344C218F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0552B3C-3AC0-862E-7BD5-E5DFE1E33F2B}"/>
              </a:ext>
            </a:extLst>
          </p:cNvPr>
          <p:cNvSpPr txBox="1"/>
          <p:nvPr/>
        </p:nvSpPr>
        <p:spPr>
          <a:xfrm>
            <a:off x="895121" y="1314821"/>
            <a:ext cx="13124814" cy="77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Ingress: 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Upravljanje</a:t>
            </a: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eksternim</a:t>
            </a: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pristupom</a:t>
            </a:r>
            <a:endParaRPr lang="en-US" sz="5311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CEA3F60-4D3A-2159-CFD0-AD8C9A05549D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759BE95-7A27-0F13-C6E8-705309DE4FE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8CFE096-15EA-44A6-24C3-05AE36823E5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EA6086E-F041-1D9D-5D70-0AF0244D7897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B26756C-CC8C-AC18-89F6-29074D65CC5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60847C1-0CEF-FE81-C998-68844D637713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5C2E586-501E-7804-A557-60049B28B0B8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47E9836-84E7-4C93-CBD2-5B1135F188BD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9192B0D-A8E6-02B5-82EF-8F480E9B8BA3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A22688F-E403-1B2E-FDBB-20A563C89092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5A1C7AFF-F214-59A1-A027-AFC51DCDCC71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ED546AD-4B81-0D7A-F4E9-45062FDAAE9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649FE681-0194-C6FE-3F19-FEBEDE648496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C3AC9AA2-4194-AA9A-5F26-F9C55B1A46CD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51D1A99-75FC-1A2B-7A0E-82016EEE43A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1D974B58-353B-21E7-3422-78E1E9BEB309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3B4E1B5-938F-A30E-25E4-F1226F9779EA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9ACC25C-FF79-D9DC-57C7-E5972F0E7BD3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6B9C65E3-AF25-DB58-5FF5-D004926CA1E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8CD80714-73A1-1B49-AAB5-29E3F4410BD0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DEB41545-34C9-2072-C151-55AFA9C50832}"/>
              </a:ext>
            </a:extLst>
          </p:cNvPr>
          <p:cNvSpPr txBox="1"/>
          <p:nvPr/>
        </p:nvSpPr>
        <p:spPr>
          <a:xfrm>
            <a:off x="1012050" y="3254290"/>
            <a:ext cx="7522350" cy="3952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26"/>
              </a:lnSpc>
            </a:pP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Ingress je API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objekat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koji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upravlja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eksternim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pristupom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Service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preko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HTTP/S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protokola</a:t>
            </a:r>
            <a:endParaRPr lang="en-US" sz="1978" dirty="0">
              <a:solidFill>
                <a:srgbClr val="12121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126"/>
              </a:lnSpc>
            </a:pPr>
            <a:endParaRPr lang="en-US" sz="1978" dirty="0">
              <a:solidFill>
                <a:srgbClr val="12121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126"/>
              </a:lnSpc>
            </a:pP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Komponente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: Ingress controller, rules, hosts, paths</a:t>
            </a:r>
          </a:p>
          <a:p>
            <a:pPr marL="0" lvl="0" indent="0" algn="l">
              <a:lnSpc>
                <a:spcPts val="3126"/>
              </a:lnSpc>
            </a:pPr>
            <a:endParaRPr lang="en-US" sz="1978" dirty="0">
              <a:solidFill>
                <a:srgbClr val="12121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126"/>
              </a:lnSpc>
            </a:pP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Prednost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u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odnosu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NodePort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jedna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ulazna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tacka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, path-based routing</a:t>
            </a:r>
          </a:p>
          <a:p>
            <a:pPr marL="0" lvl="0" indent="0" algn="l">
              <a:lnSpc>
                <a:spcPts val="3126"/>
              </a:lnSpc>
            </a:pPr>
            <a:endParaRPr lang="en-US" sz="1978" dirty="0">
              <a:solidFill>
                <a:srgbClr val="12121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126"/>
              </a:lnSpc>
            </a:pP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Prednost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u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odnosu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LoadBalancer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jeftino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resenje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, SSL termination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AE08450-DAF4-A433-A626-49D2A10BF6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6361" y="2230881"/>
            <a:ext cx="7834040" cy="711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92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EC7D-A665-E043-4467-A56FD3269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0C48B2-92FD-0031-6BC4-1A9507E1C6A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D9FA3E2-FFA3-62BC-29F9-722A80730F09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Ingress - apply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66BBEDA-885E-EED3-1DF9-07CA5FB5D99F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B8BC25A-FD3B-DB19-465A-9701F92868A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80FED25-81A5-48C7-69EA-5F5840C1BEA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4E7760B-B2BF-FB94-DA18-FA6DBA6EAD2F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D1E62F3-0A1E-D18E-C75A-9F29EE20FCD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858954CA-42E8-2C22-6BE5-2CA612E5FE13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9B58E0D-E2DF-465A-FB0F-F36712FFAB6B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09A9082-32C3-8BC0-2252-4F7641C901F7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DE47A94-E441-7634-B08D-47C216F9B00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074E23A-6AD9-6821-E964-804A2C0E0559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25E576EE-B2AE-5725-5932-1A0DCA5D862E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FF2A400-D575-0103-13D0-F831A708EAF8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BCB078FC-A543-5BD8-F66C-8872E75F4FE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71921E5B-70FF-2913-5ECD-B219E1C529C1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C36C18E1-9801-A179-9067-EF40F09C31D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545389DA-BBAD-0C08-3F43-E30F10E559B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7F74C81F-8A14-ED32-BE07-2869F4B8E1BC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37751E6-CE15-0935-AA83-A4936BFA51B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46118310-AEE0-BD45-B4D3-AC0B67EC84C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CD0E46F0-3359-3DA6-A344-5ED4CD75DAA6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034F16-4673-4B2F-62C9-97B88A42B8F7}"/>
              </a:ext>
            </a:extLst>
          </p:cNvPr>
          <p:cNvSpPr txBox="1"/>
          <p:nvPr/>
        </p:nvSpPr>
        <p:spPr>
          <a:xfrm>
            <a:off x="1579864" y="3572563"/>
            <a:ext cx="14967259" cy="446494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minikube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addons enable ingress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apply -f 03-service.yaml (</a:t>
            </a:r>
            <a:r>
              <a:rPr lang="en-US" sz="2400" b="1" i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folder 03-napredni-koncepti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minikube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</a:t>
            </a:r>
            <a:endParaRPr lang="en-US" sz="2400" b="1" dirty="0">
              <a:solidFill>
                <a:srgbClr val="FF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nano /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/hosts (c:/Windows/System32/drivers/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/hosts)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trening.edu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minikube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Network &gt; Ingress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delete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ingressclass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nginx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Helm &gt; nginx-ingress-controller</a:t>
            </a:r>
          </a:p>
        </p:txBody>
      </p:sp>
    </p:spTree>
    <p:extLst>
      <p:ext uri="{BB962C8B-B14F-4D97-AF65-F5344CB8AC3E}">
        <p14:creationId xmlns:p14="http://schemas.microsoft.com/office/powerpoint/2010/main" val="147630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D95DE-FE47-44D4-4F6F-468FB1DA8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0C05F7-7AC4-701B-426F-821D919FE81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64D98D6-3239-DB7B-D548-1F4BF221DCDF}"/>
              </a:ext>
            </a:extLst>
          </p:cNvPr>
          <p:cNvSpPr txBox="1"/>
          <p:nvPr/>
        </p:nvSpPr>
        <p:spPr>
          <a:xfrm>
            <a:off x="895121" y="1314821"/>
            <a:ext cx="13124814" cy="77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ConfigMap</a:t>
            </a:r>
            <a:endParaRPr lang="en-US" sz="5311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0CEFDF8-4BF4-8650-D2E9-B4C6753FE32D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D121A58-F19D-11D1-15C1-C90273EF078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D121275-4784-3FFE-771E-1E8BDDC62C0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74FB210-3515-0CD0-ADB3-7563957E5C61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3C90C00B-C881-122E-2962-94051126E2F6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13AAECC-95F5-3B7A-195D-F0E6877BBF2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0144CA5-A4A3-DBE5-8838-9B76EFA69B3E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2633538-5982-0BDE-96E9-1A925E672D1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8CB55F3-9A95-543D-E7DE-2F8A3671C60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D53A70F-022A-4999-47DC-6E5D2729825E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251DB38-0C2C-0696-92CB-1CDF9E9BF6FA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3BFDAFD2-069F-C3DB-441C-85FD530004C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279EF516-0D56-F3DB-B4AC-B49B27E3B0A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76CB4478-1BA8-5D00-8F4C-15E3A1BB0544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022D4A8-2214-9F14-3E08-FCC1E7BDF98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0825B0F9-2F02-4FA8-93A6-34F635C9DB6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C742937C-D79F-50F0-EC45-217608A04CB2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3F09BA30-817D-7825-B65A-4CA70D5B6EC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6FA735F9-13B3-FC0F-F877-F988AC48D39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68821963-F0C0-1F1D-3C6B-E8C88D73F7A8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B9BF3367-0077-93A8-B636-81953A841F80}"/>
              </a:ext>
            </a:extLst>
          </p:cNvPr>
          <p:cNvSpPr txBox="1"/>
          <p:nvPr/>
        </p:nvSpPr>
        <p:spPr>
          <a:xfrm>
            <a:off x="888194" y="2692747"/>
            <a:ext cx="7646206" cy="2759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26"/>
              </a:lnSpc>
            </a:pP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ConfigMaps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manje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osetljivi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podaci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kao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config files, env variable</a:t>
            </a:r>
          </a:p>
          <a:p>
            <a:pPr marL="0" lvl="0" indent="0" algn="l">
              <a:lnSpc>
                <a:spcPts val="3126"/>
              </a:lnSpc>
            </a:pP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Secrets: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osetljivi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podaci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kao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passwordi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, API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kljucevi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tokeni</a:t>
            </a:r>
            <a:endParaRPr lang="en-US" sz="1978" dirty="0">
              <a:solidFill>
                <a:srgbClr val="12121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126"/>
              </a:lnSpc>
            </a:pP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ConfigMaps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- plain text; </a:t>
            </a:r>
          </a:p>
          <a:p>
            <a:pPr marL="0" lvl="0" indent="0" algn="l">
              <a:lnSpc>
                <a:spcPts val="3126"/>
              </a:lnSpc>
            </a:pP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Secrets - Base64</a:t>
            </a:r>
          </a:p>
          <a:p>
            <a:pPr marL="0" lvl="0" indent="0" algn="l">
              <a:lnSpc>
                <a:spcPts val="3126"/>
              </a:lnSpc>
            </a:pP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Obadva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mogu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biti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mountovana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kao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volume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ili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env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varijable</a:t>
            </a:r>
            <a:endParaRPr lang="en-US" sz="1978" dirty="0">
              <a:solidFill>
                <a:srgbClr val="12121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126"/>
              </a:lnSpc>
            </a:pP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type: Opaque,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kubernetes.io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tls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td.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7829D79B-337A-A837-BD3A-9F06EF4CF231}"/>
              </a:ext>
            </a:extLst>
          </p:cNvPr>
          <p:cNvSpPr txBox="1"/>
          <p:nvPr/>
        </p:nvSpPr>
        <p:spPr>
          <a:xfrm>
            <a:off x="895986" y="5916579"/>
            <a:ext cx="13124814" cy="77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Secret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0A3DCD-89F3-F655-3B8E-16F503C712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6900" y="1330250"/>
            <a:ext cx="8288520" cy="381324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19D438F-AF2F-57E1-B282-C821848B16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2200" y="6089559"/>
            <a:ext cx="9169400" cy="382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3805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0FB0B-7251-9508-139B-E6D5145C9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DB8C99-5F1E-DA89-2F2B-D97B37B6ED3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5E3EE10-1B55-4A02-0F03-F9EC422E19AA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ConfigMap</a:t>
            </a: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- apply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3A38780-D1EC-5157-685F-9A095707EFFB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8D71E01-C1F3-6509-AE12-37BA00EDC9A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0674754-6BD9-C694-3639-C07F32F03DE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A4F95E3-074C-4B51-EC50-D37E8B8ABB3A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2DD159A-C209-9863-F522-19526B18FB5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36311421-E134-48B5-2B6E-01B66D2A04C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078EC22-6560-02F5-0A72-4D52C7C5D08F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5A29C41-5C94-4DB7-542F-E2F9889A750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9098526-5B90-C1F9-9532-841C6AF2548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3A969F6-1829-E437-1761-E1EB7F3882BF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9008A04F-ED78-6F58-4BC2-5B40F5E186E6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86BA69AE-C2EA-7AE1-8D26-6F3BBD7BB481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ED4CAE00-C5CA-83FB-5E46-4DDD48135AD3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6C3C0BBF-3C19-E764-1FBE-37590950BBB5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EB0275F3-4795-3DC8-0BDB-466A586BA37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D74BBC7F-9A7A-4A2D-0488-7B0E236DB979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E49D5F41-24AC-5188-E36B-E1D143218374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D9A902D1-0C1C-AEEB-9449-D15BF1AFC3FD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C33D54A4-CA2F-9949-870D-FDA39CF822FE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7B16FB21-4A2C-8091-E4EC-5626C402B437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0202D-C0D7-146F-7DD5-0B7354654DD8}"/>
              </a:ext>
            </a:extLst>
          </p:cNvPr>
          <p:cNvSpPr txBox="1"/>
          <p:nvPr/>
        </p:nvSpPr>
        <p:spPr>
          <a:xfrm>
            <a:off x="1579864" y="3572563"/>
            <a:ext cx="14967259" cy="280294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apply -f 01-configmap.yaml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apply -f 02-deployment.yaml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Restart Deployment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Config/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ConfigMaps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Edit &gt;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Promeni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vrednost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Restart Deployment</a:t>
            </a:r>
          </a:p>
        </p:txBody>
      </p:sp>
    </p:spTree>
    <p:extLst>
      <p:ext uri="{BB962C8B-B14F-4D97-AF65-F5344CB8AC3E}">
        <p14:creationId xmlns:p14="http://schemas.microsoft.com/office/powerpoint/2010/main" val="27678044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61977-F7EB-CC0B-240A-F83095691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3166A1-05A5-A110-C6E4-71E1AC16B9C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73F2043-FDAA-DC28-AC8C-F65E701C7A92}"/>
              </a:ext>
            </a:extLst>
          </p:cNvPr>
          <p:cNvSpPr txBox="1"/>
          <p:nvPr/>
        </p:nvSpPr>
        <p:spPr>
          <a:xfrm>
            <a:off x="720165" y="469209"/>
            <a:ext cx="13124814" cy="77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Primer 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konektovanja</a:t>
            </a: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</a:t>
            </a: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bazu</a:t>
            </a:r>
            <a:endParaRPr lang="en-US" sz="5311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D29A9B0-751C-EA61-5838-43898F34EF48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8E5AAD2-EE94-49DC-0A99-D638FEA0BE8D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D0EE408-03BE-4A8C-D86D-D4BF9F8076AB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2ACA156-D4FD-5AC1-7836-D1067A28E932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226B4AB-A974-42DC-8EF9-CC99E0338406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EBBBFE9-476E-EA53-9799-2777A62958C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921F9AA-841E-D356-6401-2FCFA94C6AD6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FC19B9C-70A2-08ED-E250-9932B82A99D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D3A2783-F603-7F68-D69F-1B560A55FE9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AA53D67-3A21-9CEF-6398-F860431A1A45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E75A45F-5B45-DFDE-2ED0-5F9AB43DD263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69AE5175-C5F9-1646-3567-4233C22FB50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2B7D045E-4DAC-6276-BA99-D4F2E52394E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780FA0CE-3C4F-AF52-0331-F89D1BCC3BE1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2765643D-F173-E655-F72D-9DAF8A3EB7A6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5110159F-99FA-400D-6E4A-D386D79E507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19766737-2DE3-A755-1E82-6AE881CC1ED0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4135F8C-BABD-284A-0BB7-A6C31B2A5B1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31683E91-D490-EACD-8D53-AE4CC257FB2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8DE1FB07-646C-6F31-63E9-9FF1340F71C7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8842F-B1A0-0354-0DE6-EC9EEF954A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25435" y="164843"/>
            <a:ext cx="4724400" cy="1005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63FC27-F7AC-FF0E-A7E9-0B1C5544FF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728" y="1660625"/>
            <a:ext cx="6121900" cy="3581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FB4A7A-CDB6-F543-3BFF-E540E7787B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615" y="1664089"/>
            <a:ext cx="6103521" cy="663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190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F238-099B-552B-7894-39F848EEE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09D81D-58F7-0CF9-5B6D-485271A9AD7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8A110CE-F57C-CC34-446B-406EA62B95E8}"/>
              </a:ext>
            </a:extLst>
          </p:cNvPr>
          <p:cNvSpPr txBox="1"/>
          <p:nvPr/>
        </p:nvSpPr>
        <p:spPr>
          <a:xfrm>
            <a:off x="914851" y="670166"/>
            <a:ext cx="13124814" cy="77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Kubernetes Storage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B6C992B-D8C4-4220-7B7C-5866C890E171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DECBBF7-75AD-ECB7-47A8-E2C730128BC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73DBFBC-B975-572E-E412-E6C94A72A2E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13CAE68-CE92-BA06-A2D3-F6B519E32D42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39962B90-0C70-1C4A-9D7C-060E802CC71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BF141A8-ACE3-C7D8-EB43-4AC281CAC20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E6CB74E-7E2E-122F-DEE2-F62D390971F6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558DF8-4185-66C3-0FF5-B6C48890868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DD3F151-F431-CB0C-7026-9E37555CD75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0FE750E-4AEF-4C1D-79FB-4C84E52BA779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5FFA1BDC-3638-2D4C-E32D-4296B57B9422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10F4310-FDE1-28C6-FB92-D617B4918BC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F59CE137-441B-1F12-59BB-8E28D673F29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47E53817-858F-6C46-AB00-A44EF3654FAC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07A9EFE-DEDD-AC9C-A518-D1886CE5D8E3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13CE8B4F-8D58-2811-0440-2C0F1FB40E89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E48BD6DA-E4B2-F512-7CFF-292C5ADE0FC0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FB92FBAC-0E5C-ADD8-4D63-F5A94B0EA513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1E41BD2D-DFBD-2CCD-2F1A-5D542BD83CD3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AC6939E1-0EC4-959C-C23F-D5EB15049182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25BF3922-E751-07A8-9C3F-51919DEF688A}"/>
              </a:ext>
            </a:extLst>
          </p:cNvPr>
          <p:cNvSpPr txBox="1"/>
          <p:nvPr/>
        </p:nvSpPr>
        <p:spPr>
          <a:xfrm>
            <a:off x="1498974" y="5600700"/>
            <a:ext cx="6044826" cy="322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625"/>
              </a:lnSpc>
            </a:pPr>
            <a:r>
              <a:rPr lang="en-US" sz="1875" dirty="0" err="1">
                <a:latin typeface="Poppins"/>
                <a:ea typeface="Poppins"/>
                <a:cs typeface="Poppins"/>
                <a:sym typeface="Poppins"/>
              </a:rPr>
              <a:t>PersistentVolume</a:t>
            </a:r>
            <a:r>
              <a:rPr lang="en-US" sz="1875" dirty="0">
                <a:latin typeface="Poppins"/>
                <a:ea typeface="Poppins"/>
                <a:cs typeface="Poppins"/>
                <a:sym typeface="Poppins"/>
              </a:rPr>
              <a:t> (PV) - </a:t>
            </a:r>
            <a:r>
              <a:rPr lang="en-US" sz="1875" dirty="0" err="1">
                <a:latin typeface="Poppins"/>
                <a:ea typeface="Poppins"/>
                <a:cs typeface="Poppins"/>
                <a:sym typeface="Poppins"/>
              </a:rPr>
              <a:t>stalni</a:t>
            </a:r>
            <a:r>
              <a:rPr lang="en-US" sz="1875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5" dirty="0" err="1">
                <a:latin typeface="Poppins"/>
                <a:ea typeface="Poppins"/>
                <a:cs typeface="Poppins"/>
                <a:sym typeface="Poppins"/>
              </a:rPr>
              <a:t>prostor</a:t>
            </a:r>
            <a:r>
              <a:rPr lang="en-US" sz="1875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5" dirty="0" err="1"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1875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5" dirty="0" err="1">
                <a:latin typeface="Poppins"/>
                <a:ea typeface="Poppins"/>
                <a:cs typeface="Poppins"/>
                <a:sym typeface="Poppins"/>
              </a:rPr>
              <a:t>disku</a:t>
            </a:r>
            <a:endParaRPr lang="en-US" sz="1875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6A630F00-D0D6-ECCC-F7EE-F56E250776EC}"/>
              </a:ext>
            </a:extLst>
          </p:cNvPr>
          <p:cNvSpPr txBox="1"/>
          <p:nvPr/>
        </p:nvSpPr>
        <p:spPr>
          <a:xfrm>
            <a:off x="9144000" y="5583296"/>
            <a:ext cx="6571335" cy="322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625"/>
              </a:lnSpc>
            </a:pPr>
            <a:r>
              <a:rPr lang="en-US" sz="1875" dirty="0" err="1">
                <a:latin typeface="Poppins"/>
                <a:ea typeface="Poppins"/>
                <a:cs typeface="Poppins"/>
                <a:sym typeface="Poppins"/>
              </a:rPr>
              <a:t>PersistentVolumeClaim</a:t>
            </a:r>
            <a:r>
              <a:rPr lang="en-US" sz="1875" dirty="0">
                <a:latin typeface="Poppins"/>
                <a:ea typeface="Poppins"/>
                <a:cs typeface="Poppins"/>
                <a:sym typeface="Poppins"/>
              </a:rPr>
              <a:t> (PVC) - </a:t>
            </a:r>
            <a:r>
              <a:rPr lang="en-US" sz="1875" dirty="0" err="1">
                <a:latin typeface="Poppins"/>
                <a:ea typeface="Poppins"/>
                <a:cs typeface="Poppins"/>
                <a:sym typeface="Poppins"/>
              </a:rPr>
              <a:t>zahtev</a:t>
            </a:r>
            <a:r>
              <a:rPr lang="en-US" sz="1875" dirty="0">
                <a:latin typeface="Poppins"/>
                <a:ea typeface="Poppins"/>
                <a:cs typeface="Poppins"/>
                <a:sym typeface="Poppins"/>
              </a:rPr>
              <a:t> za </a:t>
            </a:r>
            <a:r>
              <a:rPr lang="en-US" sz="1875" dirty="0" err="1">
                <a:latin typeface="Poppins"/>
                <a:ea typeface="Poppins"/>
                <a:cs typeface="Poppins"/>
                <a:sym typeface="Poppins"/>
              </a:rPr>
              <a:t>resursom</a:t>
            </a:r>
            <a:endParaRPr lang="en-US" sz="1875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FBE3D07F-9B22-D647-C117-DB439F9A7241}"/>
              </a:ext>
            </a:extLst>
          </p:cNvPr>
          <p:cNvSpPr txBox="1"/>
          <p:nvPr/>
        </p:nvSpPr>
        <p:spPr>
          <a:xfrm>
            <a:off x="914850" y="6489168"/>
            <a:ext cx="7938023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/>
              <a:t>Access Modes:</a:t>
            </a:r>
          </a:p>
          <a:p>
            <a:r>
              <a:rPr lang="en-US" sz="2400" b="1" dirty="0" err="1"/>
              <a:t>ReadWriteOnce</a:t>
            </a:r>
            <a:r>
              <a:rPr lang="en-US" sz="2400" b="1" dirty="0"/>
              <a:t> (RWO):</a:t>
            </a:r>
            <a:r>
              <a:rPr lang="en-US" sz="2400" dirty="0"/>
              <a:t> Samo </a:t>
            </a:r>
            <a:r>
              <a:rPr lang="en-US" sz="2400" dirty="0" err="1"/>
              <a:t>jedan</a:t>
            </a:r>
            <a:r>
              <a:rPr lang="en-US" sz="2400" dirty="0"/>
              <a:t> Pod </a:t>
            </a:r>
            <a:r>
              <a:rPr lang="en-US" sz="2400" dirty="0" err="1"/>
              <a:t>može</a:t>
            </a:r>
            <a:r>
              <a:rPr lang="en-US" sz="2400" dirty="0"/>
              <a:t> da </a:t>
            </a:r>
            <a:r>
              <a:rPr lang="en-US" sz="2400" dirty="0" err="1"/>
              <a:t>piše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disk (</a:t>
            </a:r>
            <a:r>
              <a:rPr lang="en-US" sz="2400" dirty="0" err="1"/>
              <a:t>najčešće</a:t>
            </a:r>
            <a:r>
              <a:rPr lang="en-US" sz="2400" dirty="0"/>
              <a:t> za </a:t>
            </a:r>
            <a:r>
              <a:rPr lang="en-US" sz="2400" dirty="0" err="1"/>
              <a:t>baze</a:t>
            </a:r>
            <a:r>
              <a:rPr lang="en-US" sz="2400" dirty="0"/>
              <a:t> </a:t>
            </a:r>
            <a:r>
              <a:rPr lang="en-US" sz="2400" dirty="0" err="1"/>
              <a:t>podataka</a:t>
            </a:r>
            <a:r>
              <a:rPr lang="en-US" sz="2400" dirty="0"/>
              <a:t>).</a:t>
            </a:r>
          </a:p>
          <a:p>
            <a:r>
              <a:rPr lang="en-US" sz="2400" b="1" dirty="0" err="1"/>
              <a:t>ReadOnlyMany</a:t>
            </a:r>
            <a:r>
              <a:rPr lang="en-US" sz="2400" b="1" dirty="0"/>
              <a:t> (ROX):</a:t>
            </a:r>
            <a:r>
              <a:rPr lang="en-US" sz="2400" dirty="0"/>
              <a:t> </a:t>
            </a:r>
            <a:r>
              <a:rPr lang="en-US" sz="2400" dirty="0" err="1"/>
              <a:t>Mnogi</a:t>
            </a:r>
            <a:r>
              <a:rPr lang="en-US" sz="2400" dirty="0"/>
              <a:t> </a:t>
            </a:r>
            <a:r>
              <a:rPr lang="en-US" sz="2400" dirty="0" err="1"/>
              <a:t>Podovi</a:t>
            </a:r>
            <a:r>
              <a:rPr lang="en-US" sz="2400" dirty="0"/>
              <a:t> </a:t>
            </a:r>
            <a:r>
              <a:rPr lang="en-US" sz="2400" dirty="0" err="1"/>
              <a:t>mogu</a:t>
            </a:r>
            <a:r>
              <a:rPr lang="en-US" sz="2400" dirty="0"/>
              <a:t> da </a:t>
            </a:r>
            <a:r>
              <a:rPr lang="en-US" sz="2400" dirty="0" err="1"/>
              <a:t>čitaju</a:t>
            </a:r>
            <a:r>
              <a:rPr lang="en-US" sz="2400" dirty="0"/>
              <a:t> (</a:t>
            </a:r>
            <a:r>
              <a:rPr lang="en-US" sz="2400" dirty="0" err="1"/>
              <a:t>npr</a:t>
            </a:r>
            <a:r>
              <a:rPr lang="en-US" sz="2400" dirty="0"/>
              <a:t>. </a:t>
            </a:r>
            <a:r>
              <a:rPr lang="en-US" sz="2400" dirty="0" err="1"/>
              <a:t>zajednički</a:t>
            </a:r>
            <a:r>
              <a:rPr lang="en-US" sz="2400" dirty="0"/>
              <a:t> folder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slikama</a:t>
            </a:r>
            <a:r>
              <a:rPr lang="en-US" sz="2400" dirty="0"/>
              <a:t>).</a:t>
            </a:r>
          </a:p>
          <a:p>
            <a:r>
              <a:rPr lang="en-US" sz="2400" b="1" dirty="0" err="1"/>
              <a:t>ReadWriteMany</a:t>
            </a:r>
            <a:r>
              <a:rPr lang="en-US" sz="2400" b="1" dirty="0"/>
              <a:t> (RWX):</a:t>
            </a:r>
            <a:r>
              <a:rPr lang="en-US" sz="2400" dirty="0"/>
              <a:t> </a:t>
            </a:r>
            <a:r>
              <a:rPr lang="en-US" sz="2400" dirty="0" err="1"/>
              <a:t>Mnogi</a:t>
            </a:r>
            <a:r>
              <a:rPr lang="en-US" sz="2400" dirty="0"/>
              <a:t> </a:t>
            </a:r>
            <a:r>
              <a:rPr lang="en-US" sz="2400" dirty="0" err="1"/>
              <a:t>mogu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da </a:t>
            </a:r>
            <a:r>
              <a:rPr lang="en-US" sz="2400" dirty="0" err="1"/>
              <a:t>čitaju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da </a:t>
            </a:r>
            <a:r>
              <a:rPr lang="en-US" sz="2400" dirty="0" err="1"/>
              <a:t>pišu</a:t>
            </a:r>
            <a:r>
              <a:rPr lang="en-US" sz="2400" dirty="0"/>
              <a:t> (</a:t>
            </a:r>
            <a:r>
              <a:rPr lang="en-US" sz="2400" dirty="0" err="1"/>
              <a:t>zahteva</a:t>
            </a:r>
            <a:r>
              <a:rPr lang="en-US" sz="2400" dirty="0"/>
              <a:t> NFS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slične</a:t>
            </a:r>
            <a:r>
              <a:rPr lang="en-US" sz="2400" dirty="0"/>
              <a:t> </a:t>
            </a:r>
            <a:r>
              <a:rPr lang="en-US" sz="2400" dirty="0" err="1"/>
              <a:t>mrežne</a:t>
            </a:r>
            <a:r>
              <a:rPr lang="en-US" sz="2400" dirty="0"/>
              <a:t> </a:t>
            </a:r>
            <a:r>
              <a:rPr lang="en-US" sz="2400" dirty="0" err="1"/>
              <a:t>sisteme</a:t>
            </a:r>
            <a:r>
              <a:rPr lang="en-US" sz="2400" dirty="0"/>
              <a:t>).</a:t>
            </a:r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B91B8C-F970-F44C-E568-C6AFD541A8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850" y="1615242"/>
            <a:ext cx="7316139" cy="38330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B563AC-A647-4086-9152-AC1DDB2DAC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1157" y="1575074"/>
            <a:ext cx="7683979" cy="38732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D2AA8DF-A99C-699E-28AC-CCBE205A8E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5227" y="6146079"/>
            <a:ext cx="6689276" cy="3687003"/>
          </a:xfrm>
          <a:prstGeom prst="rect">
            <a:avLst/>
          </a:prstGeom>
        </p:spPr>
      </p:pic>
      <p:sp>
        <p:nvSpPr>
          <p:cNvPr id="33" name="TextBox 8">
            <a:extLst>
              <a:ext uri="{FF2B5EF4-FFF2-40B4-BE49-F238E27FC236}">
                <a16:creationId xmlns:a16="http://schemas.microsoft.com/office/drawing/2014/main" id="{B645FBCB-E7A3-7DC8-FCDB-1BB42563C289}"/>
              </a:ext>
            </a:extLst>
          </p:cNvPr>
          <p:cNvSpPr txBox="1"/>
          <p:nvPr/>
        </p:nvSpPr>
        <p:spPr>
          <a:xfrm>
            <a:off x="11049000" y="9867900"/>
            <a:ext cx="2304797" cy="322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625"/>
              </a:lnSpc>
            </a:pPr>
            <a:r>
              <a:rPr lang="en-US" sz="1875" dirty="0" err="1">
                <a:latin typeface="Poppins"/>
                <a:ea typeface="Poppins"/>
                <a:cs typeface="Poppins"/>
                <a:sym typeface="Poppins"/>
              </a:rPr>
              <a:t>StorageClasses</a:t>
            </a:r>
            <a:endParaRPr lang="en-US" sz="1875" dirty="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187961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70148-FC01-AB57-2EC6-2668BB48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AF7DC3-B535-B755-4DA9-E17222C2E23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DD037D-0DBE-C91C-0F60-6C84F8C565A1}"/>
              </a:ext>
            </a:extLst>
          </p:cNvPr>
          <p:cNvSpPr txBox="1"/>
          <p:nvPr/>
        </p:nvSpPr>
        <p:spPr>
          <a:xfrm>
            <a:off x="914851" y="670166"/>
            <a:ext cx="13124814" cy="77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Kubernetes Storage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EAA8730-79C4-8E31-F7F3-8F9E2FF918EC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6F5D5A7-B05E-563D-068F-A8A68830AD4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6B2924B-0A1F-B04C-4D74-B66B55536F4E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84757BB9-BFF8-88C9-3520-429B422161F1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DB56B2E-0D5F-3E59-5D1E-3120FD0BDBB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E0614ED-9CD5-E9F3-24B1-D8F3650C0593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D989E3D-DED7-8272-BB22-C7F609E02D26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FF5B33F-56C8-AF59-233A-BEC9D30969B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93EC415-DB37-4A8B-34DC-1997022F92D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2FBB28E-B5D6-8811-A8CE-FBA4C52A5F36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2320EDD9-0DF1-4FEC-87E1-E805069ADE9D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F88516A-A80C-EBF4-C7D4-DCF97162365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45C70026-5C0E-A31C-345A-154B5B56076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D601D2D5-5660-3100-322C-2F9B835244FE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68675B5-7D30-F3E0-57B0-F1DBE72B3BA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B507E3F4-A818-B904-312F-A021B7134CE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622D1620-D5F7-8349-6E37-B653512A669E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1ABC420F-E92B-88AC-9FB2-C203917DCB81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0702A792-4EFE-950E-811F-2FCD5B9F80A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0BFE989C-39B7-7492-CEB7-F3B1E9B19EAD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D55AEDAF-CDA2-328D-943B-5D3064C7952D}"/>
              </a:ext>
            </a:extLst>
          </p:cNvPr>
          <p:cNvSpPr txBox="1"/>
          <p:nvPr/>
        </p:nvSpPr>
        <p:spPr>
          <a:xfrm>
            <a:off x="7162800" y="7488296"/>
            <a:ext cx="2590800" cy="322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625"/>
              </a:lnSpc>
            </a:pPr>
            <a:r>
              <a:rPr lang="en-US" sz="1875" dirty="0">
                <a:latin typeface="Poppins"/>
                <a:ea typeface="Poppins"/>
                <a:cs typeface="Poppins"/>
                <a:sym typeface="Poppins"/>
              </a:rPr>
              <a:t>Primer za Longhorn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35B31-1FB8-70CC-D5D6-006403D96A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1229" y="2536118"/>
            <a:ext cx="13218131" cy="480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42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58478-B1FE-5A34-6CBB-29051A175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684A21-DA5C-255E-4A76-1D6F323FB9C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037E08-4832-0552-B018-385664116F5A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Storage (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pv</a:t>
            </a: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) - apply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1EB7E1A-BB3E-599A-0FDB-108A2C8AD9C7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D5E97E1-B0FD-F725-FA2D-AA73A8415D88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CC12337-1A88-227F-2259-8E0C489BCC6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4A160B7-315B-17B6-600B-9E5E40E5BA31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11472CF-0C5F-3C08-471F-5695296006F1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87F3C44-160E-AE8D-717A-9C668B9CDD7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449E4BF-5C2E-186E-B0E9-92CB8F4D9942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73FA8A3-1271-EEE9-9DB1-245CD560D3AD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A05C5C3-918B-37F7-3258-F0CD69D71B9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874BD4C-B2CA-12F7-4087-B53F9E7A4903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922F0056-5729-1432-4063-A8DB2BB73BE5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A6B7EAB-4333-B7AF-73B1-0F8B9A0F20B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931340A2-7D21-E69F-478B-660E5EB0417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9CA1216B-743A-70E8-DF27-9338D7D698FB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1D5B1CC8-4680-4B1A-7926-ACC03F7739F7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F03569D3-55AE-FF50-4844-18953044113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A245D0CB-C67F-1FE5-7EE1-7E7A2CE2712E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37F07CD1-87FC-D432-5DE2-9BE07B9156D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01DB79C1-7CC1-3192-BBD0-73C09BB7F50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B2CE6F30-FE52-AFCD-43EB-A1A9892FFA05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9AD46-5A0F-0678-3803-2FB2E8A7E4D0}"/>
              </a:ext>
            </a:extLst>
          </p:cNvPr>
          <p:cNvSpPr txBox="1"/>
          <p:nvPr/>
        </p:nvSpPr>
        <p:spPr>
          <a:xfrm>
            <a:off x="1579864" y="3572563"/>
            <a:ext cx="14967259" cy="33569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minikube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ssh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 /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mnt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/data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chmod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777 /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mnt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apply -f 04-pv-storage.yaml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apply -f 05-pvc-storage.yaml</a:t>
            </a:r>
          </a:p>
        </p:txBody>
      </p:sp>
    </p:spTree>
    <p:extLst>
      <p:ext uri="{BB962C8B-B14F-4D97-AF65-F5344CB8AC3E}">
        <p14:creationId xmlns:p14="http://schemas.microsoft.com/office/powerpoint/2010/main" val="19947542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31318-3ACC-2BFA-1BED-4DF548911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EC0CDB-2B8B-1C48-8EB6-5E584AB93C4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8D24947-6A6C-9CFD-6C3B-B97643A62012}"/>
              </a:ext>
            </a:extLst>
          </p:cNvPr>
          <p:cNvSpPr txBox="1"/>
          <p:nvPr/>
        </p:nvSpPr>
        <p:spPr>
          <a:xfrm>
            <a:off x="914851" y="1170901"/>
            <a:ext cx="13124814" cy="772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Helm - Paket Manager za K8s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57C6B54-E1A7-279C-DB56-429A61657E86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B99B1F9-ED6E-BE21-9134-52F45BA2B65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DC85154-3C97-DA8E-16AD-1D64B5AD99F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9622F31-5570-6566-E81C-BD2E05431DAA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F289D16-6552-330B-CD09-DEBFE698E94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174148C-CD8F-5102-DAB1-47C38E894AA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6B4C6BD-4C2A-E1FC-9E19-56A0B953B5AB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2BF9D05-B232-BB7A-5BCE-6DE66E4DB6C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4270ABE-D880-B505-92C5-EF204756670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1C2193F-4360-0DFB-93B2-FF7251B963BA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5F0DCA6-55B9-369B-5057-E92E18CF8923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3745E6D8-4714-6348-8236-0F970338E08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00F85D5D-EA11-BA43-CAC2-A09F6704B779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DD799708-3785-B667-DD2D-A61B62CB68F8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642E6433-1130-55BF-341B-348E5DE9B4E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DF8D61BB-7CBF-EF33-4DCE-5BF709E8CB9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7938974B-C08E-5530-776B-1C498020C6E7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C609114-A472-F4C4-8270-F3DAA982BAA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BD6A4831-1103-9C35-4D7C-E78E61FDFB5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C4731A66-0FAA-3B54-2507-D74F87E00A65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52A129B9-8B89-67F5-0C55-D6921E05D306}"/>
              </a:ext>
            </a:extLst>
          </p:cNvPr>
          <p:cNvSpPr txBox="1"/>
          <p:nvPr/>
        </p:nvSpPr>
        <p:spPr>
          <a:xfrm>
            <a:off x="922836" y="2395242"/>
            <a:ext cx="8906964" cy="2583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83"/>
              </a:lnSpc>
            </a:pP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Helm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pojednostavljuje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postavljanje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Kubernetes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aplikacije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pakovanjem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resursa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u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chartove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koji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mogu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ponovo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da se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koriste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Olaksava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kompleksne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deploymente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upravlja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zavisnostima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omogucava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kontrolu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verzija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za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konfiguracije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infrastrukture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>
              <a:lnSpc>
                <a:spcPts val="3383"/>
              </a:lnSpc>
            </a:pPr>
            <a:endParaRPr lang="en-US" sz="1978" dirty="0">
              <a:solidFill>
                <a:srgbClr val="12121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383"/>
              </a:lnSpc>
            </a:pP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Chart, Releases,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values.yaml</a:t>
            </a:r>
            <a:endParaRPr lang="en-US" sz="1978" dirty="0">
              <a:solidFill>
                <a:srgbClr val="12121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4D6CEB-C330-783C-7DF1-F32410C867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180" y="4038688"/>
            <a:ext cx="8030021" cy="2965862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DF76A281-296E-4880-B5AD-A4551DEAA1E1}"/>
              </a:ext>
            </a:extLst>
          </p:cNvPr>
          <p:cNvSpPr txBox="1"/>
          <p:nvPr/>
        </p:nvSpPr>
        <p:spPr>
          <a:xfrm>
            <a:off x="12277023" y="6591300"/>
            <a:ext cx="342017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&gt; </a:t>
            </a:r>
            <a:r>
              <a:rPr lang="en-US" sz="2000" b="1" dirty="0" err="1">
                <a:solidFill>
                  <a:schemeClr val="bg1"/>
                </a:solidFill>
              </a:rPr>
              <a:t>values.yaml</a:t>
            </a:r>
            <a:r>
              <a:rPr lang="en-US" sz="2000" b="1" dirty="0">
                <a:solidFill>
                  <a:schemeClr val="bg1"/>
                </a:solidFill>
              </a:rPr>
              <a:t> &gt; </a:t>
            </a:r>
            <a:r>
              <a:rPr lang="en-US" sz="2000" b="1" dirty="0" err="1">
                <a:solidFill>
                  <a:schemeClr val="bg1"/>
                </a:solidFill>
              </a:rPr>
              <a:t>replicaCount</a:t>
            </a:r>
            <a:r>
              <a:rPr lang="en-US" sz="2000" b="1" dirty="0">
                <a:solidFill>
                  <a:schemeClr val="bg1"/>
                </a:solidFill>
              </a:rPr>
              <a:t>: 2</a:t>
            </a:r>
          </a:p>
        </p:txBody>
      </p:sp>
    </p:spTree>
    <p:extLst>
      <p:ext uri="{BB962C8B-B14F-4D97-AF65-F5344CB8AC3E}">
        <p14:creationId xmlns:p14="http://schemas.microsoft.com/office/powerpoint/2010/main" val="827906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407BD-A65A-5D4B-81EF-A95C446A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33DD22-A75C-C790-D979-F0713B148EB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578FF3D-1244-309D-2C29-241F836F834E}"/>
              </a:ext>
            </a:extLst>
          </p:cNvPr>
          <p:cNvSpPr txBox="1"/>
          <p:nvPr/>
        </p:nvSpPr>
        <p:spPr>
          <a:xfrm>
            <a:off x="1600966" y="1256617"/>
            <a:ext cx="9578637" cy="77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Helm - WordPress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79BB4ED-3415-4B30-DB8D-73E7A08D326A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1C40A9C-6064-D9C4-1B54-B5CE08F51B6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B41C68E-D44E-7EC3-3ED8-993495C661FB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F34B91B-B747-9D9C-3A0C-B00C24F2E8A4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06D0028-5F69-1F17-61B9-8811A3AEDDAD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6867D0F-FA06-4398-74DB-58106C37968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816B608-B1CC-CD5E-E00E-6A737A2AABA7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459F245-8406-2BAC-919A-70FEA9D5696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394F57D-860B-A7E2-5FC7-9168E0B2115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36BA454-2D26-3729-EFB7-EDC78C777985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E5ABFCD-38F3-E7C3-8C03-0AFA24EC0C98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FC593C6-89FD-23AC-171A-1507022E0027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EF9D9990-97D4-993A-498A-139BA769317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3FC2C0A5-09F8-09E8-FAE8-5C50503199B5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78A6A760-45F0-43F2-D3E6-A71A21678E71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3CC9A956-0401-9C9E-77EE-C2904169630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B7D26236-6770-6CE1-FFED-D0FD0B2ACDC5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71558E34-B9B7-5E45-E9CD-4713E09C68B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EE875CD7-713D-07E5-BC41-43225444304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97F8E472-3AC2-AB2C-8919-030DEFDBB8E9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056C83-0425-ADFE-56F4-9FE812554758}"/>
              </a:ext>
            </a:extLst>
          </p:cNvPr>
          <p:cNvSpPr txBox="1"/>
          <p:nvPr/>
        </p:nvSpPr>
        <p:spPr>
          <a:xfrm>
            <a:off x="1579864" y="3572563"/>
            <a:ext cx="14967259" cy="280294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Helm &gt; Chart &gt;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Wordpress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Install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port-forward svc/wordpress-1778013502 8080:80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localhost:8080/admin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 /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Config &gt; Secrets &gt;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wordpress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-password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FF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8358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028700" y="2342731"/>
            <a:ext cx="4375218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30"/>
              </a:lnSpc>
            </a:pPr>
            <a:r>
              <a:rPr lang="en-US" sz="3917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VEZBA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16309" y="2342731"/>
            <a:ext cx="9792791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ctr"/>
            <a:r>
              <a:rPr lang="en-US" sz="2800" b="1" dirty="0">
                <a:solidFill>
                  <a:schemeClr val="bg1"/>
                </a:solidFill>
              </a:rPr>
              <a:t>Mission Control 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137322-05DD-1E5F-9888-7AE2CD9FFDBA}"/>
              </a:ext>
            </a:extLst>
          </p:cNvPr>
          <p:cNvSpPr txBox="1"/>
          <p:nvPr/>
        </p:nvSpPr>
        <p:spPr>
          <a:xfrm>
            <a:off x="685800" y="3494719"/>
            <a:ext cx="16479536" cy="557293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minikube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start --driver=docker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Kreirati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pomocu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Namespace Config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fajla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novi Namespace: Monitoring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minikube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addons enable ingress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NewTab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Terminal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helm repo add </a:t>
            </a:r>
            <a:r>
              <a:rPr lang="en-US" sz="24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prometheus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-community https://</a:t>
            </a:r>
            <a:r>
              <a:rPr lang="en-US" sz="24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prometheus-community.github.io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/helm-charts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helm repo update</a:t>
            </a:r>
            <a:endParaRPr lang="en-US" sz="2400" b="1" dirty="0">
              <a:solidFill>
                <a:srgbClr val="FF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helm install </a:t>
            </a:r>
            <a:r>
              <a:rPr lang="en-US" sz="24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moj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-monitor </a:t>
            </a:r>
            <a:r>
              <a:rPr lang="en-US" sz="24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prometheus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-community/</a:t>
            </a:r>
            <a:r>
              <a:rPr lang="en-US" sz="24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kube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4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prometheus</a:t>
            </a:r>
            <a:r>
              <a:rPr lang="en-US" sz="24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-stack --namespace monitoring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Namespaces &gt; Select monitoring namespace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Network &gt; Services &gt;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moj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-monitor-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grafana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PortForward</a:t>
            </a:r>
            <a:endParaRPr lang="en-US" sz="2400" b="1" dirty="0">
              <a:solidFill>
                <a:srgbClr val="FF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OpenLens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Secrets &gt;  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moj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-monitor-</a:t>
            </a:r>
            <a:r>
              <a:rPr lang="en-US" sz="24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grafana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-&gt; admin pass</a:t>
            </a:r>
          </a:p>
        </p:txBody>
      </p:sp>
    </p:spTree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1522D-486D-C69D-0F61-79148B6FA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91BFFD7-B6F7-9C6A-D8FB-8AF43561467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230CD90-C2AC-5B8D-018D-9C9417E11606}"/>
              </a:ext>
            </a:extLst>
          </p:cNvPr>
          <p:cNvSpPr txBox="1"/>
          <p:nvPr/>
        </p:nvSpPr>
        <p:spPr>
          <a:xfrm>
            <a:off x="685800" y="8853314"/>
            <a:ext cx="138303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065"/>
              </a:lnSpc>
            </a:pPr>
            <a:r>
              <a:rPr lang="en-US" sz="8394" b="1" dirty="0">
                <a:solidFill>
                  <a:srgbClr val="000A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Cilium Networking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9A394A6-B5BD-9DDD-0A9B-EB3E2F7DF3C8}"/>
              </a:ext>
            </a:extLst>
          </p:cNvPr>
          <p:cNvGrpSpPr/>
          <p:nvPr/>
        </p:nvGrpSpPr>
        <p:grpSpPr>
          <a:xfrm>
            <a:off x="17259300" y="-1109398"/>
            <a:ext cx="1458825" cy="3672512"/>
            <a:chOff x="0" y="0"/>
            <a:chExt cx="69510337" cy="17498850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D27976F-A78F-1BA2-6881-418EE7F0C208}"/>
                </a:ext>
              </a:extLst>
            </p:cNvPr>
            <p:cNvSpPr/>
            <p:nvPr/>
          </p:nvSpPr>
          <p:spPr>
            <a:xfrm>
              <a:off x="0" y="0"/>
              <a:ext cx="69510337" cy="174988500"/>
            </a:xfrm>
            <a:custGeom>
              <a:avLst/>
              <a:gdLst/>
              <a:ahLst/>
              <a:cxnLst/>
              <a:rect l="l" t="t" r="r" b="b"/>
              <a:pathLst>
                <a:path w="69510337" h="174988500">
                  <a:moveTo>
                    <a:pt x="90218" y="0"/>
                  </a:moveTo>
                  <a:lnTo>
                    <a:pt x="69420116" y="0"/>
                  </a:lnTo>
                  <a:cubicBezTo>
                    <a:pt x="69469943" y="0"/>
                    <a:pt x="69510337" y="40392"/>
                    <a:pt x="69510337" y="90218"/>
                  </a:cubicBezTo>
                  <a:lnTo>
                    <a:pt x="69510337" y="174898286"/>
                  </a:lnTo>
                  <a:cubicBezTo>
                    <a:pt x="69510337" y="174948106"/>
                    <a:pt x="69469943" y="174988500"/>
                    <a:pt x="69420116" y="174988500"/>
                  </a:cubicBezTo>
                  <a:lnTo>
                    <a:pt x="90218" y="174988500"/>
                  </a:lnTo>
                  <a:cubicBezTo>
                    <a:pt x="40392" y="174988500"/>
                    <a:pt x="0" y="174948106"/>
                    <a:pt x="0" y="174898286"/>
                  </a:cubicBezTo>
                  <a:lnTo>
                    <a:pt x="0" y="90218"/>
                  </a:lnTo>
                  <a:cubicBezTo>
                    <a:pt x="0" y="40392"/>
                    <a:pt x="40392" y="0"/>
                    <a:pt x="90218" y="0"/>
                  </a:cubicBezTo>
                  <a:close/>
                </a:path>
              </a:pathLst>
            </a:custGeom>
            <a:solidFill>
              <a:srgbClr val="000AFF"/>
            </a:solid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2668677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E6684-4F14-C308-4A5A-087950E2A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A6AF7B-4A6F-B674-1645-A2B3642ABF4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04CA0C6-FFD6-FA88-158C-109A52874AA0}"/>
              </a:ext>
            </a:extLst>
          </p:cNvPr>
          <p:cNvSpPr txBox="1"/>
          <p:nvPr/>
        </p:nvSpPr>
        <p:spPr>
          <a:xfrm>
            <a:off x="1600966" y="1256617"/>
            <a:ext cx="10733484" cy="795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Cilium - 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Osnovni</a:t>
            </a: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koraci</a:t>
            </a: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konfiguracije</a:t>
            </a:r>
            <a:endParaRPr lang="en-US" sz="5311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50E98A1-B8E6-9586-1DF8-EFCAA76AF4BB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8EC5D52-B2B6-F411-8AB6-A341BD06920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5AB0EDD-756A-4B98-E4C6-3EFB3D109D90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5D9FC6C-8175-0DE1-805C-3B294191C421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0616257-B9AD-CCEC-5F07-392D3ADA646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2B765F2-2B8E-41B6-B64C-25D5775E0703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6D69D8B-A2D4-8DA2-C352-BB883E57C1E4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793D8D3-5515-FF34-CB7E-3A76BFACDDC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67BBEF1-C400-C140-2012-FEA1F3B0515C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8F4F2DA-4B77-E73E-5C18-A6DDF91BED81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D38E9AB7-EDF0-E151-EB81-325A7F9ECA79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570798C-A4FE-39F8-BA48-4504B97F55F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C36D9DA9-49ED-7E21-837E-E676CFE7693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D1BB4B1A-5525-D2F1-65B7-10F458D1B8D5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F6B8772E-43CD-FE7B-D292-A26E3F311349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224272EC-F468-C5BC-F7B9-C84B9E87CCE6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D2D07BF-C006-AA6B-E4D2-6D4DA73BD287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701E1A6A-0874-974C-F6B1-D600983B540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C9B39BBC-5C29-C14B-9931-053910EC7113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F8B7AFCD-C405-CAC6-5D72-76D1EAE368A4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77348E-6692-8804-A913-C146512BFBF5}"/>
              </a:ext>
            </a:extLst>
          </p:cNvPr>
          <p:cNvSpPr txBox="1"/>
          <p:nvPr/>
        </p:nvSpPr>
        <p:spPr>
          <a:xfrm>
            <a:off x="1449300" y="2322883"/>
            <a:ext cx="154671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b="1" dirty="0" err="1"/>
              <a:t>imamo</a:t>
            </a:r>
            <a:r>
              <a:rPr lang="en-US" sz="2400" b="1" dirty="0"/>
              <a:t> </a:t>
            </a:r>
            <a:r>
              <a:rPr lang="en-US" sz="2400" b="1" dirty="0" err="1"/>
              <a:t>funkcionalan</a:t>
            </a:r>
            <a:r>
              <a:rPr lang="en-US" sz="2400" b="1" dirty="0"/>
              <a:t> </a:t>
            </a:r>
            <a:r>
              <a:rPr lang="en-US" sz="2400" b="1" dirty="0" err="1"/>
              <a:t>klaster</a:t>
            </a:r>
            <a:r>
              <a:rPr lang="en-US" sz="2400" b="1" dirty="0"/>
              <a:t> (</a:t>
            </a:r>
            <a:r>
              <a:rPr lang="en-US" sz="2400" b="1" dirty="0" err="1"/>
              <a:t>pravi</a:t>
            </a:r>
            <a:r>
              <a:rPr lang="en-US" sz="2400" b="1" dirty="0"/>
              <a:t> </a:t>
            </a:r>
            <a:r>
              <a:rPr lang="en-US" sz="2400" b="1" dirty="0" err="1"/>
              <a:t>ili</a:t>
            </a:r>
            <a:r>
              <a:rPr lang="en-US" sz="2400" b="1" dirty="0"/>
              <a:t> </a:t>
            </a:r>
            <a:r>
              <a:rPr lang="en-US" sz="2400" b="1" dirty="0" err="1"/>
              <a:t>minikube</a:t>
            </a:r>
            <a:r>
              <a:rPr lang="en-US" sz="2400" b="1" dirty="0"/>
              <a:t>)</a:t>
            </a:r>
          </a:p>
          <a:p>
            <a:pPr marL="342900" indent="-342900">
              <a:buFontTx/>
              <a:buChar char="-"/>
            </a:pPr>
            <a:r>
              <a:rPr lang="en-US" sz="2400" b="1" dirty="0" err="1"/>
              <a:t>klaster</a:t>
            </a:r>
            <a:r>
              <a:rPr lang="en-US" sz="2400" b="1" dirty="0"/>
              <a:t> </a:t>
            </a:r>
            <a:r>
              <a:rPr lang="en-US" sz="2400" b="1" dirty="0" err="1"/>
              <a:t>vec</a:t>
            </a:r>
            <a:r>
              <a:rPr lang="en-US" sz="2400" b="1" dirty="0"/>
              <a:t> </a:t>
            </a:r>
            <a:r>
              <a:rPr lang="en-US" sz="2400" b="1" dirty="0" err="1"/>
              <a:t>ima</a:t>
            </a:r>
            <a:r>
              <a:rPr lang="en-US" sz="2400" b="1" dirty="0"/>
              <a:t> </a:t>
            </a:r>
            <a:r>
              <a:rPr lang="en-US" sz="2400" b="1" dirty="0" err="1"/>
              <a:t>neki</a:t>
            </a:r>
            <a:r>
              <a:rPr lang="en-US" sz="2400" b="1" dirty="0"/>
              <a:t> networking &gt; </a:t>
            </a:r>
            <a:r>
              <a:rPr lang="en-US" sz="2400" b="1" dirty="0" err="1"/>
              <a:t>gasimo</a:t>
            </a:r>
            <a:r>
              <a:rPr lang="en-US" sz="2400" b="1" dirty="0"/>
              <a:t> </a:t>
            </a:r>
            <a:r>
              <a:rPr lang="en-US" sz="2400" b="1" dirty="0" err="1"/>
              <a:t>postojeci</a:t>
            </a:r>
            <a:r>
              <a:rPr lang="en-US" sz="2400" b="1" dirty="0"/>
              <a:t> plugin </a:t>
            </a:r>
            <a:r>
              <a:rPr lang="en-US" sz="2400" b="1" dirty="0" err="1"/>
              <a:t>uvodimo</a:t>
            </a:r>
            <a:r>
              <a:rPr lang="en-US" sz="2400" b="1" dirty="0"/>
              <a:t> Cilium</a:t>
            </a:r>
          </a:p>
          <a:p>
            <a:pPr marL="342900" indent="-342900">
              <a:buFontTx/>
              <a:buChar char="-"/>
            </a:pPr>
            <a:r>
              <a:rPr lang="en-US" sz="2400" b="1" dirty="0" err="1"/>
              <a:t>Menjamo</a:t>
            </a:r>
            <a:r>
              <a:rPr lang="en-US" sz="2400" b="1" dirty="0"/>
              <a:t> </a:t>
            </a:r>
            <a:r>
              <a:rPr lang="en-US" sz="2400" b="1" dirty="0" err="1"/>
              <a:t>kube</a:t>
            </a:r>
            <a:r>
              <a:rPr lang="en-US" sz="2400" b="1" dirty="0"/>
              <a:t>-proxy </a:t>
            </a:r>
            <a:r>
              <a:rPr lang="en-US" sz="2400" b="1" dirty="0" err="1"/>
              <a:t>sa</a:t>
            </a:r>
            <a:r>
              <a:rPr lang="en-US" sz="2400" b="1" dirty="0"/>
              <a:t> Cilium: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helm install cilium cilium/cilium --namespace </a:t>
            </a:r>
            <a:r>
              <a:rPr lang="en-US" sz="2400" dirty="0" err="1"/>
              <a:t>kube</a:t>
            </a:r>
            <a:r>
              <a:rPr lang="en-US" sz="2400" dirty="0"/>
              <a:t>-system --set </a:t>
            </a:r>
            <a:r>
              <a:rPr lang="en-US" sz="2400" dirty="0" err="1"/>
              <a:t>kubeProxyReplacement</a:t>
            </a:r>
            <a:r>
              <a:rPr lang="en-US" sz="2400" dirty="0"/>
              <a:t>=strict</a:t>
            </a:r>
          </a:p>
          <a:p>
            <a:pPr marL="342900" indent="-342900">
              <a:buFontTx/>
              <a:buChar char="-"/>
            </a:pPr>
            <a:r>
              <a:rPr lang="en-US" sz="2400" b="1" dirty="0"/>
              <a:t>Ne </a:t>
            </a:r>
            <a:r>
              <a:rPr lang="en-US" sz="2400" b="1" dirty="0" err="1"/>
              <a:t>koristimo</a:t>
            </a:r>
            <a:r>
              <a:rPr lang="en-US" sz="2400" b="1" dirty="0"/>
              <a:t> vise </a:t>
            </a:r>
            <a:r>
              <a:rPr lang="en-US" sz="2400" b="1" dirty="0" err="1"/>
              <a:t>stari</a:t>
            </a:r>
            <a:r>
              <a:rPr lang="en-US" sz="2400" b="1" dirty="0"/>
              <a:t> </a:t>
            </a:r>
            <a:r>
              <a:rPr lang="en-US" sz="2400" b="1" dirty="0" err="1"/>
              <a:t>ruting</a:t>
            </a:r>
            <a:r>
              <a:rPr lang="en-US" sz="2400" b="1" dirty="0"/>
              <a:t>, Cilium </a:t>
            </a:r>
            <a:r>
              <a:rPr lang="en-US" sz="2400" b="1" dirty="0" err="1"/>
              <a:t>sada</a:t>
            </a:r>
            <a:r>
              <a:rPr lang="en-US" sz="2400" b="1" dirty="0"/>
              <a:t> </a:t>
            </a:r>
            <a:r>
              <a:rPr lang="en-US" sz="2400" b="1" dirty="0" err="1"/>
              <a:t>radi</a:t>
            </a:r>
            <a:r>
              <a:rPr lang="en-US" sz="2400" b="1" dirty="0"/>
              <a:t> </a:t>
            </a:r>
            <a:r>
              <a:rPr lang="en-US" sz="2400" b="1" dirty="0" err="1"/>
              <a:t>sve</a:t>
            </a:r>
            <a:r>
              <a:rPr lang="en-US" sz="2400" b="1" dirty="0"/>
              <a:t> </a:t>
            </a:r>
            <a:r>
              <a:rPr lang="en-US" sz="2400" b="1" dirty="0" err="1"/>
              <a:t>sam</a:t>
            </a:r>
            <a:endParaRPr lang="en-US" sz="2400" b="1" dirty="0"/>
          </a:p>
          <a:p>
            <a:pPr marL="342900" indent="-342900">
              <a:buFontTx/>
              <a:buChar char="-"/>
            </a:pPr>
            <a:r>
              <a:rPr lang="en-US" sz="2400" b="1" dirty="0"/>
              <a:t>cilium status - </a:t>
            </a:r>
            <a:r>
              <a:rPr lang="en-US" sz="2400" b="1" dirty="0" err="1"/>
              <a:t>provera</a:t>
            </a:r>
            <a:r>
              <a:rPr lang="en-US" sz="2400" b="1" dirty="0"/>
              <a:t> da li </a:t>
            </a:r>
            <a:r>
              <a:rPr lang="en-US" sz="2400" b="1" dirty="0" err="1"/>
              <a:t>radi</a:t>
            </a:r>
            <a:endParaRPr lang="en-US" sz="2400" b="1" dirty="0"/>
          </a:p>
          <a:p>
            <a:pPr marL="342900" indent="-342900">
              <a:buFontTx/>
              <a:buChar char="-"/>
            </a:pPr>
            <a:r>
              <a:rPr lang="en-US" sz="2400" b="1" dirty="0" err="1"/>
              <a:t>kubectl</a:t>
            </a:r>
            <a:r>
              <a:rPr lang="en-US" sz="2400" b="1" dirty="0"/>
              <a:t> get pods -n </a:t>
            </a:r>
            <a:r>
              <a:rPr lang="en-US" sz="2400" b="1" dirty="0" err="1"/>
              <a:t>kube</a:t>
            </a:r>
            <a:r>
              <a:rPr lang="en-US" sz="2400" b="1" dirty="0"/>
              <a:t>-system </a:t>
            </a:r>
            <a:r>
              <a:rPr lang="en-US" sz="2400" dirty="0"/>
              <a:t>- </a:t>
            </a:r>
            <a:r>
              <a:rPr lang="en-US" sz="2400" dirty="0" err="1"/>
              <a:t>trebamo</a:t>
            </a:r>
            <a:r>
              <a:rPr lang="en-US" sz="2400" dirty="0"/>
              <a:t> </a:t>
            </a:r>
            <a:r>
              <a:rPr lang="en-US" sz="2400" dirty="0" err="1"/>
              <a:t>videti</a:t>
            </a:r>
            <a:r>
              <a:rPr lang="en-US" sz="2400" dirty="0"/>
              <a:t> cilium agent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svakom</a:t>
            </a:r>
            <a:r>
              <a:rPr lang="en-US" sz="2400" dirty="0"/>
              <a:t> </a:t>
            </a:r>
            <a:r>
              <a:rPr lang="en-US" sz="2400" dirty="0" err="1"/>
              <a:t>nodu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b="1" dirty="0"/>
              <a:t>cilium connectivity test </a:t>
            </a:r>
            <a:r>
              <a:rPr lang="en-US" sz="2400" dirty="0"/>
              <a:t>- test </a:t>
            </a:r>
            <a:r>
              <a:rPr lang="en-US" sz="2400" dirty="0" err="1"/>
              <a:t>mreze</a:t>
            </a:r>
            <a:r>
              <a:rPr lang="en-US" sz="2400" dirty="0"/>
              <a:t>, </a:t>
            </a:r>
            <a:r>
              <a:rPr lang="en-US" sz="2400" dirty="0" err="1"/>
              <a:t>ovo</a:t>
            </a:r>
            <a:r>
              <a:rPr lang="en-US" sz="2400" dirty="0"/>
              <a:t> </a:t>
            </a:r>
            <a:r>
              <a:rPr lang="en-US" sz="2400" dirty="0" err="1"/>
              <a:t>proverava</a:t>
            </a:r>
            <a:r>
              <a:rPr lang="en-US" sz="2400" dirty="0"/>
              <a:t> pod &lt;-&gt; pod </a:t>
            </a:r>
            <a:r>
              <a:rPr lang="en-US" sz="2400" dirty="0" err="1"/>
              <a:t>konekciju</a:t>
            </a:r>
            <a:r>
              <a:rPr lang="en-US" sz="2400" dirty="0"/>
              <a:t>, service &lt;-&gt; pod </a:t>
            </a:r>
            <a:r>
              <a:rPr lang="en-US" sz="2400" dirty="0" err="1"/>
              <a:t>konekciju</a:t>
            </a:r>
            <a:r>
              <a:rPr lang="en-US" sz="2400" dirty="0"/>
              <a:t>, DNS</a:t>
            </a:r>
          </a:p>
          <a:p>
            <a:pPr marL="342900" indent="-342900">
              <a:buFontTx/>
              <a:buChar char="-"/>
            </a:pPr>
            <a:r>
              <a:rPr lang="en-US" sz="2400" b="1" dirty="0" err="1"/>
              <a:t>dodavanje</a:t>
            </a:r>
            <a:r>
              <a:rPr lang="en-US" sz="2400" b="1" dirty="0"/>
              <a:t> firewall </a:t>
            </a:r>
            <a:r>
              <a:rPr lang="en-US" sz="2400" b="1" dirty="0" err="1"/>
              <a:t>pravila</a:t>
            </a:r>
            <a:endParaRPr lang="en-US" sz="2400" b="1" dirty="0"/>
          </a:p>
          <a:p>
            <a:pPr marL="342900" indent="-342900">
              <a:buFontTx/>
              <a:buChar char="-"/>
            </a:pPr>
            <a:r>
              <a:rPr lang="en-US" sz="2400" b="1" dirty="0" err="1"/>
              <a:t>pracenje</a:t>
            </a:r>
            <a:r>
              <a:rPr lang="en-US" sz="2400" b="1" dirty="0"/>
              <a:t> </a:t>
            </a:r>
            <a:r>
              <a:rPr lang="en-US" sz="2400" b="1" dirty="0" err="1"/>
              <a:t>saobracaja</a:t>
            </a:r>
            <a:r>
              <a:rPr lang="en-US" sz="2400" b="1" dirty="0"/>
              <a:t>:</a:t>
            </a:r>
          </a:p>
          <a:p>
            <a:r>
              <a:rPr lang="en-US" sz="2400" dirty="0"/>
              <a:t>	</a:t>
            </a:r>
            <a:r>
              <a:rPr lang="en-US" sz="2400" b="1" dirty="0"/>
              <a:t>cilium </a:t>
            </a:r>
            <a:r>
              <a:rPr lang="en-US" sz="2400" b="1" dirty="0" err="1"/>
              <a:t>hubble</a:t>
            </a:r>
            <a:r>
              <a:rPr lang="en-US" sz="2400" b="1" dirty="0"/>
              <a:t> enable</a:t>
            </a:r>
            <a:br>
              <a:rPr lang="en-US" sz="2400" b="1" dirty="0"/>
            </a:br>
            <a:r>
              <a:rPr lang="en-US" sz="2400" b="1" dirty="0"/>
              <a:t>	</a:t>
            </a:r>
            <a:r>
              <a:rPr lang="en-US" sz="2400" b="1" dirty="0" err="1"/>
              <a:t>hubble</a:t>
            </a:r>
            <a:r>
              <a:rPr lang="en-US" sz="2400" b="1" dirty="0"/>
              <a:t> observe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839BC4-86C1-834D-54E6-7C4C3A6D08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3593" y="5490420"/>
            <a:ext cx="4467631" cy="45461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69ED70-2DF9-09EB-BD85-FF9BA65E74C3}"/>
              </a:ext>
            </a:extLst>
          </p:cNvPr>
          <p:cNvSpPr txBox="1"/>
          <p:nvPr/>
        </p:nvSpPr>
        <p:spPr>
          <a:xfrm>
            <a:off x="1449300" y="7788690"/>
            <a:ext cx="8125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Svaki Kubernetes Node mora </a:t>
            </a:r>
            <a:r>
              <a:rPr lang="en-US" sz="2400" b="1" dirty="0" err="1"/>
              <a:t>imati</a:t>
            </a:r>
            <a:r>
              <a:rPr lang="en-US" sz="2400" b="1" dirty="0"/>
              <a:t> network driver, taj driver je CNI plugin, Cilium je </a:t>
            </a:r>
            <a:r>
              <a:rPr lang="en-US" sz="2400" b="1" dirty="0" err="1"/>
              <a:t>jedan</a:t>
            </a:r>
            <a:r>
              <a:rPr lang="en-US" sz="2400" b="1" dirty="0"/>
              <a:t> od </a:t>
            </a:r>
            <a:r>
              <a:rPr lang="en-US" sz="2400" b="1" dirty="0" err="1"/>
              <a:t>tih</a:t>
            </a:r>
            <a:r>
              <a:rPr lang="en-US" sz="2400" b="1" dirty="0"/>
              <a:t> </a:t>
            </a:r>
            <a:r>
              <a:rPr lang="en-US" sz="2400" b="1" dirty="0" err="1"/>
              <a:t>pluginova</a:t>
            </a:r>
            <a:endParaRPr lang="en-US" sz="2400" b="1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AADCB35-725A-747C-AA62-FAC1DA47E245}"/>
              </a:ext>
            </a:extLst>
          </p:cNvPr>
          <p:cNvCxnSpPr/>
          <p:nvPr/>
        </p:nvCxnSpPr>
        <p:spPr>
          <a:xfrm>
            <a:off x="5266303" y="5490420"/>
            <a:ext cx="5477897" cy="1356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6129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EA199-5F67-4937-7F0A-3AE7FAEA4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4FA391-7B2B-68CD-B96E-0A88147E0B1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25F3960-CAD4-79D4-6787-359815EEB623}"/>
              </a:ext>
            </a:extLst>
          </p:cNvPr>
          <p:cNvSpPr txBox="1"/>
          <p:nvPr/>
        </p:nvSpPr>
        <p:spPr>
          <a:xfrm>
            <a:off x="1600966" y="1256617"/>
            <a:ext cx="9578637" cy="795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Cilium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EEB4FF1-DF02-6683-2D10-275AC9A3FB38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10AF425-48E7-BE74-D5D2-9EFBD2BB88D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2C4CB4C-0BEB-A58B-E46B-308671AD1EBE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FADE9D1-097D-1314-C6F0-ED6E0F613855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1BD4FD4-9FA8-EC8B-F65F-292958E6BE2D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B012E53-313C-61C4-2BE3-3AC256CF9706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73DBF43-D397-DEFC-4D15-41D4B8A3C2CA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2AC9CA3-8C1A-F81A-2893-8BB2E39A7DB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481378E-5524-2FF1-8F48-EF8F589E5A6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12BC4D0-7E05-795C-39F6-CFE2BE5FBD1B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97646DC8-50F1-C10D-FCD7-C1E5161894C4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F4D6F4B-DDFB-8382-CE5D-3443DBD4F8D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B194300B-6F2B-D60B-225F-6C03B9FBBBF3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E22B23E5-957D-FD1C-08D1-422F955A44D4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FD0EE7EF-55DE-1D41-2A63-8978E008157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24792D25-EBC4-C126-4B65-322BC74B83C6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3B2A5E4-457A-868F-26BC-7EC5A1840424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B4F25041-F2B1-4DDE-4F0F-3C9AEE2BA5B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4AC31A59-FBB9-FAF4-8FBC-978AC5AF8BB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EF736DFD-676D-15BC-5161-A2F8E093B033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3" descr="eBPF - The Future of Networking &amp; Security">
            <a:extLst>
              <a:ext uri="{FF2B5EF4-FFF2-40B4-BE49-F238E27FC236}">
                <a16:creationId xmlns:a16="http://schemas.microsoft.com/office/drawing/2014/main" id="{6048D9FD-44FB-D3FD-9B1A-0142BA54DB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190" y="2459409"/>
            <a:ext cx="15270480" cy="6686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5D2D74-C78B-81EE-01C4-E97851A426FA}"/>
              </a:ext>
            </a:extLst>
          </p:cNvPr>
          <p:cNvSpPr txBox="1"/>
          <p:nvPr/>
        </p:nvSpPr>
        <p:spPr>
          <a:xfrm>
            <a:off x="2960195" y="9244228"/>
            <a:ext cx="12018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eBPF</a:t>
            </a:r>
            <a:r>
              <a:rPr lang="en-US" sz="2400" b="1" dirty="0"/>
              <a:t> je </a:t>
            </a:r>
            <a:r>
              <a:rPr lang="en-US" sz="2400" b="1" dirty="0" err="1"/>
              <a:t>nacin</a:t>
            </a:r>
            <a:r>
              <a:rPr lang="en-US" sz="2400" b="1" dirty="0"/>
              <a:t> </a:t>
            </a:r>
            <a:r>
              <a:rPr lang="en-US" sz="2400" b="1" dirty="0" err="1"/>
              <a:t>kako</a:t>
            </a:r>
            <a:r>
              <a:rPr lang="en-US" sz="2400" b="1" dirty="0"/>
              <a:t> </a:t>
            </a:r>
            <a:r>
              <a:rPr lang="en-US" sz="2400" b="1" dirty="0" err="1"/>
              <a:t>mozemo</a:t>
            </a:r>
            <a:r>
              <a:rPr lang="en-US" sz="2400" b="1" dirty="0"/>
              <a:t> da </a:t>
            </a:r>
            <a:r>
              <a:rPr lang="en-US" sz="2400" b="1" dirty="0" err="1"/>
              <a:t>ubacimo</a:t>
            </a:r>
            <a:r>
              <a:rPr lang="en-US" sz="2400" b="1" dirty="0"/>
              <a:t> </a:t>
            </a:r>
            <a:r>
              <a:rPr lang="en-US" sz="2400" b="1" dirty="0" err="1"/>
              <a:t>mali</a:t>
            </a:r>
            <a:r>
              <a:rPr lang="en-US" sz="2400" b="1" dirty="0"/>
              <a:t> program </a:t>
            </a:r>
            <a:r>
              <a:rPr lang="en-US" sz="2400" b="1" dirty="0" err="1"/>
              <a:t>direktno</a:t>
            </a:r>
            <a:r>
              <a:rPr lang="en-US" sz="2400" b="1" dirty="0"/>
              <a:t> u Linux kernel koji </a:t>
            </a:r>
            <a:r>
              <a:rPr lang="en-US" sz="2400" b="1" dirty="0" err="1"/>
              <a:t>moze</a:t>
            </a:r>
            <a:r>
              <a:rPr lang="en-US" sz="2400" b="1" dirty="0"/>
              <a:t> da </a:t>
            </a:r>
            <a:r>
              <a:rPr lang="en-US" sz="2400" b="1" dirty="0" err="1"/>
              <a:t>prati</a:t>
            </a:r>
            <a:r>
              <a:rPr lang="en-US" sz="2400" b="1" dirty="0"/>
              <a:t>, </a:t>
            </a:r>
            <a:r>
              <a:rPr lang="en-US" sz="2400" b="1" dirty="0" err="1"/>
              <a:t>menja</a:t>
            </a:r>
            <a:r>
              <a:rPr lang="en-US" sz="2400" b="1" dirty="0"/>
              <a:t>, </a:t>
            </a:r>
            <a:r>
              <a:rPr lang="en-US" sz="2400" b="1" dirty="0" err="1"/>
              <a:t>filtrira</a:t>
            </a:r>
            <a:r>
              <a:rPr lang="en-US" sz="2400" b="1" dirty="0"/>
              <a:t> </a:t>
            </a:r>
            <a:r>
              <a:rPr lang="en-US" sz="2400" b="1" dirty="0" err="1"/>
              <a:t>mrezni</a:t>
            </a:r>
            <a:r>
              <a:rPr lang="en-US" sz="2400" b="1" dirty="0"/>
              <a:t> </a:t>
            </a:r>
            <a:r>
              <a:rPr lang="en-US" sz="2400" b="1" dirty="0" err="1"/>
              <a:t>saobracaj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64636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E9DE2-5FFA-1D8B-C9A8-503E7AA97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E098BE-4E48-ED97-3F1A-55E5B512FA3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605CD10-C639-60FC-BFE1-4C056F6F9B24}"/>
              </a:ext>
            </a:extLst>
          </p:cNvPr>
          <p:cNvSpPr txBox="1"/>
          <p:nvPr/>
        </p:nvSpPr>
        <p:spPr>
          <a:xfrm>
            <a:off x="1600966" y="1256617"/>
            <a:ext cx="9578637" cy="795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Cilium - u Hubble UI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85C6209-00A1-AEC5-2F13-6DCA8212FF87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68681E0-19CE-FB1F-6C4E-44FA71FF7B5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6EBEC4C-AA1C-BB59-DE70-EB3A84505535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95B3FC5-91CC-0A91-E659-2C9A0AF2CAC8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386DFE24-2FCE-6101-D3AE-57F2BA90B037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6F8C18A4-4F70-BC74-8C1C-114236C3EE7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9A877E6-1BA6-B8E8-0201-1F815E4B847E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2EFFEDA-5BD7-E6B8-C451-25B0032C6E6E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F3DF937-1CAF-0060-0FEB-CB047788D13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5EBFA2E-77E9-B0B7-531A-BD8EDEB01D0F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8EF42919-8E7A-CF2B-0633-16A063FA3A44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A6C8F9F0-33F4-0963-16A1-4A118DAD0948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0E4CFFA6-1267-CE31-C7BF-D405233F98FF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695FD2F5-27D1-93F3-B452-DC41E6282FA9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08576DBC-1C20-C31E-90EF-95083943CA2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5EF814F4-BB5D-15B1-9074-0DDDEC1EF113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0E43A45A-D712-5B64-DB2D-8E10A3ED0264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CC86E64-EE14-D973-FAFE-E6E8A5005781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5E665471-3D6B-46D8-0D9A-E781E3E5CC44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F9E1834F-721A-2722-A2F0-904D4502EFFF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5" descr="Getting Started with the Cilium Chainguard Containers — Chainguard Academy">
            <a:extLst>
              <a:ext uri="{FF2B5EF4-FFF2-40B4-BE49-F238E27FC236}">
                <a16:creationId xmlns:a16="http://schemas.microsoft.com/office/drawing/2014/main" id="{8A2EF01F-D030-A69A-DDE9-03D219A03F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8009" y="2193237"/>
            <a:ext cx="12547976" cy="760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8026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3414F-5BF3-2786-E905-02F6763A5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8749D8-104F-37B0-D47B-55C1D36789D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A6CF1F3-F1A6-0EC7-163F-C887A65D1E5F}"/>
              </a:ext>
            </a:extLst>
          </p:cNvPr>
          <p:cNvSpPr txBox="1"/>
          <p:nvPr/>
        </p:nvSpPr>
        <p:spPr>
          <a:xfrm>
            <a:off x="1600966" y="1256617"/>
            <a:ext cx="9578637" cy="795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Cilium - u 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Grafani</a:t>
            </a:r>
            <a:endParaRPr lang="en-US" sz="5311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5FBAC68-10B5-9FF4-7168-2B85E3103A30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021A7A8-3E2A-CD63-E6DB-E5951450B70B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916341F-679C-D3C3-9620-A3C059E9BDB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A0B4341-1C35-2959-8B78-1B260ECCA065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36DABC0-F52E-4011-FCD4-77E03A3DCE89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04C7F8F-7890-A4CA-20EB-0523936F124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EBE62D4-8446-81A8-C69C-C1E4E2FEC779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910DCD0-CD94-013E-ED5B-93941077D522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06517E9-392B-BAC0-4459-087987EDE1DE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CEFB0A7-9F8A-171E-6BAC-D49C3C6988E0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558B75B2-3259-6B34-D676-575A9E18330E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0943B96-C5CC-4226-0818-BA476F8884B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A0A81BEB-3CF7-292A-F9BB-41F621011B2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B140929A-D1ED-D507-9802-9FDEB5282CFF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C130AB49-C028-2EBE-F3E9-0DEF45F85065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0677199D-58AA-3F34-C3C1-7453EF9A753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A6477BAD-16E5-E246-852E-9573647DFBEA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F101F79B-099C-B38F-AB36-E611ACCBE261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8DB73C78-6834-6603-7FB0-74C7F0518541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B22A3D82-FA11-7719-68EC-3BC92C96E789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2" descr="Cilium Enterprise monitoring made easy | Grafana Labs">
            <a:extLst>
              <a:ext uri="{FF2B5EF4-FFF2-40B4-BE49-F238E27FC236}">
                <a16:creationId xmlns:a16="http://schemas.microsoft.com/office/drawing/2014/main" id="{302DB8BD-A97B-B8B0-B314-E5309B8A3B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2377" y="2148609"/>
            <a:ext cx="13692193" cy="782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529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8393D-1310-9435-2774-BEC681C9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D241C9-4A7A-FD26-2EB0-96D44353441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72D6153-F2A6-269F-FEAE-81FCB0F0648A}"/>
              </a:ext>
            </a:extLst>
          </p:cNvPr>
          <p:cNvSpPr txBox="1"/>
          <p:nvPr/>
        </p:nvSpPr>
        <p:spPr>
          <a:xfrm>
            <a:off x="1600966" y="1256617"/>
            <a:ext cx="9578637" cy="795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73"/>
              </a:lnSpc>
            </a:pPr>
            <a:r>
              <a:rPr lang="en-US" sz="5311" b="1" dirty="0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Za </a:t>
            </a:r>
            <a:r>
              <a:rPr lang="en-US" sz="5311" b="1" dirty="0" err="1">
                <a:solidFill>
                  <a:srgbClr val="2C3849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kraj</a:t>
            </a:r>
            <a:endParaRPr lang="en-US" sz="5311" b="1" dirty="0">
              <a:solidFill>
                <a:srgbClr val="2C3849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D9C1299-E9F6-F541-2065-20891B24A0D4}"/>
              </a:ext>
            </a:extLst>
          </p:cNvPr>
          <p:cNvGrpSpPr/>
          <p:nvPr/>
        </p:nvGrpSpPr>
        <p:grpSpPr>
          <a:xfrm rot="-5400000">
            <a:off x="13304006" y="-2325864"/>
            <a:ext cx="5316260" cy="4651728"/>
            <a:chOff x="0" y="0"/>
            <a:chExt cx="812800" cy="7112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663BA25-B86E-E64B-3337-28E8879BCF84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C38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FF72F35-807C-2C31-3980-BE0E7D58CFA2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72BC687-677E-91F7-3983-8AA3E5B70B37}"/>
              </a:ext>
            </a:extLst>
          </p:cNvPr>
          <p:cNvGrpSpPr/>
          <p:nvPr/>
        </p:nvGrpSpPr>
        <p:grpSpPr>
          <a:xfrm rot="-5400000">
            <a:off x="14978959" y="-617906"/>
            <a:ext cx="5316260" cy="4651728"/>
            <a:chOff x="0" y="0"/>
            <a:chExt cx="812800" cy="7112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35AC2799-2A77-6EEF-6F2C-F8B145C8E7E7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75B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88712A5-54FF-2CE6-95A8-4FE40537D13D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9A286DC-9F51-ED2E-9414-8168A64DF683}"/>
              </a:ext>
            </a:extLst>
          </p:cNvPr>
          <p:cNvGrpSpPr/>
          <p:nvPr/>
        </p:nvGrpSpPr>
        <p:grpSpPr>
          <a:xfrm rot="-5400000">
            <a:off x="10327231" y="-3276036"/>
            <a:ext cx="5316260" cy="4651728"/>
            <a:chOff x="0" y="0"/>
            <a:chExt cx="812800" cy="7112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96162FB-1C5F-7D61-C4E6-C1B3F0C14C10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65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0CC0A9B-039D-8940-43E6-350E78A9DEF7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C9D608F-AD58-F233-06A9-4D7036AF0374}"/>
              </a:ext>
            </a:extLst>
          </p:cNvPr>
          <p:cNvSpPr/>
          <p:nvPr/>
        </p:nvSpPr>
        <p:spPr>
          <a:xfrm rot="-10800000">
            <a:off x="-1821734" y="7794351"/>
            <a:ext cx="3745709" cy="3745709"/>
          </a:xfrm>
          <a:custGeom>
            <a:avLst/>
            <a:gdLst/>
            <a:ahLst/>
            <a:cxnLst/>
            <a:rect l="l" t="t" r="r" b="b"/>
            <a:pathLst>
              <a:path w="3745709" h="3745709">
                <a:moveTo>
                  <a:pt x="0" y="0"/>
                </a:moveTo>
                <a:lnTo>
                  <a:pt x="3745709" y="0"/>
                </a:lnTo>
                <a:lnTo>
                  <a:pt x="3745709" y="3745709"/>
                </a:lnTo>
                <a:lnTo>
                  <a:pt x="0" y="3745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3A1CFFE0-88F3-4746-8D61-580B2A370235}"/>
              </a:ext>
            </a:extLst>
          </p:cNvPr>
          <p:cNvGrpSpPr/>
          <p:nvPr/>
        </p:nvGrpSpPr>
        <p:grpSpPr>
          <a:xfrm rot="-5400000">
            <a:off x="-2342402" y="9590566"/>
            <a:ext cx="5316260" cy="4651728"/>
            <a:chOff x="0" y="0"/>
            <a:chExt cx="812800" cy="7112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F9263A9A-584C-9C1E-0AEF-D52CBAB789FA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A4A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BD0B5E37-060D-4FF3-2C43-D6A11E0F25CA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51ECB9B1-F52D-EAEF-FF01-61524C5F3C97}"/>
              </a:ext>
            </a:extLst>
          </p:cNvPr>
          <p:cNvGrpSpPr/>
          <p:nvPr/>
        </p:nvGrpSpPr>
        <p:grpSpPr>
          <a:xfrm>
            <a:off x="13794642" y="7890942"/>
            <a:ext cx="8986716" cy="7863376"/>
            <a:chOff x="0" y="0"/>
            <a:chExt cx="812800" cy="7112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E7157189-9592-CB4B-45C6-5E4A666F668F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2C384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EA770EBA-746F-C13F-54CF-3E5A4033C1C8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60960106-7825-37DB-84F2-329865E6B4D9}"/>
              </a:ext>
            </a:extLst>
          </p:cNvPr>
          <p:cNvGrpSpPr/>
          <p:nvPr/>
        </p:nvGrpSpPr>
        <p:grpSpPr>
          <a:xfrm>
            <a:off x="12615761" y="9258300"/>
            <a:ext cx="8986716" cy="7863376"/>
            <a:chOff x="0" y="0"/>
            <a:chExt cx="812800" cy="7112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6EE68BFA-5419-AEAE-FB88-6F023AF46FAC}"/>
                </a:ext>
              </a:extLst>
            </p:cNvPr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EC10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8F1FC28E-4F74-A3FB-05BF-DB2CC5999CD9}"/>
                </a:ext>
              </a:extLst>
            </p:cNvPr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0FBBF612-0A1E-9A0C-6F35-AFDDB3C79A76}"/>
              </a:ext>
            </a:extLst>
          </p:cNvPr>
          <p:cNvSpPr/>
          <p:nvPr/>
        </p:nvSpPr>
        <p:spPr>
          <a:xfrm rot="-2123767">
            <a:off x="-3317461" y="-1388985"/>
            <a:ext cx="8275053" cy="2844549"/>
          </a:xfrm>
          <a:custGeom>
            <a:avLst/>
            <a:gdLst/>
            <a:ahLst/>
            <a:cxnLst/>
            <a:rect l="l" t="t" r="r" b="b"/>
            <a:pathLst>
              <a:path w="8275053" h="2844549">
                <a:moveTo>
                  <a:pt x="0" y="0"/>
                </a:moveTo>
                <a:lnTo>
                  <a:pt x="8275053" y="0"/>
                </a:lnTo>
                <a:lnTo>
                  <a:pt x="8275053" y="2844550"/>
                </a:lnTo>
                <a:lnTo>
                  <a:pt x="0" y="2844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56D46-730A-D1D9-153D-C26EC94243F3}"/>
              </a:ext>
            </a:extLst>
          </p:cNvPr>
          <p:cNvSpPr txBox="1"/>
          <p:nvPr/>
        </p:nvSpPr>
        <p:spPr>
          <a:xfrm>
            <a:off x="1565199" y="2772685"/>
            <a:ext cx="120187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Nesto </a:t>
            </a:r>
            <a:r>
              <a:rPr lang="en-US" sz="2400" b="1" dirty="0" err="1"/>
              <a:t>iz</a:t>
            </a:r>
            <a:r>
              <a:rPr lang="en-US" sz="2400" b="1" dirty="0"/>
              <a:t> </a:t>
            </a:r>
            <a:r>
              <a:rPr lang="en-US" sz="2400" b="1" dirty="0" err="1"/>
              <a:t>moje</a:t>
            </a:r>
            <a:r>
              <a:rPr lang="en-US" sz="2400" b="1" dirty="0"/>
              <a:t> </a:t>
            </a:r>
            <a:r>
              <a:rPr lang="en-US" sz="2400" b="1" dirty="0" err="1"/>
              <a:t>licne</a:t>
            </a:r>
            <a:r>
              <a:rPr lang="en-US" sz="2400" b="1" dirty="0"/>
              <a:t> </a:t>
            </a:r>
            <a:r>
              <a:rPr lang="en-US" sz="2400" b="1" dirty="0" err="1"/>
              <a:t>arhive</a:t>
            </a:r>
            <a:r>
              <a:rPr lang="en-US" sz="2400" b="1"/>
              <a:t> </a:t>
            </a:r>
            <a:r>
              <a:rPr lang="en-US" sz="2400" b="1">
                <a:sym typeface="Wingdings" pitchFamily="2" charset="2"/>
              </a:rPr>
              <a:t> </a:t>
            </a:r>
            <a:r>
              <a:rPr lang="en-US" sz="2400" b="1"/>
              <a:t>, </a:t>
            </a:r>
            <a:r>
              <a:rPr lang="en-US" sz="2400" b="1" dirty="0"/>
              <a:t>Kurs Certified Kubernetes Admin: </a:t>
            </a:r>
          </a:p>
          <a:p>
            <a:r>
              <a:rPr lang="en-US" sz="2400" b="1" dirty="0">
                <a:hlinkClick r:id="rId6"/>
              </a:rPr>
              <a:t>https://www.icloud.com/iclouddrive/0876UcuGdIujufnTT6Rc896Xw#Kubernetes_Learning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 err="1"/>
              <a:t>Dostupno</a:t>
            </a:r>
            <a:r>
              <a:rPr lang="en-US" sz="2400" b="1" dirty="0"/>
              <a:t> </a:t>
            </a:r>
            <a:r>
              <a:rPr lang="en-US" sz="2400" b="1" dirty="0" err="1"/>
              <a:t>samo</a:t>
            </a:r>
            <a:r>
              <a:rPr lang="en-US" sz="2400" b="1" dirty="0"/>
              <a:t> 7 dana. Kurs </a:t>
            </a:r>
            <a:r>
              <a:rPr lang="en-US" sz="2400" b="1" dirty="0" err="1"/>
              <a:t>oko</a:t>
            </a:r>
            <a:r>
              <a:rPr lang="en-US" sz="2400" b="1" dirty="0"/>
              <a:t> 10GB. </a:t>
            </a:r>
          </a:p>
        </p:txBody>
      </p:sp>
    </p:spTree>
    <p:extLst>
      <p:ext uri="{BB962C8B-B14F-4D97-AF65-F5344CB8AC3E}">
        <p14:creationId xmlns:p14="http://schemas.microsoft.com/office/powerpoint/2010/main" val="25477127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6571677"/>
            <a:ext cx="7822072" cy="1198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65"/>
              </a:lnSpc>
            </a:pPr>
            <a:r>
              <a:rPr lang="en-US" sz="8394" b="1" dirty="0">
                <a:solidFill>
                  <a:srgbClr val="000AFF"/>
                </a:solidFill>
                <a:latin typeface="Agrandir Bold"/>
                <a:ea typeface="Agrandir Bold"/>
                <a:cs typeface="Agrandir Bold"/>
                <a:sym typeface="Agrandir Bold"/>
              </a:rPr>
              <a:t>HVALA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734071"/>
            <a:ext cx="15963900" cy="1518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47"/>
              </a:lnSpc>
            </a:pP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Resources :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kubernetes.io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/docs |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helm.sh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/docs</a:t>
            </a:r>
          </a:p>
          <a:p>
            <a:pPr marL="0" lvl="0" indent="0" algn="l">
              <a:lnSpc>
                <a:spcPts val="3047"/>
              </a:lnSpc>
            </a:pP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Community : CNCF Slack | Reddit r/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kubernetes</a:t>
            </a:r>
            <a:endParaRPr lang="en-US" sz="1978" dirty="0">
              <a:solidFill>
                <a:srgbClr val="12121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047"/>
              </a:lnSpc>
            </a:pP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Questions : 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vlada.gasevic@icloud.com</a:t>
            </a:r>
            <a:endParaRPr lang="en-US" sz="1978" dirty="0">
              <a:solidFill>
                <a:srgbClr val="12121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lnSpc>
                <a:spcPts val="3047"/>
              </a:lnSpc>
            </a:pP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Evaluacija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978" dirty="0" err="1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V.Gasevic</a:t>
            </a:r>
            <a:r>
              <a:rPr lang="en-US" sz="1978" dirty="0">
                <a:solidFill>
                  <a:srgbClr val="121211"/>
                </a:solidFill>
                <a:latin typeface="Poppins"/>
                <a:ea typeface="Poppins"/>
                <a:cs typeface="Poppins"/>
                <a:sym typeface="Poppins"/>
              </a:rPr>
              <a:t> GIT Repo: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259300" y="-1109398"/>
            <a:ext cx="1458825" cy="3672512"/>
            <a:chOff x="0" y="0"/>
            <a:chExt cx="69510337" cy="1749885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510337" cy="174988500"/>
            </a:xfrm>
            <a:custGeom>
              <a:avLst/>
              <a:gdLst/>
              <a:ahLst/>
              <a:cxnLst/>
              <a:rect l="l" t="t" r="r" b="b"/>
              <a:pathLst>
                <a:path w="69510337" h="174988500">
                  <a:moveTo>
                    <a:pt x="90218" y="0"/>
                  </a:moveTo>
                  <a:lnTo>
                    <a:pt x="69420116" y="0"/>
                  </a:lnTo>
                  <a:cubicBezTo>
                    <a:pt x="69469943" y="0"/>
                    <a:pt x="69510337" y="40392"/>
                    <a:pt x="69510337" y="90218"/>
                  </a:cubicBezTo>
                  <a:lnTo>
                    <a:pt x="69510337" y="174898286"/>
                  </a:lnTo>
                  <a:cubicBezTo>
                    <a:pt x="69510337" y="174948106"/>
                    <a:pt x="69469943" y="174988500"/>
                    <a:pt x="69420116" y="174988500"/>
                  </a:cubicBezTo>
                  <a:lnTo>
                    <a:pt x="90218" y="174988500"/>
                  </a:lnTo>
                  <a:cubicBezTo>
                    <a:pt x="40392" y="174988500"/>
                    <a:pt x="0" y="174948106"/>
                    <a:pt x="0" y="174898286"/>
                  </a:cubicBezTo>
                  <a:lnTo>
                    <a:pt x="0" y="90218"/>
                  </a:lnTo>
                  <a:cubicBezTo>
                    <a:pt x="0" y="40392"/>
                    <a:pt x="40392" y="0"/>
                    <a:pt x="90218" y="0"/>
                  </a:cubicBezTo>
                  <a:close/>
                </a:path>
              </a:pathLst>
            </a:custGeom>
            <a:solidFill>
              <a:srgbClr val="000AFF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44093</TotalTime>
  <Words>2447</Words>
  <Application>Microsoft Macintosh PowerPoint</Application>
  <PresentationFormat>Custom</PresentationFormat>
  <Paragraphs>465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7" baseType="lpstr">
      <vt:lpstr>Agrandir Bold</vt:lpstr>
      <vt:lpstr>Aptos</vt:lpstr>
      <vt:lpstr>Arial</vt:lpstr>
      <vt:lpstr>Calibri</vt:lpstr>
      <vt:lpstr>Consolas</vt:lpstr>
      <vt:lpstr>Neue Montreal Bold</vt:lpstr>
      <vt:lpstr>Open Sans</vt:lpstr>
      <vt:lpstr>Open Sans Bold</vt:lpstr>
      <vt:lpstr>Poppins</vt:lpstr>
      <vt:lpstr>PT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Training Day 1: Foundations</dc:title>
  <cp:lastModifiedBy>Vlada Gasevic</cp:lastModifiedBy>
  <cp:revision>20</cp:revision>
  <dcterms:created xsi:type="dcterms:W3CDTF">2006-08-16T00:00:00Z</dcterms:created>
  <dcterms:modified xsi:type="dcterms:W3CDTF">2026-05-06T20:24:51Z</dcterms:modified>
  <dc:identifier>DAHFpNtUTbw</dc:identifier>
</cp:coreProperties>
</file>